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1" d="100"/>
          <a:sy n="131" d="100"/>
        </p:scale>
        <p:origin x="1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00:30</a:t>
            </a:r>
          </a:p>
          <a:p>
            <a:endParaRPr/>
          </a:p>
          <a:p>
            <a:r>
              <a:t>Open with the task in one sentence: RVOS turns a natural-language description into a pixel mask for the intended object in every video frame. The title says “survey” because this talk synthesizes methods and benchmarks rather than introducing a new model. I will use one question to connect the sections: how does a system know which object the sentence means, and how does it keep knowing that as the video changes? The paper follows the field from early language-plus-propagation pipelines to temporal transformers, motion-aware designs, foundation-model adaptation, and reasoning-oriented systems. The key argument is that stable tracking is necessary, but it is not the same as understanding motion or reasoning about an event.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01:20</a:t>
            </a:r>
          </a:p>
          <a:p>
            <a:endParaRPr/>
          </a:p>
          <a:p>
            <a:r>
              <a:t>RVOS stands for Referring Video Object Segmentation. It is a vision-language task: given a video and a natural-language expression, the system finds the object the expression refers to and predicts a pixel-level mask for that same object throughout the video. For example, the phrase “the person who turns around and walks away” requires the model to identify which person matches the action and maintain that identity from frame to frame. It is not just object detection, because the output follows the object over time and traces its pixels. It also differs from semi-supervised video object segmentation, where the target is commonly specified by a mask in the first frame. In RVOS, language provides the target cue. The frames below turn that definition into a visual sequence: the words specify the instance, and the model returns one mask at each time step.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01:30</a:t>
            </a:r>
          </a:p>
          <a:p>
            <a:endParaRPr/>
          </a:p>
          <a:p>
            <a:r>
              <a:t>The survey formulates a clip as a sequence of frames and a referring expression as a sequence of words. The model maps those two inputs to a sequence of binary masks, one per frame. It helps to think of three jobs. First, encode the video so the system can represent appearance and movement. Second, ground the language: connect nouns, attributes, verbs, and relations to candidate objects and moments. Third, decode masks and associate the same target over time. Different methods place their innovation in different parts of this pipeline. Some improve cross-modal fusion; some improve temporal query interaction; others introduce memory, motion-specific processing, or a reasoning model that selects where to segment. The bottom of the slide emphasizes the main distinction from semi-supervised VOS: no initial object mask is given. That means a system can track consistently and still fail if it selected the wrong instance from the sentence in the first place.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01:30</a:t>
            </a:r>
          </a:p>
          <a:p>
            <a:endParaRPr/>
          </a:p>
          <a:p>
            <a:r>
              <a:t>The survey organizes the field around failure modes. The first is static bias. Image-pretrained backbones can overuse appearance words such as color or category and underuse actions. If two people look alike, the verb may be the only discriminating clue. The second is occlusion and reappearance. When a target goes behind something or leaves the frame, a frame-wise model can lose identity. Memory helps, but memory can also keep an early incorrect association alive. Third, some expressions require reasoning rather than direct noun-to-object matching—for example, a role or outcome that is not visibly named. Large multimodal models can help infer semantics, but they add compute and may still ground the wrong object. Finally, processing every frame with global temporal attention can become costly on long clips. These challenges are related but not identical, so a single architectural change is unlikely to solve them 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01:00</a:t>
            </a:r>
          </a:p>
          <a:p>
            <a:endParaRPr/>
          </a:p>
          <a:p>
            <a:r>
              <a:t>The paper reviews representative early pipelines, unified transformers, motion-centric methods, online and streaming systems, foundation-model adaptation, and reasoning-oriented frameworks. It compares design choices, datasets, metrics, and published results, while grouping challenges by the kinds of failures they cause. One distinctive contribution is the temporal-capability lens that I will explain next: temporal consistency, temporal understanding, and temporal reasoning. The paper proposes this as a way to organize methods; it is not an official taxonomy created by the individual methods. This matters because a model can be good at keeping a mask stable without understanding the action in the sentence, and it can understand an event semantically without being computationally practical. The case study uses SAMWISE to make foundation-model adaptation concrete.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01:30</a:t>
            </a:r>
          </a:p>
          <a:p>
            <a:endParaRPr/>
          </a:p>
          <a:p>
            <a:r>
              <a:t>This is a conceptual map rather than a strict year-by-year chronology. URVOS combines language grounding with temporal mask propagation. ReferFormer carries language-conditioned object queries across frames, while MUTR adds multi-scale temporal aggregation. LMPM matches object motion trajectories to language expressions; DsHmp separates static appearance cues from motion cues. OnlineRefer updates its target query causally, using observed frames without future context. In the foundation-model family, RefSAM adapts SAM for language-guided object masks, SAMWISE combines SAM 2 memory with cross-modal temporal adapters and a conditional memory encoder, and VISA uses MLLM reasoning to interpret implicit expressions before segmentation and tracking. These categories overlap. The key survey question is where each method stores context and how it uses language over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01:20</a:t>
            </a:r>
          </a:p>
          <a:p>
            <a:endParaRPr/>
          </a:p>
          <a:p>
            <a:r>
              <a:t>The survey's proposed framework separates three capabilities. Level one is temporal consistency: propagate or preserve the mask for an already grounded object. Level two is temporal understanding: interpret motion or action so the system chooses the object that satisfies the verb. Level three is temporal reasoning: use event meaning, roles, or causal context when the target is not directly named by visible attributes. The example questions show how the demands become more complex. A model can perform well at level one and still confuse two visually similar people when only their actions distinguish them. A reasoning-oriented system may infer the right object but still need a robust mask decoder and tracker to delineate it across every frame. These levels are a lens for comparing capabilities, not a ranking where the highest level automatically solves lower-level segmentation and identity problems.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01:50</a:t>
            </a:r>
          </a:p>
          <a:p>
            <a:endParaRPr/>
          </a:p>
          <a:p>
            <a:r>
              <a:t>The methods can be compared by what they carry across frames. ReferFormer propagates compact object queries through cross-frame interaction; OnlineRefer updates the target query causally, which fits live input. Explicit memory stores past visual features or masks, helping through occlusion but risking stale associations. SAM 2 supplies a key-value memory bank. SAMWISE adds temporal adapters and a Conditional Memory Encoder that checks stored evidence against the expression and current frame; RefSAM adapts SAM's prompting and tracking pathway. Motion-aware methods make verbs matter: LMPM matches object trajectories to language, HTML models multiple temporal scales, and DsHmp separates static appearance from motion cues. MLLM systems such as VISA and LISA use broader semantics to resolve implicit targets, then connect that reasoning to segmentation or tracking. This can handle nonvisual wording, but it adds inference cost and pipeline complexity. These mechanisms can be combined, so the best choice depends on the query, video horizon, and deployment budget.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01:20</a:t>
            </a:r>
          </a:p>
          <a:p>
            <a:endParaRPr/>
          </a:p>
          <a:p>
            <a:r>
              <a:t>The benchmarks do not ask exactly the same question. Ref-YouTube-VOS and Ref-DAVIS17 are standard referring-video benchmarks. MeViS emphasizes motion expressions, where a still frame may not be enough to identify the intended object. A2D-Sentences and JHMDB-Sentences focus on action-oriented videos and use measures such as mean average precision and IoU. ReVOS is designed for reasoning-style expressions. For mask quality, J measures region overlap and F measures contour accuracy; their mean, J&amp;F, is common in referring-video segmentation. This spread is valuable, but it complicates a single leaderboard. A system can gain from a stronger backbone on one dataset and still struggle on motion or implicit reasoning. Evaluations should report the split, backbone, metric, and relevant setup so readers can tell what a score means.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01:45</a:t>
            </a:r>
          </a:p>
          <a:p>
            <a:endParaRPr/>
          </a:p>
          <a:p>
            <a:r>
              <a:t>The survey's MeViS table gives a useful example of why benchmark context matters. It reports 37.2 for LMPM, 46.4 for DsHmp, and 43.5 and 44.5 for VISA with Chat-UniVi 7B and 13B configurations. These scores illustrate that motion-focused methods and reasoning-oriented systems can be competitive on a benchmark built around motion expressions. They should not be read as a controlled ranking: the backbone, training setup, and evaluation details can differ across original papers, and the survey notes that these results were compiled rather than reproduced. The table also reports method configurations, so it is important to preserve that provenance instead of collapsing each method into a single universal score. The broader point is qualitative: motion-centric evaluation exposes limitations that standard appearance-heavy settings may hide. In a final paper or defense, I would point the audience to the original source and exact setup for each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02:05</a:t>
            </a:r>
          </a:p>
          <a:p>
            <a:endParaRPr/>
          </a:p>
          <a:p>
            <a:r>
              <a:t>SAMWISE is the paper's anchor case study for adapting a promptable foundation model to RVOS. The design inserts lightweight Cross-Modal Temporal adapters into intermediate image and text encoder layers. These adapters let the visual and language representations incorporate temporal information without retraining the whole backbone. SAM 2 continues to own the main key-value memory bank. The additional Conditional Memory Encoder addresses a specific risk: a tracking system can cling to an early appearance cue even when the language describes an action or a target change. CME compares memory-conditioned evidence with the current-frame representation and can shift tracking focus when a newly appearing object better matches the expression. The survey reports fewer than five million additional learnable parameters, while also noting substantial GPU requirements for training and limits around open-ended world knowledge. The lesson is not simply “add memory.” It is “use memory, but let language and current evidence correct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01:45</a:t>
            </a:r>
          </a:p>
          <a:p>
            <a:endParaRPr/>
          </a:p>
          <a:p>
            <a:r>
              <a:t>The survey's comparative discussion highlights three recurring trade-offs. Offline systems can use the whole clip, including future frames, but their compute and memory costs grow with video length. Online systems are better suited to live input, but they cannot use future evidence and early mistakes can propagate. Query propagation is compact and efficient; explicit memory offers richer history through occlusion but can preserve stale target associations. Foundation-model adaptation can benefit from strong segmentation priors and lighter adapters, while MLLM systems can handle implicit or causal language but often add inference overhead and reduce throughput. These are not absolute rankings. A real-time robot may prefer causal updates even if an offline method scores higher. A reasoning benchmark may justify a larger model, while a long video on constrained hardware may not. The best design depends on the expression, the video horizon, and the budget for latency and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01:30</a:t>
            </a:r>
          </a:p>
          <a:p>
            <a:endParaRPr/>
          </a:p>
          <a:p>
            <a:r>
              <a:t>The paper identifies four future directions. First, open-world multimodal prompts: move beyond a fixed text query or known category and combine language with visual and audio cues. Second, long-term causal and counterfactual reasoning: infer how an event unfolds, not just what is visible in one frame. Third, parameter-efficient online foundation models that can run under edge-device limits using techniques such as quantization, pruning, and sparse temporal attention. Fourth, uncertainty-aware grounding and target absence. If an object is out of frame or fully occluded, a system should not always force a mask onto a distractor. These directions combine into a practical requirement: a system must get the pixels right, revise its target as evidence changes, run within a real resource budget, and know when the answer is not currently visible. This is especially important when segmentation outputs feed into robotics or other decision-making systems.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pacing: 01:05</a:t>
            </a:r>
          </a:p>
          <a:p>
            <a:endParaRPr/>
          </a:p>
          <a:p>
            <a:r>
              <a:t>Close with three takeaways. First, RVOS is the combination of language grounding and temporal identity: the system must map a sentence to a mask trajectory. Second, the survey shows that different failures call for different mechanisms. Motion modeling, memory, streaming queries, and high-level reasoning each contribute, but each has limits. Third, progress should be evaluated across more than mask overlap. We need to know whether a method can handle motion and implicit events, operate within latency and memory budgets, and avoid false masks when a target is absent. The overall direction is from maintaining a mask to understanding which object the sentence means as events unfold. End with the question on the slide and invite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869B-D450-4036-AAB6-CCD8D00F01EC}"/>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AD76D82-4608-4245-A86A-6CE815984B09}"/>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DC0531F4-C842-4D51-BE4C-389A84555BD8}"/>
              </a:ext>
            </a:extLst>
          </p:cNvPr>
          <p:cNvSpPr>
            <a:spLocks noGrp="1"/>
          </p:cNvSpPr>
          <p:nvPr>
            <p:ph type="dt" idx="10"/>
          </p:nvPr>
        </p:nvSpPr>
        <p:spPr/>
        <p:txBody>
          <a:bodyPr/>
          <a:lstStyle/>
          <a:p>
            <a:fld id="{5BCAD085-E8A6-8845-BD4E-CB4CCA059FC4}" type="datetimeFigureOut">
              <a:t>10/13/2026</a:t>
            </a:fld>
            <a:endParaRPr/>
          </a:p>
        </p:txBody>
      </p:sp>
      <p:sp>
        <p:nvSpPr>
          <p:cNvPr id="5" name="Footer Placeholder 4">
            <a:extLst>
              <a:ext uri="{FF2B5EF4-FFF2-40B4-BE49-F238E27FC236}">
                <a16:creationId xmlns:a16="http://schemas.microsoft.com/office/drawing/2014/main" id="{5DAD6AF5-3CC0-4BCE-8941-BBE60E7244A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5BD4A41-9DB7-4A60-B627-E0098E4127E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48626-1877-4A12-AF5A-ECAC7CBE3CB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0012476-93F5-4F54-B336-3F49A83C1FCC}"/>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D438856-36FA-43C5-975B-3F6FF5A643BC}"/>
              </a:ext>
            </a:extLst>
          </p:cNvPr>
          <p:cNvSpPr>
            <a:spLocks noGrp="1"/>
          </p:cNvSpPr>
          <p:nvPr>
            <p:ph type="dt" idx="10"/>
          </p:nvPr>
        </p:nvSpPr>
        <p:spPr/>
        <p:txBody>
          <a:bodyPr/>
          <a:lstStyle/>
          <a:p>
            <a:fld id="{5BCAD085-E8A6-8845-BD4E-CB4CCA059FC4}" type="datetimeFigureOut">
              <a:t>10/13/2026</a:t>
            </a:fld>
            <a:endParaRPr/>
          </a:p>
        </p:txBody>
      </p:sp>
      <p:sp>
        <p:nvSpPr>
          <p:cNvPr id="5" name="Footer Placeholder 4">
            <a:extLst>
              <a:ext uri="{FF2B5EF4-FFF2-40B4-BE49-F238E27FC236}">
                <a16:creationId xmlns:a16="http://schemas.microsoft.com/office/drawing/2014/main" id="{70B64F3A-E550-4E69-A308-6DFACE1DEF5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71894AD-A2F2-44B4-BD8C-0611B38DF75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BC886-8FE9-4E42-AEC5-BCEDAD7AD6E0}"/>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B8303F58-CC1A-4427-8C65-E3A2B1F78FC4}"/>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8B15D24-F13E-459B-BC79-B35C3F03B540}"/>
              </a:ext>
            </a:extLst>
          </p:cNvPr>
          <p:cNvSpPr>
            <a:spLocks noGrp="1"/>
          </p:cNvSpPr>
          <p:nvPr>
            <p:ph type="dt" idx="10"/>
          </p:nvPr>
        </p:nvSpPr>
        <p:spPr/>
        <p:txBody>
          <a:bodyPr/>
          <a:lstStyle/>
          <a:p>
            <a:fld id="{5BCAD085-E8A6-8845-BD4E-CB4CCA059FC4}" type="datetimeFigureOut">
              <a:t>10/13/2026</a:t>
            </a:fld>
            <a:endParaRPr/>
          </a:p>
        </p:txBody>
      </p:sp>
      <p:sp>
        <p:nvSpPr>
          <p:cNvPr id="5" name="Footer Placeholder 4">
            <a:extLst>
              <a:ext uri="{FF2B5EF4-FFF2-40B4-BE49-F238E27FC236}">
                <a16:creationId xmlns:a16="http://schemas.microsoft.com/office/drawing/2014/main" id="{9E5C7E32-2A2D-4319-B830-DF8D7FCECD1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3E5A693-D4B9-4B9A-9557-5316D35A2A1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530A6-A1E7-404E-9D18-8A4538104D2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A73E789-63B4-4995-8F51-0EA3AC968A4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0ADDD4F-C526-4F27-A84A-8DB32126191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85692C4-3333-4CD0-8ABB-A742E54C4205}"/>
              </a:ext>
            </a:extLst>
          </p:cNvPr>
          <p:cNvSpPr>
            <a:spLocks noGrp="1"/>
          </p:cNvSpPr>
          <p:nvPr>
            <p:ph type="dt" idx="10"/>
          </p:nvPr>
        </p:nvSpPr>
        <p:spPr/>
        <p:txBody>
          <a:bodyPr/>
          <a:lstStyle/>
          <a:p>
            <a:fld id="{5BCAD085-E8A6-8845-BD4E-CB4CCA059FC4}" type="datetimeFigureOut">
              <a:t>10/13/2026</a:t>
            </a:fld>
            <a:endParaRPr/>
          </a:p>
        </p:txBody>
      </p:sp>
      <p:sp>
        <p:nvSpPr>
          <p:cNvPr id="6" name="Footer Placeholder 5">
            <a:extLst>
              <a:ext uri="{FF2B5EF4-FFF2-40B4-BE49-F238E27FC236}">
                <a16:creationId xmlns:a16="http://schemas.microsoft.com/office/drawing/2014/main" id="{AFC0894C-6C75-4B26-9A87-EDC2FF65D81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7201989-CB22-4346-AF2B-A3100CBA4F6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4B4C5-187F-43D2-877F-A2939B4A031A}"/>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10FE1274-F0A5-46E7-A2F2-C3A1BF1E6463}"/>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48031C81-319B-494A-B8F2-12EFA9699ED4}"/>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1B2FFF0-3696-42FC-9875-FA94334B0A06}"/>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762554F7-497A-4A70-AF9E-23E56AA0D78D}"/>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88FB96F4-1414-4D67-A294-C32EE6B505B5}"/>
              </a:ext>
            </a:extLst>
          </p:cNvPr>
          <p:cNvSpPr>
            <a:spLocks noGrp="1"/>
          </p:cNvSpPr>
          <p:nvPr>
            <p:ph type="dt" idx="10"/>
          </p:nvPr>
        </p:nvSpPr>
        <p:spPr/>
        <p:txBody>
          <a:bodyPr/>
          <a:lstStyle/>
          <a:p>
            <a:fld id="{5BCAD085-E8A6-8845-BD4E-CB4CCA059FC4}" type="datetimeFigureOut">
              <a:t>10/13/2026</a:t>
            </a:fld>
            <a:endParaRPr/>
          </a:p>
        </p:txBody>
      </p:sp>
      <p:sp>
        <p:nvSpPr>
          <p:cNvPr id="8" name="Footer Placeholder 7">
            <a:extLst>
              <a:ext uri="{FF2B5EF4-FFF2-40B4-BE49-F238E27FC236}">
                <a16:creationId xmlns:a16="http://schemas.microsoft.com/office/drawing/2014/main" id="{4295D023-05C8-4897-AE19-A2CFD91C2FD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54B009B-FACB-41AE-A3F0-14ED0361DD6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4B433-7B59-4522-A275-CAED346536A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9015580E-DFF0-4838-A514-50DD4096A2C6}"/>
              </a:ext>
            </a:extLst>
          </p:cNvPr>
          <p:cNvSpPr>
            <a:spLocks noGrp="1"/>
          </p:cNvSpPr>
          <p:nvPr>
            <p:ph type="dt" idx="10"/>
          </p:nvPr>
        </p:nvSpPr>
        <p:spPr/>
        <p:txBody>
          <a:bodyPr/>
          <a:lstStyle/>
          <a:p>
            <a:fld id="{5BCAD085-E8A6-8845-BD4E-CB4CCA059FC4}" type="datetimeFigureOut">
              <a:t>10/13/2026</a:t>
            </a:fld>
            <a:endParaRPr/>
          </a:p>
        </p:txBody>
      </p:sp>
      <p:sp>
        <p:nvSpPr>
          <p:cNvPr id="4" name="Footer Placeholder 3">
            <a:extLst>
              <a:ext uri="{FF2B5EF4-FFF2-40B4-BE49-F238E27FC236}">
                <a16:creationId xmlns:a16="http://schemas.microsoft.com/office/drawing/2014/main" id="{45DF7685-15B2-4C18-894F-92460A0730C6}"/>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549B22B-DC7A-4B21-BE9E-E4B2B7FDB09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1F636E-24A1-4C3D-99E3-1FE8AE75A9D3}"/>
              </a:ext>
            </a:extLst>
          </p:cNvPr>
          <p:cNvSpPr>
            <a:spLocks noGrp="1"/>
          </p:cNvSpPr>
          <p:nvPr>
            <p:ph type="dt" idx="10"/>
          </p:nvPr>
        </p:nvSpPr>
        <p:spPr/>
        <p:txBody>
          <a:bodyPr/>
          <a:lstStyle/>
          <a:p>
            <a:fld id="{5BCAD085-E8A6-8845-BD4E-CB4CCA059FC4}" type="datetimeFigureOut">
              <a:t>10/13/2026</a:t>
            </a:fld>
            <a:endParaRPr/>
          </a:p>
        </p:txBody>
      </p:sp>
      <p:sp>
        <p:nvSpPr>
          <p:cNvPr id="3" name="Footer Placeholder 2">
            <a:extLst>
              <a:ext uri="{FF2B5EF4-FFF2-40B4-BE49-F238E27FC236}">
                <a16:creationId xmlns:a16="http://schemas.microsoft.com/office/drawing/2014/main" id="{A2A76904-9D65-42F5-8D04-3D339594080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B54D8D40-E6A0-4A61-98DD-83D6F0392AF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7D3A9-EEE7-4280-B8ED-83DB172DCC98}"/>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E7E2BA2-2824-4543-B9D0-1A9F740132DE}"/>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C255E37F-1DDD-4FFA-9B0E-09BA9FEF2543}"/>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7D1C9CD-AE50-4DFD-B0E7-F3F2E763623D}"/>
              </a:ext>
            </a:extLst>
          </p:cNvPr>
          <p:cNvSpPr>
            <a:spLocks noGrp="1"/>
          </p:cNvSpPr>
          <p:nvPr>
            <p:ph type="dt" idx="10"/>
          </p:nvPr>
        </p:nvSpPr>
        <p:spPr/>
        <p:txBody>
          <a:bodyPr/>
          <a:lstStyle/>
          <a:p>
            <a:fld id="{5BCAD085-E8A6-8845-BD4E-CB4CCA059FC4}" type="datetimeFigureOut">
              <a:t>10/13/2026</a:t>
            </a:fld>
            <a:endParaRPr/>
          </a:p>
        </p:txBody>
      </p:sp>
      <p:sp>
        <p:nvSpPr>
          <p:cNvPr id="6" name="Footer Placeholder 5">
            <a:extLst>
              <a:ext uri="{FF2B5EF4-FFF2-40B4-BE49-F238E27FC236}">
                <a16:creationId xmlns:a16="http://schemas.microsoft.com/office/drawing/2014/main" id="{A23F2CF3-8BCC-4FA3-B702-FC1ECFDEBFB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97CEE5B-60C9-4BFE-82C6-AF6FA0E5F28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8C72-F2B9-4E64-B63B-4CD9E9B305E8}"/>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6FF5CC28-E002-46B8-B2E4-E55A5F07CD04}"/>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B87E0FE-4950-4BCF-A05F-E3EA5525C42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3B8D9731-7CE2-4C27-BD0C-BB034B8954E7}"/>
              </a:ext>
            </a:extLst>
          </p:cNvPr>
          <p:cNvSpPr>
            <a:spLocks noGrp="1"/>
          </p:cNvSpPr>
          <p:nvPr>
            <p:ph type="dt" idx="10"/>
          </p:nvPr>
        </p:nvSpPr>
        <p:spPr/>
        <p:txBody>
          <a:bodyPr/>
          <a:lstStyle/>
          <a:p>
            <a:fld id="{5BCAD085-E8A6-8845-BD4E-CB4CCA059FC4}" type="datetimeFigureOut">
              <a:t>10/13/2026</a:t>
            </a:fld>
            <a:endParaRPr/>
          </a:p>
        </p:txBody>
      </p:sp>
      <p:sp>
        <p:nvSpPr>
          <p:cNvPr id="6" name="Footer Placeholder 5">
            <a:extLst>
              <a:ext uri="{FF2B5EF4-FFF2-40B4-BE49-F238E27FC236}">
                <a16:creationId xmlns:a16="http://schemas.microsoft.com/office/drawing/2014/main" id="{3AAA4294-15CB-4416-BDBD-CD65A234CF0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C50E4D7-6FD3-4E75-821D-6C92433C2D1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A2CDE-A380-4A46-9BD3-718B6F96924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2E14BF7-7DDE-4022-896E-FA93DFE14370}"/>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3761501-AB28-4C54-9905-D05E93203218}"/>
              </a:ext>
            </a:extLst>
          </p:cNvPr>
          <p:cNvSpPr>
            <a:spLocks noGrp="1"/>
          </p:cNvSpPr>
          <p:nvPr>
            <p:ph type="dt" idx="10"/>
          </p:nvPr>
        </p:nvSpPr>
        <p:spPr/>
        <p:txBody>
          <a:bodyPr/>
          <a:lstStyle/>
          <a:p>
            <a:fld id="{5BCAD085-E8A6-8845-BD4E-CB4CCA059FC4}" type="datetimeFigureOut">
              <a:t>10/13/2026</a:t>
            </a:fld>
            <a:endParaRPr/>
          </a:p>
        </p:txBody>
      </p:sp>
      <p:sp>
        <p:nvSpPr>
          <p:cNvPr id="5" name="Footer Placeholder 4">
            <a:extLst>
              <a:ext uri="{FF2B5EF4-FFF2-40B4-BE49-F238E27FC236}">
                <a16:creationId xmlns:a16="http://schemas.microsoft.com/office/drawing/2014/main" id="{54B05C90-79C3-4CD9-AA98-99BA8C6A1C6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7D2101F-0AB0-4809-BC4D-FFC80B11091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9BAFF-2EE1-4533-82DB-CA3946B1EA65}"/>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E1AF2FB5-C281-4707-9D02-B947456994B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1AB760C-E26E-42F7-ACB3-8552E3BF688F}"/>
              </a:ext>
            </a:extLst>
          </p:cNvPr>
          <p:cNvSpPr>
            <a:spLocks noGrp="1"/>
          </p:cNvSpPr>
          <p:nvPr>
            <p:ph type="dt" idx="10"/>
          </p:nvPr>
        </p:nvSpPr>
        <p:spPr/>
        <p:txBody>
          <a:bodyPr/>
          <a:lstStyle/>
          <a:p>
            <a:fld id="{5BCAD085-E8A6-8845-BD4E-CB4CCA059FC4}" type="datetimeFigureOut">
              <a:t>10/13/2026</a:t>
            </a:fld>
            <a:endParaRPr/>
          </a:p>
        </p:txBody>
      </p:sp>
      <p:sp>
        <p:nvSpPr>
          <p:cNvPr id="5" name="Footer Placeholder 4">
            <a:extLst>
              <a:ext uri="{FF2B5EF4-FFF2-40B4-BE49-F238E27FC236}">
                <a16:creationId xmlns:a16="http://schemas.microsoft.com/office/drawing/2014/main" id="{4C491D68-8ACD-4E3F-BD60-77F3B846583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56A106A-E793-4078-90A5-DC89C9BE17C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D4F1AE-5B16-4073-BFDD-E8D4C6DFF084}"/>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6960633-BCEC-4A3E-9533-E4B2FBBF556B}"/>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53915CB-7C1D-417B-AAE2-53AAF540EA12}"/>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10/13/2026</a:t>
            </a:fld>
            <a:endParaRPr/>
          </a:p>
        </p:txBody>
      </p:sp>
      <p:sp>
        <p:nvSpPr>
          <p:cNvPr id="5" name="Footer Placeholder 4">
            <a:extLst>
              <a:ext uri="{FF2B5EF4-FFF2-40B4-BE49-F238E27FC236}">
                <a16:creationId xmlns:a16="http://schemas.microsoft.com/office/drawing/2014/main" id="{7BD6F704-6B2E-4342-A73E-6BF9D5264FF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B124DC50-59C0-4493-9E07-E869DD8BC0E3}"/>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B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A43488-5840-42B9-9988-7E06A1563FC1}"/>
              </a:ext>
            </a:extLst>
          </p:cNvPr>
          <p:cNvSpPr>
            <a:spLocks noGrp="1"/>
          </p:cNvSpPr>
          <p:nvPr/>
        </p:nvSpPr>
        <p:spPr>
          <a:xfrm>
            <a:off x="0" y="0"/>
            <a:ext cx="182880" cy="6858000"/>
          </a:xfrm>
          <a:prstGeom prst="rect">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07321F7-7227-4B51-819F-B56A0BBA5FA4}"/>
              </a:ext>
            </a:extLst>
          </p:cNvPr>
          <p:cNvSpPr>
            <a:spLocks noGrp="1"/>
          </p:cNvSpPr>
          <p:nvPr/>
        </p:nvSpPr>
        <p:spPr>
          <a:xfrm>
            <a:off x="768096" y="1353312"/>
            <a:ext cx="5486400" cy="1993392"/>
          </a:xfrm>
          <a:prstGeom prst="rect">
            <a:avLst/>
          </a:prstGeom>
          <a:noFill/>
        </p:spPr>
        <p:txBody>
          <a:bodyPr wrap="square" lIns="0" tIns="0" rIns="0" bIns="0" anchor="t">
            <a:spAutoFit/>
          </a:bodyPr>
          <a:lstStyle/>
          <a:p>
            <a:pPr algn="l">
              <a:spcBef>
                <a:spcPts val="0"/>
              </a:spcBef>
              <a:spcAft>
                <a:spcPts val="0"/>
              </a:spcAft>
              <a:buNone/>
              <a:defRPr sz="3200" b="1" i="0">
                <a:solidFill>
                  <a:srgbClr val="FFFFFF"/>
                </a:solidFill>
                <a:latin typeface="Aptos Display"/>
                <a:ea typeface="Aptos Display"/>
                <a:cs typeface="Aptos Display"/>
              </a:defRPr>
            </a:pPr>
            <a:r>
              <a:t>A Survey of</a:t>
            </a:r>
            <a:br/>
            <a:r>
              <a:t>Referring Video</a:t>
            </a:r>
            <a:br/>
            <a:r>
              <a:t>Object Segmentation</a:t>
            </a:r>
          </a:p>
        </p:txBody>
      </p:sp>
      <p:sp>
        <p:nvSpPr>
          <p:cNvPr id="6" name="TextBox 5">
            <a:extLst>
              <a:ext uri="{FF2B5EF4-FFF2-40B4-BE49-F238E27FC236}">
                <a16:creationId xmlns:a16="http://schemas.microsoft.com/office/drawing/2014/main" id="{F2E9C24A-906F-469B-8868-CD2D61C23C53}"/>
              </a:ext>
            </a:extLst>
          </p:cNvPr>
          <p:cNvSpPr>
            <a:spLocks noGrp="1"/>
          </p:cNvSpPr>
          <p:nvPr/>
        </p:nvSpPr>
        <p:spPr>
          <a:xfrm>
            <a:off x="804672" y="3703320"/>
            <a:ext cx="4892040" cy="658368"/>
          </a:xfrm>
          <a:prstGeom prst="rect">
            <a:avLst/>
          </a:prstGeom>
          <a:noFill/>
        </p:spPr>
        <p:txBody>
          <a:bodyPr wrap="square" lIns="0" tIns="0" rIns="0" bIns="0" anchor="t">
            <a:spAutoFit/>
          </a:bodyPr>
          <a:lstStyle/>
          <a:p>
            <a:pPr algn="l">
              <a:spcBef>
                <a:spcPts val="0"/>
              </a:spcBef>
              <a:spcAft>
                <a:spcPts val="0"/>
              </a:spcAft>
              <a:buNone/>
              <a:defRPr sz="1700" b="0" i="0">
                <a:solidFill>
                  <a:srgbClr val="B9C9D6"/>
                </a:solidFill>
                <a:latin typeface="Aptos"/>
                <a:ea typeface="Aptos"/>
                <a:cs typeface="Aptos"/>
              </a:defRPr>
            </a:pPr>
            <a:r>
              <a:t>From language-guided masks to temporal reasoning</a:t>
            </a:r>
          </a:p>
        </p:txBody>
      </p:sp>
      <p:sp>
        <p:nvSpPr>
          <p:cNvPr id="7" name="Connector 6">
            <a:extLst>
              <a:ext uri="{FF2B5EF4-FFF2-40B4-BE49-F238E27FC236}">
                <a16:creationId xmlns:a16="http://schemas.microsoft.com/office/drawing/2014/main" id="{B33DEE10-62B4-43E4-AF8D-73DD5C377E31}"/>
              </a:ext>
            </a:extLst>
          </p:cNvPr>
          <p:cNvSpPr>
            <a:spLocks noGrp="1"/>
          </p:cNvSpPr>
          <p:nvPr/>
        </p:nvSpPr>
        <p:spPr>
          <a:xfrm>
            <a:off x="822960" y="4736592"/>
            <a:ext cx="4526280" cy="0"/>
          </a:xfrm>
          <a:prstGeom prst="line">
            <a:avLst/>
          </a:prstGeom>
          <a:ln w="12700">
            <a:solidFill>
              <a:srgbClr val="365064"/>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8" name="TextBox 7">
            <a:extLst>
              <a:ext uri="{FF2B5EF4-FFF2-40B4-BE49-F238E27FC236}">
                <a16:creationId xmlns:a16="http://schemas.microsoft.com/office/drawing/2014/main" id="{81997317-8D5E-423D-8F99-D688CE104654}"/>
              </a:ext>
            </a:extLst>
          </p:cNvPr>
          <p:cNvSpPr>
            <a:spLocks noGrp="1"/>
          </p:cNvSpPr>
          <p:nvPr/>
        </p:nvSpPr>
        <p:spPr>
          <a:xfrm>
            <a:off x="804672" y="4992624"/>
            <a:ext cx="4297680" cy="320040"/>
          </a:xfrm>
          <a:prstGeom prst="rect">
            <a:avLst/>
          </a:prstGeom>
          <a:noFill/>
        </p:spPr>
        <p:txBody>
          <a:bodyPr wrap="square" lIns="0" tIns="0" rIns="0" bIns="0" anchor="t">
            <a:spAutoFit/>
          </a:bodyPr>
          <a:lstStyle/>
          <a:p>
            <a:pPr algn="l">
              <a:spcBef>
                <a:spcPts val="0"/>
              </a:spcBef>
              <a:spcAft>
                <a:spcPts val="0"/>
              </a:spcAft>
              <a:buNone/>
              <a:defRPr sz="1200" b="1" i="0">
                <a:solidFill>
                  <a:srgbClr val="FFFFFF"/>
                </a:solidFill>
                <a:latin typeface="Aptos"/>
                <a:ea typeface="Aptos"/>
                <a:cs typeface="Aptos"/>
              </a:defRPr>
            </a:pPr>
            <a:r>
              <a:t>Shishir Regmi  ·  Troy University</a:t>
            </a:r>
          </a:p>
        </p:txBody>
      </p:sp>
      <p:sp>
        <p:nvSpPr>
          <p:cNvPr id="9" name="TextBox 8">
            <a:extLst>
              <a:ext uri="{FF2B5EF4-FFF2-40B4-BE49-F238E27FC236}">
                <a16:creationId xmlns:a16="http://schemas.microsoft.com/office/drawing/2014/main" id="{9C1070BB-0468-4218-BA28-C7B2230C45BD}"/>
              </a:ext>
            </a:extLst>
          </p:cNvPr>
          <p:cNvSpPr>
            <a:spLocks noGrp="1"/>
          </p:cNvSpPr>
          <p:nvPr/>
        </p:nvSpPr>
        <p:spPr>
          <a:xfrm>
            <a:off x="804672" y="5376672"/>
            <a:ext cx="4297680" cy="256032"/>
          </a:xfrm>
          <a:prstGeom prst="rect">
            <a:avLst/>
          </a:prstGeom>
          <a:noFill/>
        </p:spPr>
        <p:txBody>
          <a:bodyPr wrap="square" lIns="0" tIns="0" rIns="0" bIns="0" anchor="t">
            <a:spAutoFit/>
          </a:bodyPr>
          <a:lstStyle/>
          <a:p>
            <a:pPr algn="l">
              <a:spcBef>
                <a:spcPts val="0"/>
              </a:spcBef>
              <a:spcAft>
                <a:spcPts val="0"/>
              </a:spcAft>
              <a:buNone/>
              <a:defRPr sz="1000" b="0" i="0">
                <a:solidFill>
                  <a:srgbClr val="9BB0C0"/>
                </a:solidFill>
                <a:latin typeface="Aptos"/>
                <a:ea typeface="Aptos"/>
                <a:cs typeface="Aptos"/>
              </a:defRPr>
            </a:pPr>
            <a:r>
              <a:t>Computer Science</a:t>
            </a:r>
          </a:p>
        </p:txBody>
      </p:sp>
      <p:sp>
        <p:nvSpPr>
          <p:cNvPr id="10" name="TextBox 9">
            <a:extLst>
              <a:ext uri="{FF2B5EF4-FFF2-40B4-BE49-F238E27FC236}">
                <a16:creationId xmlns:a16="http://schemas.microsoft.com/office/drawing/2014/main" id="{5F4A0908-C0B5-4AA8-82D3-36A4B72F6035}"/>
              </a:ext>
            </a:extLst>
          </p:cNvPr>
          <p:cNvSpPr>
            <a:spLocks noGrp="1"/>
          </p:cNvSpPr>
          <p:nvPr/>
        </p:nvSpPr>
        <p:spPr>
          <a:xfrm>
            <a:off x="6537960" y="713232"/>
            <a:ext cx="4480560" cy="256032"/>
          </a:xfrm>
          <a:prstGeom prst="rect">
            <a:avLst/>
          </a:prstGeom>
          <a:noFill/>
        </p:spPr>
        <p:txBody>
          <a:bodyPr wrap="square" lIns="0" tIns="0" rIns="0" bIns="0" anchor="t">
            <a:spAutoFit/>
          </a:bodyPr>
          <a:lstStyle/>
          <a:p>
            <a:pPr algn="l">
              <a:spcBef>
                <a:spcPts val="0"/>
              </a:spcBef>
              <a:spcAft>
                <a:spcPts val="0"/>
              </a:spcAft>
              <a:buNone/>
              <a:defRPr sz="900" b="1" i="0">
                <a:solidFill>
                  <a:srgbClr val="65D5CC"/>
                </a:solidFill>
                <a:latin typeface="Aptos"/>
                <a:ea typeface="Aptos"/>
                <a:cs typeface="Aptos"/>
              </a:defRPr>
            </a:pPr>
            <a:r>
              <a:t>ONE SENTENCE  →  ONE TARGET, THROUGH TIME</a:t>
            </a:r>
          </a:p>
        </p:txBody>
      </p:sp>
      <p:sp>
        <p:nvSpPr>
          <p:cNvPr id="11" name="Rounded Rectangle 10">
            <a:extLst>
              <a:ext uri="{FF2B5EF4-FFF2-40B4-BE49-F238E27FC236}">
                <a16:creationId xmlns:a16="http://schemas.microsoft.com/office/drawing/2014/main" id="{C20ABB25-3C54-4850-92A0-C8C51058AA66}"/>
              </a:ext>
            </a:extLst>
          </p:cNvPr>
          <p:cNvSpPr>
            <a:spLocks noGrp="1"/>
          </p:cNvSpPr>
          <p:nvPr/>
        </p:nvSpPr>
        <p:spPr>
          <a:xfrm>
            <a:off x="6547104"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Connector 11">
            <a:extLst>
              <a:ext uri="{FF2B5EF4-FFF2-40B4-BE49-F238E27FC236}">
                <a16:creationId xmlns:a16="http://schemas.microsoft.com/office/drawing/2014/main" id="{32D8A0B9-273E-4C4C-9DC6-37FCE2689D3F}"/>
              </a:ext>
            </a:extLst>
          </p:cNvPr>
          <p:cNvSpPr>
            <a:spLocks noGrp="1"/>
          </p:cNvSpPr>
          <p:nvPr/>
        </p:nvSpPr>
        <p:spPr>
          <a:xfrm>
            <a:off x="6638544" y="3008376"/>
            <a:ext cx="804672"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3" name="Oval 12">
            <a:extLst>
              <a:ext uri="{FF2B5EF4-FFF2-40B4-BE49-F238E27FC236}">
                <a16:creationId xmlns:a16="http://schemas.microsoft.com/office/drawing/2014/main" id="{E5BD3F7E-7695-4FFC-AFBF-3EC4C6B96146}"/>
              </a:ext>
            </a:extLst>
          </p:cNvPr>
          <p:cNvSpPr>
            <a:spLocks noGrp="1"/>
          </p:cNvSpPr>
          <p:nvPr/>
        </p:nvSpPr>
        <p:spPr>
          <a:xfrm>
            <a:off x="6874276" y="1856231"/>
            <a:ext cx="132039" cy="132039"/>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ounded Rectangle 13">
            <a:extLst>
              <a:ext uri="{FF2B5EF4-FFF2-40B4-BE49-F238E27FC236}">
                <a16:creationId xmlns:a16="http://schemas.microsoft.com/office/drawing/2014/main" id="{795D0547-F331-40BB-AF58-FA0EA58A5F48}"/>
              </a:ext>
            </a:extLst>
          </p:cNvPr>
          <p:cNvSpPr>
            <a:spLocks noGrp="1"/>
          </p:cNvSpPr>
          <p:nvPr/>
        </p:nvSpPr>
        <p:spPr>
          <a:xfrm>
            <a:off x="6849953" y="1995220"/>
            <a:ext cx="180685" cy="257129"/>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Connector 14">
            <a:extLst>
              <a:ext uri="{FF2B5EF4-FFF2-40B4-BE49-F238E27FC236}">
                <a16:creationId xmlns:a16="http://schemas.microsoft.com/office/drawing/2014/main" id="{2B448544-0122-4457-BC01-EB130E749CD6}"/>
              </a:ext>
            </a:extLst>
          </p:cNvPr>
          <p:cNvSpPr>
            <a:spLocks noGrp="1"/>
          </p:cNvSpPr>
          <p:nvPr/>
        </p:nvSpPr>
        <p:spPr>
          <a:xfrm flipH="1">
            <a:off x="6829104"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6" name="Connector 15">
            <a:extLst>
              <a:ext uri="{FF2B5EF4-FFF2-40B4-BE49-F238E27FC236}">
                <a16:creationId xmlns:a16="http://schemas.microsoft.com/office/drawing/2014/main" id="{12576963-6F55-4BBD-ADC4-0D844E2D519E}"/>
              </a:ext>
            </a:extLst>
          </p:cNvPr>
          <p:cNvSpPr>
            <a:spLocks noGrp="1"/>
          </p:cNvSpPr>
          <p:nvPr/>
        </p:nvSpPr>
        <p:spPr>
          <a:xfrm>
            <a:off x="6995891"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7" name="Connector 16">
            <a:extLst>
              <a:ext uri="{FF2B5EF4-FFF2-40B4-BE49-F238E27FC236}">
                <a16:creationId xmlns:a16="http://schemas.microsoft.com/office/drawing/2014/main" id="{14EAC53B-C456-4BCF-B41D-7047EF3F54A1}"/>
              </a:ext>
            </a:extLst>
          </p:cNvPr>
          <p:cNvSpPr>
            <a:spLocks noGrp="1"/>
          </p:cNvSpPr>
          <p:nvPr/>
        </p:nvSpPr>
        <p:spPr>
          <a:xfrm flipH="1">
            <a:off x="6752661"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8" name="Connector 17">
            <a:extLst>
              <a:ext uri="{FF2B5EF4-FFF2-40B4-BE49-F238E27FC236}">
                <a16:creationId xmlns:a16="http://schemas.microsoft.com/office/drawing/2014/main" id="{DC8A5192-F287-42E6-B0EC-C6335E4A3FF4}"/>
              </a:ext>
            </a:extLst>
          </p:cNvPr>
          <p:cNvSpPr>
            <a:spLocks noGrp="1"/>
          </p:cNvSpPr>
          <p:nvPr/>
        </p:nvSpPr>
        <p:spPr>
          <a:xfrm>
            <a:off x="7009790"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9" name="Oval 18">
            <a:extLst>
              <a:ext uri="{FF2B5EF4-FFF2-40B4-BE49-F238E27FC236}">
                <a16:creationId xmlns:a16="http://schemas.microsoft.com/office/drawing/2014/main" id="{6B473020-5D97-4B8E-88C6-F1F6A8052F4D}"/>
              </a:ext>
            </a:extLst>
          </p:cNvPr>
          <p:cNvSpPr>
            <a:spLocks noGrp="1"/>
          </p:cNvSpPr>
          <p:nvPr/>
        </p:nvSpPr>
        <p:spPr>
          <a:xfrm>
            <a:off x="6780458" y="1807585"/>
            <a:ext cx="319674" cy="319674"/>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E911E86D-5FA4-4A68-B561-549FAFE840A9}"/>
              </a:ext>
            </a:extLst>
          </p:cNvPr>
          <p:cNvSpPr>
            <a:spLocks noGrp="1"/>
          </p:cNvSpPr>
          <p:nvPr/>
        </p:nvSpPr>
        <p:spPr>
          <a:xfrm>
            <a:off x="7206477"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ounded Rectangle 20">
            <a:extLst>
              <a:ext uri="{FF2B5EF4-FFF2-40B4-BE49-F238E27FC236}">
                <a16:creationId xmlns:a16="http://schemas.microsoft.com/office/drawing/2014/main" id="{E8F24B46-F15F-4925-A735-7184FA3389E3}"/>
              </a:ext>
            </a:extLst>
          </p:cNvPr>
          <p:cNvSpPr>
            <a:spLocks noGrp="1"/>
          </p:cNvSpPr>
          <p:nvPr/>
        </p:nvSpPr>
        <p:spPr>
          <a:xfrm>
            <a:off x="7186635"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Connector 21">
            <a:extLst>
              <a:ext uri="{FF2B5EF4-FFF2-40B4-BE49-F238E27FC236}">
                <a16:creationId xmlns:a16="http://schemas.microsoft.com/office/drawing/2014/main" id="{BCD94A61-9FCC-471D-A1E7-158B66257875}"/>
              </a:ext>
            </a:extLst>
          </p:cNvPr>
          <p:cNvSpPr>
            <a:spLocks noGrp="1"/>
          </p:cNvSpPr>
          <p:nvPr/>
        </p:nvSpPr>
        <p:spPr>
          <a:xfrm flipH="1">
            <a:off x="7169627"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3" name="Connector 22">
            <a:extLst>
              <a:ext uri="{FF2B5EF4-FFF2-40B4-BE49-F238E27FC236}">
                <a16:creationId xmlns:a16="http://schemas.microsoft.com/office/drawing/2014/main" id="{EC5B4FEC-BE11-4635-8C23-E6691EC70E65}"/>
              </a:ext>
            </a:extLst>
          </p:cNvPr>
          <p:cNvSpPr>
            <a:spLocks noGrp="1"/>
          </p:cNvSpPr>
          <p:nvPr/>
        </p:nvSpPr>
        <p:spPr>
          <a:xfrm>
            <a:off x="7305690"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4" name="Connector 23">
            <a:extLst>
              <a:ext uri="{FF2B5EF4-FFF2-40B4-BE49-F238E27FC236}">
                <a16:creationId xmlns:a16="http://schemas.microsoft.com/office/drawing/2014/main" id="{BA57A915-5887-4413-8E29-60F2BB080493}"/>
              </a:ext>
            </a:extLst>
          </p:cNvPr>
          <p:cNvSpPr>
            <a:spLocks noGrp="1"/>
          </p:cNvSpPr>
          <p:nvPr/>
        </p:nvSpPr>
        <p:spPr>
          <a:xfrm flipH="1">
            <a:off x="7107265"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5" name="Connector 24">
            <a:extLst>
              <a:ext uri="{FF2B5EF4-FFF2-40B4-BE49-F238E27FC236}">
                <a16:creationId xmlns:a16="http://schemas.microsoft.com/office/drawing/2014/main" id="{1560FD56-4937-47E6-BD49-CA8231913D5B}"/>
              </a:ext>
            </a:extLst>
          </p:cNvPr>
          <p:cNvSpPr>
            <a:spLocks noGrp="1"/>
          </p:cNvSpPr>
          <p:nvPr/>
        </p:nvSpPr>
        <p:spPr>
          <a:xfrm>
            <a:off x="7317028"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6" name="TextBox 25">
            <a:extLst>
              <a:ext uri="{FF2B5EF4-FFF2-40B4-BE49-F238E27FC236}">
                <a16:creationId xmlns:a16="http://schemas.microsoft.com/office/drawing/2014/main" id="{2BDE1B8D-AD08-4027-A012-C65CC7682703}"/>
              </a:ext>
            </a:extLst>
          </p:cNvPr>
          <p:cNvSpPr>
            <a:spLocks noGrp="1"/>
          </p:cNvSpPr>
          <p:nvPr/>
        </p:nvSpPr>
        <p:spPr>
          <a:xfrm>
            <a:off x="6620256" y="3127248"/>
            <a:ext cx="841248" cy="164592"/>
          </a:xfrm>
          <a:prstGeom prst="rect">
            <a:avLst/>
          </a:prstGeom>
          <a:noFill/>
        </p:spPr>
        <p:txBody>
          <a:bodyPr wrap="square" lIns="0" tIns="0" rIns="0" bIns="0" anchor="t">
            <a:spAutoFit/>
          </a:bodyPr>
          <a:lstStyle/>
          <a:p>
            <a:pPr algn="ctr">
              <a:spcBef>
                <a:spcPts val="0"/>
              </a:spcBef>
              <a:spcAft>
                <a:spcPts val="0"/>
              </a:spcAft>
              <a:buNone/>
              <a:defRPr sz="700" b="1" i="0">
                <a:solidFill>
                  <a:srgbClr val="B8C9D6"/>
                </a:solidFill>
                <a:latin typeface="Aptos"/>
                <a:ea typeface="Aptos"/>
                <a:cs typeface="Aptos"/>
              </a:defRPr>
            </a:pPr>
            <a:r>
              <a:t>FRAME 01</a:t>
            </a:r>
          </a:p>
        </p:txBody>
      </p:sp>
      <p:sp>
        <p:nvSpPr>
          <p:cNvPr id="27" name="Right Arrow 26">
            <a:extLst>
              <a:ext uri="{FF2B5EF4-FFF2-40B4-BE49-F238E27FC236}">
                <a16:creationId xmlns:a16="http://schemas.microsoft.com/office/drawing/2014/main" id="{183A1F62-CA34-4C76-B8B3-F7756DDAE1D1}"/>
              </a:ext>
            </a:extLst>
          </p:cNvPr>
          <p:cNvSpPr>
            <a:spLocks noGrp="1"/>
          </p:cNvSpPr>
          <p:nvPr/>
        </p:nvSpPr>
        <p:spPr>
          <a:xfrm>
            <a:off x="7552944" y="2130552"/>
            <a:ext cx="155448" cy="146304"/>
          </a:xfrm>
          <a:prstGeom prst="rightArrow">
            <a:avLst/>
          </a:prstGeom>
          <a:solidFill>
            <a:srgbClr val="65D5C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ounded Rectangle 27">
            <a:extLst>
              <a:ext uri="{FF2B5EF4-FFF2-40B4-BE49-F238E27FC236}">
                <a16:creationId xmlns:a16="http://schemas.microsoft.com/office/drawing/2014/main" id="{79893861-E227-4529-A744-5A27F633C23E}"/>
              </a:ext>
            </a:extLst>
          </p:cNvPr>
          <p:cNvSpPr>
            <a:spLocks noGrp="1"/>
          </p:cNvSpPr>
          <p:nvPr/>
        </p:nvSpPr>
        <p:spPr>
          <a:xfrm>
            <a:off x="7726679"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Connector 28">
            <a:extLst>
              <a:ext uri="{FF2B5EF4-FFF2-40B4-BE49-F238E27FC236}">
                <a16:creationId xmlns:a16="http://schemas.microsoft.com/office/drawing/2014/main" id="{A796F473-6886-4641-8589-51371EBB5BF6}"/>
              </a:ext>
            </a:extLst>
          </p:cNvPr>
          <p:cNvSpPr>
            <a:spLocks noGrp="1"/>
          </p:cNvSpPr>
          <p:nvPr/>
        </p:nvSpPr>
        <p:spPr>
          <a:xfrm>
            <a:off x="7818119" y="3008376"/>
            <a:ext cx="804673"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0" name="Oval 29">
            <a:extLst>
              <a:ext uri="{FF2B5EF4-FFF2-40B4-BE49-F238E27FC236}">
                <a16:creationId xmlns:a16="http://schemas.microsoft.com/office/drawing/2014/main" id="{08E39C70-A502-461B-9072-23C2E9FBE111}"/>
              </a:ext>
            </a:extLst>
          </p:cNvPr>
          <p:cNvSpPr>
            <a:spLocks noGrp="1"/>
          </p:cNvSpPr>
          <p:nvPr/>
        </p:nvSpPr>
        <p:spPr>
          <a:xfrm>
            <a:off x="8053852" y="1920239"/>
            <a:ext cx="132039" cy="132039"/>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ounded Rectangle 30">
            <a:extLst>
              <a:ext uri="{FF2B5EF4-FFF2-40B4-BE49-F238E27FC236}">
                <a16:creationId xmlns:a16="http://schemas.microsoft.com/office/drawing/2014/main" id="{CD2A586D-A4B3-4380-B61A-D11B1F800866}"/>
              </a:ext>
            </a:extLst>
          </p:cNvPr>
          <p:cNvSpPr>
            <a:spLocks noGrp="1"/>
          </p:cNvSpPr>
          <p:nvPr/>
        </p:nvSpPr>
        <p:spPr>
          <a:xfrm>
            <a:off x="8029529" y="2059228"/>
            <a:ext cx="180685" cy="257129"/>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Connector 31">
            <a:extLst>
              <a:ext uri="{FF2B5EF4-FFF2-40B4-BE49-F238E27FC236}">
                <a16:creationId xmlns:a16="http://schemas.microsoft.com/office/drawing/2014/main" id="{96FAFF7A-3B48-4D61-8186-06AD9B87C2D5}"/>
              </a:ext>
            </a:extLst>
          </p:cNvPr>
          <p:cNvSpPr>
            <a:spLocks noGrp="1"/>
          </p:cNvSpPr>
          <p:nvPr/>
        </p:nvSpPr>
        <p:spPr>
          <a:xfrm flipH="1">
            <a:off x="8008680" y="2281610"/>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3" name="Connector 32">
            <a:extLst>
              <a:ext uri="{FF2B5EF4-FFF2-40B4-BE49-F238E27FC236}">
                <a16:creationId xmlns:a16="http://schemas.microsoft.com/office/drawing/2014/main" id="{C3199514-B3A1-48B6-8179-6AE7E193D99C}"/>
              </a:ext>
            </a:extLst>
          </p:cNvPr>
          <p:cNvSpPr>
            <a:spLocks noGrp="1"/>
          </p:cNvSpPr>
          <p:nvPr/>
        </p:nvSpPr>
        <p:spPr>
          <a:xfrm>
            <a:off x="8175467" y="2281610"/>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4" name="Connector 33">
            <a:extLst>
              <a:ext uri="{FF2B5EF4-FFF2-40B4-BE49-F238E27FC236}">
                <a16:creationId xmlns:a16="http://schemas.microsoft.com/office/drawing/2014/main" id="{50BDCF93-7C7F-4F8D-9593-65C1E361D6AA}"/>
              </a:ext>
            </a:extLst>
          </p:cNvPr>
          <p:cNvSpPr>
            <a:spLocks noGrp="1"/>
          </p:cNvSpPr>
          <p:nvPr/>
        </p:nvSpPr>
        <p:spPr>
          <a:xfrm flipH="1">
            <a:off x="7932237" y="2121773"/>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5" name="Connector 34">
            <a:extLst>
              <a:ext uri="{FF2B5EF4-FFF2-40B4-BE49-F238E27FC236}">
                <a16:creationId xmlns:a16="http://schemas.microsoft.com/office/drawing/2014/main" id="{3D18E2D5-65B1-43D6-8EED-3D1C4777697A}"/>
              </a:ext>
            </a:extLst>
          </p:cNvPr>
          <p:cNvSpPr>
            <a:spLocks noGrp="1"/>
          </p:cNvSpPr>
          <p:nvPr/>
        </p:nvSpPr>
        <p:spPr>
          <a:xfrm>
            <a:off x="8189366" y="2121773"/>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6" name="Oval 35">
            <a:extLst>
              <a:ext uri="{FF2B5EF4-FFF2-40B4-BE49-F238E27FC236}">
                <a16:creationId xmlns:a16="http://schemas.microsoft.com/office/drawing/2014/main" id="{2E72CB07-ED8E-4302-92EF-D01CDFB7F492}"/>
              </a:ext>
            </a:extLst>
          </p:cNvPr>
          <p:cNvSpPr>
            <a:spLocks noGrp="1"/>
          </p:cNvSpPr>
          <p:nvPr/>
        </p:nvSpPr>
        <p:spPr>
          <a:xfrm>
            <a:off x="7960034" y="1871593"/>
            <a:ext cx="319674" cy="319674"/>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Oval 36">
            <a:extLst>
              <a:ext uri="{FF2B5EF4-FFF2-40B4-BE49-F238E27FC236}">
                <a16:creationId xmlns:a16="http://schemas.microsoft.com/office/drawing/2014/main" id="{132F40C7-CF69-4F9B-A6E3-E90264EBE99F}"/>
              </a:ext>
            </a:extLst>
          </p:cNvPr>
          <p:cNvSpPr>
            <a:spLocks noGrp="1"/>
          </p:cNvSpPr>
          <p:nvPr/>
        </p:nvSpPr>
        <p:spPr>
          <a:xfrm>
            <a:off x="8386053"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ounded Rectangle 37">
            <a:extLst>
              <a:ext uri="{FF2B5EF4-FFF2-40B4-BE49-F238E27FC236}">
                <a16:creationId xmlns:a16="http://schemas.microsoft.com/office/drawing/2014/main" id="{1954FE5B-881B-4B72-98EE-A2B2B7D87D80}"/>
              </a:ext>
            </a:extLst>
          </p:cNvPr>
          <p:cNvSpPr>
            <a:spLocks noGrp="1"/>
          </p:cNvSpPr>
          <p:nvPr/>
        </p:nvSpPr>
        <p:spPr>
          <a:xfrm>
            <a:off x="8366211"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Connector 38">
            <a:extLst>
              <a:ext uri="{FF2B5EF4-FFF2-40B4-BE49-F238E27FC236}">
                <a16:creationId xmlns:a16="http://schemas.microsoft.com/office/drawing/2014/main" id="{54495E8A-368E-4BA2-93F9-843BB8B9EB7F}"/>
              </a:ext>
            </a:extLst>
          </p:cNvPr>
          <p:cNvSpPr>
            <a:spLocks noGrp="1"/>
          </p:cNvSpPr>
          <p:nvPr/>
        </p:nvSpPr>
        <p:spPr>
          <a:xfrm flipH="1">
            <a:off x="8349203"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0" name="Connector 39">
            <a:extLst>
              <a:ext uri="{FF2B5EF4-FFF2-40B4-BE49-F238E27FC236}">
                <a16:creationId xmlns:a16="http://schemas.microsoft.com/office/drawing/2014/main" id="{AFED73AC-6686-4DEE-AA77-D460F8B3BC60}"/>
              </a:ext>
            </a:extLst>
          </p:cNvPr>
          <p:cNvSpPr>
            <a:spLocks noGrp="1"/>
          </p:cNvSpPr>
          <p:nvPr/>
        </p:nvSpPr>
        <p:spPr>
          <a:xfrm>
            <a:off x="8485266"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1" name="Connector 40">
            <a:extLst>
              <a:ext uri="{FF2B5EF4-FFF2-40B4-BE49-F238E27FC236}">
                <a16:creationId xmlns:a16="http://schemas.microsoft.com/office/drawing/2014/main" id="{AE7EDC95-311E-4128-8FBF-1DD70E426010}"/>
              </a:ext>
            </a:extLst>
          </p:cNvPr>
          <p:cNvSpPr>
            <a:spLocks noGrp="1"/>
          </p:cNvSpPr>
          <p:nvPr/>
        </p:nvSpPr>
        <p:spPr>
          <a:xfrm flipH="1">
            <a:off x="8286841"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2" name="Connector 41">
            <a:extLst>
              <a:ext uri="{FF2B5EF4-FFF2-40B4-BE49-F238E27FC236}">
                <a16:creationId xmlns:a16="http://schemas.microsoft.com/office/drawing/2014/main" id="{77E72ECF-B759-4555-BDAC-27F55F15F25D}"/>
              </a:ext>
            </a:extLst>
          </p:cNvPr>
          <p:cNvSpPr>
            <a:spLocks noGrp="1"/>
          </p:cNvSpPr>
          <p:nvPr/>
        </p:nvSpPr>
        <p:spPr>
          <a:xfrm>
            <a:off x="8496604"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3" name="TextBox 42">
            <a:extLst>
              <a:ext uri="{FF2B5EF4-FFF2-40B4-BE49-F238E27FC236}">
                <a16:creationId xmlns:a16="http://schemas.microsoft.com/office/drawing/2014/main" id="{71887E88-E102-4237-9A30-D2AB934259FE}"/>
              </a:ext>
            </a:extLst>
          </p:cNvPr>
          <p:cNvSpPr>
            <a:spLocks noGrp="1"/>
          </p:cNvSpPr>
          <p:nvPr/>
        </p:nvSpPr>
        <p:spPr>
          <a:xfrm>
            <a:off x="7799831" y="3127248"/>
            <a:ext cx="841248" cy="164592"/>
          </a:xfrm>
          <a:prstGeom prst="rect">
            <a:avLst/>
          </a:prstGeom>
          <a:noFill/>
        </p:spPr>
        <p:txBody>
          <a:bodyPr wrap="square" lIns="0" tIns="0" rIns="0" bIns="0" anchor="t">
            <a:spAutoFit/>
          </a:bodyPr>
          <a:lstStyle/>
          <a:p>
            <a:pPr algn="ctr">
              <a:spcBef>
                <a:spcPts val="0"/>
              </a:spcBef>
              <a:spcAft>
                <a:spcPts val="0"/>
              </a:spcAft>
              <a:buNone/>
              <a:defRPr sz="700" b="1" i="0">
                <a:solidFill>
                  <a:srgbClr val="B8C9D6"/>
                </a:solidFill>
                <a:latin typeface="Aptos"/>
                <a:ea typeface="Aptos"/>
                <a:cs typeface="Aptos"/>
              </a:defRPr>
            </a:pPr>
            <a:r>
              <a:t>FRAME 02</a:t>
            </a:r>
          </a:p>
        </p:txBody>
      </p:sp>
      <p:sp>
        <p:nvSpPr>
          <p:cNvPr id="44" name="Right Arrow 43">
            <a:extLst>
              <a:ext uri="{FF2B5EF4-FFF2-40B4-BE49-F238E27FC236}">
                <a16:creationId xmlns:a16="http://schemas.microsoft.com/office/drawing/2014/main" id="{FA64A072-2825-4437-B736-81AE58E90874}"/>
              </a:ext>
            </a:extLst>
          </p:cNvPr>
          <p:cNvSpPr>
            <a:spLocks noGrp="1"/>
          </p:cNvSpPr>
          <p:nvPr/>
        </p:nvSpPr>
        <p:spPr>
          <a:xfrm>
            <a:off x="8732519" y="2130552"/>
            <a:ext cx="155448" cy="146304"/>
          </a:xfrm>
          <a:prstGeom prst="rightArrow">
            <a:avLst/>
          </a:prstGeom>
          <a:solidFill>
            <a:srgbClr val="65D5C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Rounded Rectangle 44">
            <a:extLst>
              <a:ext uri="{FF2B5EF4-FFF2-40B4-BE49-F238E27FC236}">
                <a16:creationId xmlns:a16="http://schemas.microsoft.com/office/drawing/2014/main" id="{2A9903A5-B4DC-4493-BACB-0127FA4ECBD9}"/>
              </a:ext>
            </a:extLst>
          </p:cNvPr>
          <p:cNvSpPr>
            <a:spLocks noGrp="1"/>
          </p:cNvSpPr>
          <p:nvPr/>
        </p:nvSpPr>
        <p:spPr>
          <a:xfrm>
            <a:off x="8906256"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6" name="Connector 45">
            <a:extLst>
              <a:ext uri="{FF2B5EF4-FFF2-40B4-BE49-F238E27FC236}">
                <a16:creationId xmlns:a16="http://schemas.microsoft.com/office/drawing/2014/main" id="{AA4E23B2-A95F-4C6C-936D-AED6FCA24EB7}"/>
              </a:ext>
            </a:extLst>
          </p:cNvPr>
          <p:cNvSpPr>
            <a:spLocks noGrp="1"/>
          </p:cNvSpPr>
          <p:nvPr/>
        </p:nvSpPr>
        <p:spPr>
          <a:xfrm>
            <a:off x="8997696" y="3008376"/>
            <a:ext cx="804672"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7" name="Oval 46">
            <a:extLst>
              <a:ext uri="{FF2B5EF4-FFF2-40B4-BE49-F238E27FC236}">
                <a16:creationId xmlns:a16="http://schemas.microsoft.com/office/drawing/2014/main" id="{4EBFE4E4-1D66-44DC-8ADF-2971D9220B39}"/>
              </a:ext>
            </a:extLst>
          </p:cNvPr>
          <p:cNvSpPr>
            <a:spLocks noGrp="1"/>
          </p:cNvSpPr>
          <p:nvPr/>
        </p:nvSpPr>
        <p:spPr>
          <a:xfrm>
            <a:off x="9233428" y="1920239"/>
            <a:ext cx="132039" cy="132039"/>
          </a:xfrm>
          <a:prstGeom prst="ellipse">
            <a:avLst/>
          </a:prstGeom>
          <a:solidFill>
            <a:srgbClr val="F5A49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ounded Rectangle 47">
            <a:extLst>
              <a:ext uri="{FF2B5EF4-FFF2-40B4-BE49-F238E27FC236}">
                <a16:creationId xmlns:a16="http://schemas.microsoft.com/office/drawing/2014/main" id="{E226A92E-9D27-4E86-877F-72B0F88DDA7E}"/>
              </a:ext>
            </a:extLst>
          </p:cNvPr>
          <p:cNvSpPr>
            <a:spLocks noGrp="1"/>
          </p:cNvSpPr>
          <p:nvPr/>
        </p:nvSpPr>
        <p:spPr>
          <a:xfrm>
            <a:off x="9209105" y="2059228"/>
            <a:ext cx="180685" cy="257129"/>
          </a:xfrm>
          <a:prstGeom prst="roundRect">
            <a:avLst>
              <a:gd name="adj" fmla="val 12000"/>
            </a:avLst>
          </a:prstGeom>
          <a:solidFill>
            <a:srgbClr val="F5A49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Connector 48">
            <a:extLst>
              <a:ext uri="{FF2B5EF4-FFF2-40B4-BE49-F238E27FC236}">
                <a16:creationId xmlns:a16="http://schemas.microsoft.com/office/drawing/2014/main" id="{45B84485-95A0-4585-9402-5548FF2DA55F}"/>
              </a:ext>
            </a:extLst>
          </p:cNvPr>
          <p:cNvSpPr>
            <a:spLocks noGrp="1"/>
          </p:cNvSpPr>
          <p:nvPr/>
        </p:nvSpPr>
        <p:spPr>
          <a:xfrm flipH="1">
            <a:off x="9188256" y="2281610"/>
            <a:ext cx="55596" cy="180686"/>
          </a:xfrm>
          <a:prstGeom prst="line">
            <a:avLst/>
          </a:prstGeom>
          <a:ln w="38100">
            <a:solidFill>
              <a:srgbClr val="F5A49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0" name="Connector 49">
            <a:extLst>
              <a:ext uri="{FF2B5EF4-FFF2-40B4-BE49-F238E27FC236}">
                <a16:creationId xmlns:a16="http://schemas.microsoft.com/office/drawing/2014/main" id="{D40F4334-ED6C-4B4E-AE66-AC48CD29A6F7}"/>
              </a:ext>
            </a:extLst>
          </p:cNvPr>
          <p:cNvSpPr>
            <a:spLocks noGrp="1"/>
          </p:cNvSpPr>
          <p:nvPr/>
        </p:nvSpPr>
        <p:spPr>
          <a:xfrm>
            <a:off x="9355043" y="2281610"/>
            <a:ext cx="55596" cy="180686"/>
          </a:xfrm>
          <a:prstGeom prst="line">
            <a:avLst/>
          </a:prstGeom>
          <a:ln w="38100">
            <a:solidFill>
              <a:srgbClr val="F5A49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1" name="Connector 50">
            <a:extLst>
              <a:ext uri="{FF2B5EF4-FFF2-40B4-BE49-F238E27FC236}">
                <a16:creationId xmlns:a16="http://schemas.microsoft.com/office/drawing/2014/main" id="{D70389BF-27D6-48F2-90A5-1A0FE2410DCE}"/>
              </a:ext>
            </a:extLst>
          </p:cNvPr>
          <p:cNvSpPr>
            <a:spLocks noGrp="1"/>
          </p:cNvSpPr>
          <p:nvPr/>
        </p:nvSpPr>
        <p:spPr>
          <a:xfrm flipH="1">
            <a:off x="9111813" y="2121773"/>
            <a:ext cx="118140" cy="97292"/>
          </a:xfrm>
          <a:prstGeom prst="line">
            <a:avLst/>
          </a:prstGeom>
          <a:ln w="31750">
            <a:solidFill>
              <a:srgbClr val="F5A49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2" name="Connector 51">
            <a:extLst>
              <a:ext uri="{FF2B5EF4-FFF2-40B4-BE49-F238E27FC236}">
                <a16:creationId xmlns:a16="http://schemas.microsoft.com/office/drawing/2014/main" id="{A76F77D2-529E-42A8-A6E6-FFA5554898DA}"/>
              </a:ext>
            </a:extLst>
          </p:cNvPr>
          <p:cNvSpPr>
            <a:spLocks noGrp="1"/>
          </p:cNvSpPr>
          <p:nvPr/>
        </p:nvSpPr>
        <p:spPr>
          <a:xfrm>
            <a:off x="9368942" y="2121773"/>
            <a:ext cx="118140" cy="97292"/>
          </a:xfrm>
          <a:prstGeom prst="line">
            <a:avLst/>
          </a:prstGeom>
          <a:ln w="31750">
            <a:solidFill>
              <a:srgbClr val="F5A49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3" name="Oval 52">
            <a:extLst>
              <a:ext uri="{FF2B5EF4-FFF2-40B4-BE49-F238E27FC236}">
                <a16:creationId xmlns:a16="http://schemas.microsoft.com/office/drawing/2014/main" id="{7B551598-BC46-48D0-BE4B-A9B27C838AE2}"/>
              </a:ext>
            </a:extLst>
          </p:cNvPr>
          <p:cNvSpPr>
            <a:spLocks noGrp="1"/>
          </p:cNvSpPr>
          <p:nvPr/>
        </p:nvSpPr>
        <p:spPr>
          <a:xfrm>
            <a:off x="9565629"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Rounded Rectangle 53">
            <a:extLst>
              <a:ext uri="{FF2B5EF4-FFF2-40B4-BE49-F238E27FC236}">
                <a16:creationId xmlns:a16="http://schemas.microsoft.com/office/drawing/2014/main" id="{D2B8DCC2-D819-4984-BDFA-3902E87A6CE8}"/>
              </a:ext>
            </a:extLst>
          </p:cNvPr>
          <p:cNvSpPr>
            <a:spLocks noGrp="1"/>
          </p:cNvSpPr>
          <p:nvPr/>
        </p:nvSpPr>
        <p:spPr>
          <a:xfrm>
            <a:off x="9545787"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Connector 54">
            <a:extLst>
              <a:ext uri="{FF2B5EF4-FFF2-40B4-BE49-F238E27FC236}">
                <a16:creationId xmlns:a16="http://schemas.microsoft.com/office/drawing/2014/main" id="{12A6FB19-80C7-4741-A1E6-B0662270375A}"/>
              </a:ext>
            </a:extLst>
          </p:cNvPr>
          <p:cNvSpPr>
            <a:spLocks noGrp="1"/>
          </p:cNvSpPr>
          <p:nvPr/>
        </p:nvSpPr>
        <p:spPr>
          <a:xfrm flipH="1">
            <a:off x="9528779"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6" name="Connector 55">
            <a:extLst>
              <a:ext uri="{FF2B5EF4-FFF2-40B4-BE49-F238E27FC236}">
                <a16:creationId xmlns:a16="http://schemas.microsoft.com/office/drawing/2014/main" id="{AE90D72C-EF75-4262-AFB0-B670728B9470}"/>
              </a:ext>
            </a:extLst>
          </p:cNvPr>
          <p:cNvSpPr>
            <a:spLocks noGrp="1"/>
          </p:cNvSpPr>
          <p:nvPr/>
        </p:nvSpPr>
        <p:spPr>
          <a:xfrm>
            <a:off x="9664842"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7" name="Connector 56">
            <a:extLst>
              <a:ext uri="{FF2B5EF4-FFF2-40B4-BE49-F238E27FC236}">
                <a16:creationId xmlns:a16="http://schemas.microsoft.com/office/drawing/2014/main" id="{9DFBFDF8-AECF-416D-BC54-4CE5E2FA039A}"/>
              </a:ext>
            </a:extLst>
          </p:cNvPr>
          <p:cNvSpPr>
            <a:spLocks noGrp="1"/>
          </p:cNvSpPr>
          <p:nvPr/>
        </p:nvSpPr>
        <p:spPr>
          <a:xfrm flipH="1">
            <a:off x="9466417"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8" name="Connector 57">
            <a:extLst>
              <a:ext uri="{FF2B5EF4-FFF2-40B4-BE49-F238E27FC236}">
                <a16:creationId xmlns:a16="http://schemas.microsoft.com/office/drawing/2014/main" id="{AC3D0EF6-BE67-4644-897F-7309F93A0A0F}"/>
              </a:ext>
            </a:extLst>
          </p:cNvPr>
          <p:cNvSpPr>
            <a:spLocks noGrp="1"/>
          </p:cNvSpPr>
          <p:nvPr/>
        </p:nvSpPr>
        <p:spPr>
          <a:xfrm>
            <a:off x="9676180"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9" name="TextBox 58">
            <a:extLst>
              <a:ext uri="{FF2B5EF4-FFF2-40B4-BE49-F238E27FC236}">
                <a16:creationId xmlns:a16="http://schemas.microsoft.com/office/drawing/2014/main" id="{0887FD7E-0DB1-46E2-8D6A-45394E160171}"/>
              </a:ext>
            </a:extLst>
          </p:cNvPr>
          <p:cNvSpPr>
            <a:spLocks noGrp="1"/>
          </p:cNvSpPr>
          <p:nvPr/>
        </p:nvSpPr>
        <p:spPr>
          <a:xfrm>
            <a:off x="8979408" y="3127248"/>
            <a:ext cx="841248" cy="164592"/>
          </a:xfrm>
          <a:prstGeom prst="rect">
            <a:avLst/>
          </a:prstGeom>
          <a:noFill/>
        </p:spPr>
        <p:txBody>
          <a:bodyPr wrap="square" lIns="0" tIns="0" rIns="0" bIns="0" anchor="t">
            <a:spAutoFit/>
          </a:bodyPr>
          <a:lstStyle/>
          <a:p>
            <a:pPr algn="ctr">
              <a:spcBef>
                <a:spcPts val="0"/>
              </a:spcBef>
              <a:spcAft>
                <a:spcPts val="0"/>
              </a:spcAft>
              <a:buNone/>
              <a:defRPr sz="700" b="1" i="0">
                <a:solidFill>
                  <a:srgbClr val="B8C9D6"/>
                </a:solidFill>
                <a:latin typeface="Aptos"/>
                <a:ea typeface="Aptos"/>
                <a:cs typeface="Aptos"/>
              </a:defRPr>
            </a:pPr>
            <a:r>
              <a:t>FRAME 03</a:t>
            </a:r>
          </a:p>
        </p:txBody>
      </p:sp>
      <p:sp>
        <p:nvSpPr>
          <p:cNvPr id="60" name="Right Arrow 59">
            <a:extLst>
              <a:ext uri="{FF2B5EF4-FFF2-40B4-BE49-F238E27FC236}">
                <a16:creationId xmlns:a16="http://schemas.microsoft.com/office/drawing/2014/main" id="{BE8DC303-9420-46C7-B4BF-541C54D2C850}"/>
              </a:ext>
            </a:extLst>
          </p:cNvPr>
          <p:cNvSpPr>
            <a:spLocks noGrp="1"/>
          </p:cNvSpPr>
          <p:nvPr/>
        </p:nvSpPr>
        <p:spPr>
          <a:xfrm>
            <a:off x="9912096" y="2130552"/>
            <a:ext cx="155448" cy="146304"/>
          </a:xfrm>
          <a:prstGeom prst="rightArrow">
            <a:avLst/>
          </a:prstGeom>
          <a:solidFill>
            <a:srgbClr val="65D5C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Rounded Rectangle 60">
            <a:extLst>
              <a:ext uri="{FF2B5EF4-FFF2-40B4-BE49-F238E27FC236}">
                <a16:creationId xmlns:a16="http://schemas.microsoft.com/office/drawing/2014/main" id="{01DDAC1A-11FA-4572-BF94-0DACF49A65BC}"/>
              </a:ext>
            </a:extLst>
          </p:cNvPr>
          <p:cNvSpPr>
            <a:spLocks noGrp="1"/>
          </p:cNvSpPr>
          <p:nvPr/>
        </p:nvSpPr>
        <p:spPr>
          <a:xfrm>
            <a:off x="10085832" y="1234440"/>
            <a:ext cx="987552" cy="2139696"/>
          </a:xfrm>
          <a:prstGeom prst="roundRect">
            <a:avLst>
              <a:gd name="adj" fmla="val 12000"/>
            </a:avLst>
          </a:prstGeom>
          <a:solidFill>
            <a:srgbClr val="1B3145"/>
          </a:solidFill>
          <a:ln w="12700">
            <a:solidFill>
              <a:srgbClr val="35506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2" name="Connector 61">
            <a:extLst>
              <a:ext uri="{FF2B5EF4-FFF2-40B4-BE49-F238E27FC236}">
                <a16:creationId xmlns:a16="http://schemas.microsoft.com/office/drawing/2014/main" id="{A18B9482-888D-4CA3-AC89-B3B26CE82861}"/>
              </a:ext>
            </a:extLst>
          </p:cNvPr>
          <p:cNvSpPr>
            <a:spLocks noGrp="1"/>
          </p:cNvSpPr>
          <p:nvPr/>
        </p:nvSpPr>
        <p:spPr>
          <a:xfrm>
            <a:off x="10177272" y="3008376"/>
            <a:ext cx="804672" cy="0"/>
          </a:xfrm>
          <a:prstGeom prst="line">
            <a:avLst/>
          </a:prstGeom>
          <a:ln w="12700">
            <a:solidFill>
              <a:srgbClr val="526A7F"/>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3" name="Oval 62">
            <a:extLst>
              <a:ext uri="{FF2B5EF4-FFF2-40B4-BE49-F238E27FC236}">
                <a16:creationId xmlns:a16="http://schemas.microsoft.com/office/drawing/2014/main" id="{3F029473-F204-4BAE-A28A-8D6D41134342}"/>
              </a:ext>
            </a:extLst>
          </p:cNvPr>
          <p:cNvSpPr>
            <a:spLocks noGrp="1"/>
          </p:cNvSpPr>
          <p:nvPr/>
        </p:nvSpPr>
        <p:spPr>
          <a:xfrm>
            <a:off x="10413004" y="1856231"/>
            <a:ext cx="132039" cy="132039"/>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Rounded Rectangle 63">
            <a:extLst>
              <a:ext uri="{FF2B5EF4-FFF2-40B4-BE49-F238E27FC236}">
                <a16:creationId xmlns:a16="http://schemas.microsoft.com/office/drawing/2014/main" id="{749D92EC-371D-41F6-B06C-C243AC91D45B}"/>
              </a:ext>
            </a:extLst>
          </p:cNvPr>
          <p:cNvSpPr>
            <a:spLocks noGrp="1"/>
          </p:cNvSpPr>
          <p:nvPr/>
        </p:nvSpPr>
        <p:spPr>
          <a:xfrm>
            <a:off x="10388681" y="1995220"/>
            <a:ext cx="180685" cy="257129"/>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Connector 64">
            <a:extLst>
              <a:ext uri="{FF2B5EF4-FFF2-40B4-BE49-F238E27FC236}">
                <a16:creationId xmlns:a16="http://schemas.microsoft.com/office/drawing/2014/main" id="{C215CDE7-4188-4122-9CCE-1239A9646EA1}"/>
              </a:ext>
            </a:extLst>
          </p:cNvPr>
          <p:cNvSpPr>
            <a:spLocks noGrp="1"/>
          </p:cNvSpPr>
          <p:nvPr/>
        </p:nvSpPr>
        <p:spPr>
          <a:xfrm flipH="1">
            <a:off x="10367832"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6" name="Connector 65">
            <a:extLst>
              <a:ext uri="{FF2B5EF4-FFF2-40B4-BE49-F238E27FC236}">
                <a16:creationId xmlns:a16="http://schemas.microsoft.com/office/drawing/2014/main" id="{8A7597B6-831B-463A-A760-8A3390F11712}"/>
              </a:ext>
            </a:extLst>
          </p:cNvPr>
          <p:cNvSpPr>
            <a:spLocks noGrp="1"/>
          </p:cNvSpPr>
          <p:nvPr/>
        </p:nvSpPr>
        <p:spPr>
          <a:xfrm>
            <a:off x="10534619" y="2217602"/>
            <a:ext cx="55596" cy="180686"/>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7" name="Connector 66">
            <a:extLst>
              <a:ext uri="{FF2B5EF4-FFF2-40B4-BE49-F238E27FC236}">
                <a16:creationId xmlns:a16="http://schemas.microsoft.com/office/drawing/2014/main" id="{C6381689-E052-4537-86F7-147F68901427}"/>
              </a:ext>
            </a:extLst>
          </p:cNvPr>
          <p:cNvSpPr>
            <a:spLocks noGrp="1"/>
          </p:cNvSpPr>
          <p:nvPr/>
        </p:nvSpPr>
        <p:spPr>
          <a:xfrm flipH="1">
            <a:off x="10291389"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8" name="Connector 67">
            <a:extLst>
              <a:ext uri="{FF2B5EF4-FFF2-40B4-BE49-F238E27FC236}">
                <a16:creationId xmlns:a16="http://schemas.microsoft.com/office/drawing/2014/main" id="{B298745F-7069-4ACE-A20E-FE7CF100F981}"/>
              </a:ext>
            </a:extLst>
          </p:cNvPr>
          <p:cNvSpPr>
            <a:spLocks noGrp="1"/>
          </p:cNvSpPr>
          <p:nvPr/>
        </p:nvSpPr>
        <p:spPr>
          <a:xfrm>
            <a:off x="10548518" y="2057765"/>
            <a:ext cx="118140" cy="97292"/>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9" name="Oval 68">
            <a:extLst>
              <a:ext uri="{FF2B5EF4-FFF2-40B4-BE49-F238E27FC236}">
                <a16:creationId xmlns:a16="http://schemas.microsoft.com/office/drawing/2014/main" id="{212E6487-C9F8-478C-9466-7D5EA6A2A81E}"/>
              </a:ext>
            </a:extLst>
          </p:cNvPr>
          <p:cNvSpPr>
            <a:spLocks noGrp="1"/>
          </p:cNvSpPr>
          <p:nvPr/>
        </p:nvSpPr>
        <p:spPr>
          <a:xfrm>
            <a:off x="10319186" y="1807585"/>
            <a:ext cx="319674" cy="319674"/>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0" name="Oval 69">
            <a:extLst>
              <a:ext uri="{FF2B5EF4-FFF2-40B4-BE49-F238E27FC236}">
                <a16:creationId xmlns:a16="http://schemas.microsoft.com/office/drawing/2014/main" id="{34249806-9593-48CA-A717-74B57576551D}"/>
              </a:ext>
            </a:extLst>
          </p:cNvPr>
          <p:cNvSpPr>
            <a:spLocks noGrp="1"/>
          </p:cNvSpPr>
          <p:nvPr/>
        </p:nvSpPr>
        <p:spPr>
          <a:xfrm>
            <a:off x="10745205" y="2057400"/>
            <a:ext cx="107716" cy="107716"/>
          </a:xfrm>
          <a:prstGeom prst="ellipse">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1" name="Rounded Rectangle 70">
            <a:extLst>
              <a:ext uri="{FF2B5EF4-FFF2-40B4-BE49-F238E27FC236}">
                <a16:creationId xmlns:a16="http://schemas.microsoft.com/office/drawing/2014/main" id="{65B8913E-543B-4773-84B4-99ED3A381BD5}"/>
              </a:ext>
            </a:extLst>
          </p:cNvPr>
          <p:cNvSpPr>
            <a:spLocks noGrp="1"/>
          </p:cNvSpPr>
          <p:nvPr/>
        </p:nvSpPr>
        <p:spPr>
          <a:xfrm>
            <a:off x="10725363" y="2170785"/>
            <a:ext cx="147401" cy="209763"/>
          </a:xfrm>
          <a:prstGeom prst="roundRect">
            <a:avLst>
              <a:gd name="adj" fmla="val 12000"/>
            </a:avLst>
          </a:prstGeom>
          <a:solidFill>
            <a:srgbClr val="7090A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2" name="Connector 71">
            <a:extLst>
              <a:ext uri="{FF2B5EF4-FFF2-40B4-BE49-F238E27FC236}">
                <a16:creationId xmlns:a16="http://schemas.microsoft.com/office/drawing/2014/main" id="{C25B23E7-4700-4B5C-B3B2-B2C680B9ED4B}"/>
              </a:ext>
            </a:extLst>
          </p:cNvPr>
          <p:cNvSpPr>
            <a:spLocks noGrp="1"/>
          </p:cNvSpPr>
          <p:nvPr/>
        </p:nvSpPr>
        <p:spPr>
          <a:xfrm flipH="1">
            <a:off x="10708355"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3" name="Connector 72">
            <a:extLst>
              <a:ext uri="{FF2B5EF4-FFF2-40B4-BE49-F238E27FC236}">
                <a16:creationId xmlns:a16="http://schemas.microsoft.com/office/drawing/2014/main" id="{D6BE4271-DB8B-44C5-B806-308D2234D5C6}"/>
              </a:ext>
            </a:extLst>
          </p:cNvPr>
          <p:cNvSpPr>
            <a:spLocks noGrp="1"/>
          </p:cNvSpPr>
          <p:nvPr/>
        </p:nvSpPr>
        <p:spPr>
          <a:xfrm>
            <a:off x="10844418" y="2352202"/>
            <a:ext cx="45354" cy="147401"/>
          </a:xfrm>
          <a:prstGeom prst="line">
            <a:avLst/>
          </a:prstGeom>
          <a:ln w="3810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4" name="Connector 73">
            <a:extLst>
              <a:ext uri="{FF2B5EF4-FFF2-40B4-BE49-F238E27FC236}">
                <a16:creationId xmlns:a16="http://schemas.microsoft.com/office/drawing/2014/main" id="{C1E2E42F-AAB6-4125-AEC2-6319602AAFBD}"/>
              </a:ext>
            </a:extLst>
          </p:cNvPr>
          <p:cNvSpPr>
            <a:spLocks noGrp="1"/>
          </p:cNvSpPr>
          <p:nvPr/>
        </p:nvSpPr>
        <p:spPr>
          <a:xfrm flipH="1">
            <a:off x="10645993"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5" name="Connector 74">
            <a:extLst>
              <a:ext uri="{FF2B5EF4-FFF2-40B4-BE49-F238E27FC236}">
                <a16:creationId xmlns:a16="http://schemas.microsoft.com/office/drawing/2014/main" id="{37A08BF7-C87A-497E-9958-95F2EAD914F7}"/>
              </a:ext>
            </a:extLst>
          </p:cNvPr>
          <p:cNvSpPr>
            <a:spLocks noGrp="1"/>
          </p:cNvSpPr>
          <p:nvPr/>
        </p:nvSpPr>
        <p:spPr>
          <a:xfrm>
            <a:off x="10855756" y="2221809"/>
            <a:ext cx="96378" cy="79370"/>
          </a:xfrm>
          <a:prstGeom prst="line">
            <a:avLst/>
          </a:prstGeom>
          <a:ln w="31750">
            <a:solidFill>
              <a:srgbClr val="7090A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6" name="TextBox 75">
            <a:extLst>
              <a:ext uri="{FF2B5EF4-FFF2-40B4-BE49-F238E27FC236}">
                <a16:creationId xmlns:a16="http://schemas.microsoft.com/office/drawing/2014/main" id="{875F272B-0738-47AD-9ECF-FB6E511206B1}"/>
              </a:ext>
            </a:extLst>
          </p:cNvPr>
          <p:cNvSpPr>
            <a:spLocks noGrp="1"/>
          </p:cNvSpPr>
          <p:nvPr/>
        </p:nvSpPr>
        <p:spPr>
          <a:xfrm>
            <a:off x="10158984" y="3127248"/>
            <a:ext cx="841248" cy="164592"/>
          </a:xfrm>
          <a:prstGeom prst="rect">
            <a:avLst/>
          </a:prstGeom>
          <a:noFill/>
        </p:spPr>
        <p:txBody>
          <a:bodyPr wrap="square" lIns="0" tIns="0" rIns="0" bIns="0" anchor="t">
            <a:spAutoFit/>
          </a:bodyPr>
          <a:lstStyle/>
          <a:p>
            <a:pPr algn="ctr">
              <a:spcBef>
                <a:spcPts val="0"/>
              </a:spcBef>
              <a:spcAft>
                <a:spcPts val="0"/>
              </a:spcAft>
              <a:buNone/>
              <a:defRPr sz="700" b="1" i="0">
                <a:solidFill>
                  <a:srgbClr val="B8C9D6"/>
                </a:solidFill>
                <a:latin typeface="Aptos"/>
                <a:ea typeface="Aptos"/>
                <a:cs typeface="Aptos"/>
              </a:defRPr>
            </a:pPr>
            <a:r>
              <a:t>FRAME 04</a:t>
            </a:r>
          </a:p>
        </p:txBody>
      </p:sp>
      <p:sp>
        <p:nvSpPr>
          <p:cNvPr id="77" name="Rounded Rectangle 76">
            <a:extLst>
              <a:ext uri="{FF2B5EF4-FFF2-40B4-BE49-F238E27FC236}">
                <a16:creationId xmlns:a16="http://schemas.microsoft.com/office/drawing/2014/main" id="{40A68F77-0EFB-4ABD-9D71-0274417707E9}"/>
              </a:ext>
            </a:extLst>
          </p:cNvPr>
          <p:cNvSpPr>
            <a:spLocks noGrp="1"/>
          </p:cNvSpPr>
          <p:nvPr/>
        </p:nvSpPr>
        <p:spPr>
          <a:xfrm>
            <a:off x="6537960" y="3822191"/>
            <a:ext cx="4535424" cy="749808"/>
          </a:xfrm>
          <a:prstGeom prst="roundRect">
            <a:avLst>
              <a:gd name="adj" fmla="val 12000"/>
            </a:avLst>
          </a:prstGeom>
          <a:solidFill>
            <a:srgbClr val="1739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 name="TextBox 77">
            <a:extLst>
              <a:ext uri="{FF2B5EF4-FFF2-40B4-BE49-F238E27FC236}">
                <a16:creationId xmlns:a16="http://schemas.microsoft.com/office/drawing/2014/main" id="{16451C54-B165-4D49-8BB9-6EC51BC97D0B}"/>
              </a:ext>
            </a:extLst>
          </p:cNvPr>
          <p:cNvSpPr>
            <a:spLocks noGrp="1"/>
          </p:cNvSpPr>
          <p:nvPr/>
        </p:nvSpPr>
        <p:spPr>
          <a:xfrm>
            <a:off x="6748272" y="3977639"/>
            <a:ext cx="4142232" cy="438912"/>
          </a:xfrm>
          <a:prstGeom prst="rect">
            <a:avLst/>
          </a:prstGeom>
          <a:noFill/>
        </p:spPr>
        <p:txBody>
          <a:bodyPr wrap="square" lIns="0" tIns="0" rIns="0" bIns="0" anchor="ctr">
            <a:spAutoFit/>
          </a:bodyPr>
          <a:lstStyle/>
          <a:p>
            <a:pPr algn="ctr">
              <a:spcBef>
                <a:spcPts val="0"/>
              </a:spcBef>
              <a:spcAft>
                <a:spcPts val="0"/>
              </a:spcAft>
              <a:buNone/>
              <a:defRPr sz="1400" b="0" i="0">
                <a:solidFill>
                  <a:srgbClr val="FFFFFF"/>
                </a:solidFill>
                <a:latin typeface="Aptos"/>
                <a:ea typeface="Aptos"/>
                <a:cs typeface="Aptos"/>
              </a:defRPr>
            </a:pPr>
            <a:r>
              <a:t>“the person who turns around and walks away”</a:t>
            </a:r>
          </a:p>
        </p:txBody>
      </p:sp>
      <p:sp>
        <p:nvSpPr>
          <p:cNvPr id="79" name="TextBox 78">
            <a:extLst>
              <a:ext uri="{FF2B5EF4-FFF2-40B4-BE49-F238E27FC236}">
                <a16:creationId xmlns:a16="http://schemas.microsoft.com/office/drawing/2014/main" id="{2FEB4917-C288-4AFF-9A3A-B3FE0AEE85DB}"/>
              </a:ext>
            </a:extLst>
          </p:cNvPr>
          <p:cNvSpPr>
            <a:spLocks noGrp="1"/>
          </p:cNvSpPr>
          <p:nvPr/>
        </p:nvSpPr>
        <p:spPr>
          <a:xfrm>
            <a:off x="6565392" y="5074920"/>
            <a:ext cx="4498848" cy="530352"/>
          </a:xfrm>
          <a:prstGeom prst="rect">
            <a:avLst/>
          </a:prstGeom>
          <a:noFill/>
        </p:spPr>
        <p:txBody>
          <a:bodyPr wrap="square" lIns="0" tIns="0" rIns="0" bIns="0" anchor="t">
            <a:spAutoFit/>
          </a:bodyPr>
          <a:lstStyle/>
          <a:p>
            <a:pPr algn="l">
              <a:spcBef>
                <a:spcPts val="0"/>
              </a:spcBef>
              <a:spcAft>
                <a:spcPts val="0"/>
              </a:spcAft>
              <a:buNone/>
              <a:defRPr sz="1200" b="0" i="0">
                <a:solidFill>
                  <a:srgbClr val="B9C9D6"/>
                </a:solidFill>
                <a:latin typeface="Aptos"/>
                <a:ea typeface="Aptos"/>
                <a:cs typeface="Aptos"/>
              </a:defRPr>
            </a:pPr>
            <a:r>
              <a:t>The central challenge: understand the words,</a:t>
            </a:r>
            <a:br/>
            <a:r>
              <a:t>then keep the right identity across frames.</a:t>
            </a:r>
          </a:p>
        </p:txBody>
      </p:sp>
      <p:sp>
        <p:nvSpPr>
          <p:cNvPr id="80" name="TextBox 79">
            <a:extLst>
              <a:ext uri="{FF2B5EF4-FFF2-40B4-BE49-F238E27FC236}">
                <a16:creationId xmlns:a16="http://schemas.microsoft.com/office/drawing/2014/main" id="{E25B3C16-96E7-4022-B627-EC2C061C5D50}"/>
              </a:ext>
            </a:extLst>
          </p:cNvPr>
          <p:cNvSpPr>
            <a:spLocks noGrp="1"/>
          </p:cNvSpPr>
          <p:nvPr/>
        </p:nvSpPr>
        <p:spPr>
          <a:xfrm>
            <a:off x="822960" y="6510528"/>
            <a:ext cx="4572000" cy="164592"/>
          </a:xfrm>
          <a:prstGeom prst="rect">
            <a:avLst/>
          </a:prstGeom>
          <a:noFill/>
        </p:spPr>
        <p:txBody>
          <a:bodyPr wrap="square" lIns="0" tIns="0" rIns="0" bIns="0" anchor="t">
            <a:spAutoFit/>
          </a:bodyPr>
          <a:lstStyle/>
          <a:p>
            <a:pPr algn="l">
              <a:spcBef>
                <a:spcPts val="0"/>
              </a:spcBef>
              <a:spcAft>
                <a:spcPts val="0"/>
              </a:spcAft>
              <a:buNone/>
              <a:defRPr sz="800" b="0" i="0">
                <a:solidFill>
                  <a:srgbClr val="9BB0C0"/>
                </a:solidFill>
                <a:latin typeface="Aptos"/>
                <a:ea typeface="Aptos"/>
                <a:cs typeface="Aptos"/>
              </a:defRPr>
            </a:pPr>
            <a:r>
              <a:t>Source: uploaded survey paper</a:t>
            </a:r>
          </a:p>
        </p:txBody>
      </p:sp>
    </p:spTree>
    <p:extLst>
      <p:ext uri="{BB962C8B-B14F-4D97-AF65-F5344CB8AC3E}">
        <p14:creationId xmlns:p14="http://schemas.microsoft.com/office/powerpoint/2010/main" val="2110532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1E355-B0B2-489C-82B3-701AA59B2C49}"/>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MOTIVATION</a:t>
            </a:r>
          </a:p>
        </p:txBody>
      </p:sp>
      <p:sp>
        <p:nvSpPr>
          <p:cNvPr id="3" name="TextBox 2">
            <a:extLst>
              <a:ext uri="{FF2B5EF4-FFF2-40B4-BE49-F238E27FC236}">
                <a16:creationId xmlns:a16="http://schemas.microsoft.com/office/drawing/2014/main" id="{57FF8BA6-D822-44F0-85BE-793C8570405D}"/>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What is RVOS?</a:t>
            </a:r>
          </a:p>
        </p:txBody>
      </p:sp>
      <p:sp>
        <p:nvSpPr>
          <p:cNvPr id="4" name="Connector 3">
            <a:extLst>
              <a:ext uri="{FF2B5EF4-FFF2-40B4-BE49-F238E27FC236}">
                <a16:creationId xmlns:a16="http://schemas.microsoft.com/office/drawing/2014/main" id="{261E5475-818A-4CA5-AC6E-12C27D1CF7C0}"/>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1AC45E74-44A7-4E5F-B4F8-71422B308675}"/>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BC5C1A29-2544-427B-BA1A-F8D1E47A88FB}"/>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Sections I–III.</a:t>
            </a:r>
          </a:p>
        </p:txBody>
      </p:sp>
      <p:sp>
        <p:nvSpPr>
          <p:cNvPr id="8" name="Rounded Rectangle 7">
            <a:extLst>
              <a:ext uri="{FF2B5EF4-FFF2-40B4-BE49-F238E27FC236}">
                <a16:creationId xmlns:a16="http://schemas.microsoft.com/office/drawing/2014/main" id="{F47A8822-2382-4CBE-B4DE-B7B75C44F7C9}"/>
              </a:ext>
            </a:extLst>
          </p:cNvPr>
          <p:cNvSpPr>
            <a:spLocks noGrp="1"/>
          </p:cNvSpPr>
          <p:nvPr/>
        </p:nvSpPr>
        <p:spPr>
          <a:xfrm>
            <a:off x="749808" y="1591056"/>
            <a:ext cx="10049256" cy="786384"/>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F24380B-CB1C-41E3-BD5D-20862A1A85DB}"/>
              </a:ext>
            </a:extLst>
          </p:cNvPr>
          <p:cNvSpPr>
            <a:spLocks noGrp="1"/>
          </p:cNvSpPr>
          <p:nvPr/>
        </p:nvSpPr>
        <p:spPr>
          <a:xfrm>
            <a:off x="960120" y="1709928"/>
            <a:ext cx="9628632" cy="219456"/>
          </a:xfrm>
          <a:prstGeom prst="rect">
            <a:avLst/>
          </a:prstGeom>
          <a:noFill/>
        </p:spPr>
        <p:txBody>
          <a:bodyPr wrap="square" lIns="0" tIns="0" rIns="0" bIns="0" anchor="t">
            <a:spAutoFit/>
          </a:bodyPr>
          <a:lstStyle/>
          <a:p>
            <a:pPr algn="ctr">
              <a:spcBef>
                <a:spcPts val="0"/>
              </a:spcBef>
              <a:spcAft>
                <a:spcPts val="0"/>
              </a:spcAft>
              <a:buNone/>
              <a:defRPr sz="1400" b="1" i="0">
                <a:solidFill>
                  <a:srgbClr val="087E78"/>
                </a:solidFill>
                <a:latin typeface="Aptos"/>
                <a:ea typeface="Aptos"/>
                <a:cs typeface="Aptos"/>
              </a:defRPr>
            </a:pPr>
            <a:r>
              <a:t>Referring Video Object Segmentation (RVOS)</a:t>
            </a:r>
          </a:p>
        </p:txBody>
      </p:sp>
      <p:sp>
        <p:nvSpPr>
          <p:cNvPr id="10" name="TextBox 9">
            <a:extLst>
              <a:ext uri="{FF2B5EF4-FFF2-40B4-BE49-F238E27FC236}">
                <a16:creationId xmlns:a16="http://schemas.microsoft.com/office/drawing/2014/main" id="{924BF64F-CA3C-4FD8-8D83-12655BE91ABB}"/>
              </a:ext>
            </a:extLst>
          </p:cNvPr>
          <p:cNvSpPr>
            <a:spLocks noGrp="1"/>
          </p:cNvSpPr>
          <p:nvPr/>
        </p:nvSpPr>
        <p:spPr>
          <a:xfrm>
            <a:off x="960120" y="1984248"/>
            <a:ext cx="9628632" cy="310896"/>
          </a:xfrm>
          <a:prstGeom prst="rect">
            <a:avLst/>
          </a:prstGeom>
          <a:noFill/>
        </p:spPr>
        <p:txBody>
          <a:bodyPr wrap="square" lIns="0" tIns="0" rIns="0" bIns="0" anchor="ctr">
            <a:spAutoFit/>
          </a:bodyPr>
          <a:lstStyle/>
          <a:p>
            <a:pPr algn="ctr">
              <a:spcBef>
                <a:spcPts val="0"/>
              </a:spcBef>
              <a:spcAft>
                <a:spcPts val="0"/>
              </a:spcAft>
              <a:buNone/>
              <a:defRPr sz="1250" b="0" i="0">
                <a:solidFill>
                  <a:srgbClr val="122438"/>
                </a:solidFill>
                <a:latin typeface="Aptos"/>
                <a:ea typeface="Aptos"/>
                <a:cs typeface="Aptos"/>
              </a:defRPr>
            </a:pPr>
            <a:r>
              <a:t>Given a video and a natural-language description, identify the referred object and predict its pixel mask across frames.</a:t>
            </a:r>
          </a:p>
        </p:txBody>
      </p:sp>
      <p:sp>
        <p:nvSpPr>
          <p:cNvPr id="11" name="Rounded Rectangle 10">
            <a:extLst>
              <a:ext uri="{FF2B5EF4-FFF2-40B4-BE49-F238E27FC236}">
                <a16:creationId xmlns:a16="http://schemas.microsoft.com/office/drawing/2014/main" id="{823B54C4-C496-4AE3-A3AC-15EDFC1CE7B8}"/>
              </a:ext>
            </a:extLst>
          </p:cNvPr>
          <p:cNvSpPr>
            <a:spLocks noGrp="1"/>
          </p:cNvSpPr>
          <p:nvPr/>
        </p:nvSpPr>
        <p:spPr>
          <a:xfrm>
            <a:off x="749808" y="2542032"/>
            <a:ext cx="10049256" cy="457200"/>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FD8CF550-6BF3-43F3-BF46-B9E9BF65AABA}"/>
              </a:ext>
            </a:extLst>
          </p:cNvPr>
          <p:cNvSpPr>
            <a:spLocks noGrp="1"/>
          </p:cNvSpPr>
          <p:nvPr/>
        </p:nvSpPr>
        <p:spPr>
          <a:xfrm>
            <a:off x="950976" y="2624328"/>
            <a:ext cx="9646920" cy="283464"/>
          </a:xfrm>
          <a:prstGeom prst="rect">
            <a:avLst/>
          </a:prstGeom>
          <a:noFill/>
        </p:spPr>
        <p:txBody>
          <a:bodyPr wrap="square" lIns="0" tIns="0" rIns="0" bIns="0" anchor="ctr">
            <a:spAutoFit/>
          </a:bodyPr>
          <a:lstStyle/>
          <a:p>
            <a:pPr algn="ctr">
              <a:spcBef>
                <a:spcPts val="0"/>
              </a:spcBef>
              <a:spcAft>
                <a:spcPts val="0"/>
              </a:spcAft>
              <a:buNone/>
              <a:defRPr sz="1400" b="1" i="0">
                <a:solidFill>
                  <a:srgbClr val="FFFFFF"/>
                </a:solidFill>
                <a:latin typeface="Aptos"/>
                <a:ea typeface="Aptos"/>
                <a:cs typeface="Aptos"/>
              </a:defRPr>
            </a:pPr>
            <a:r>
              <a:t>Example query: “the person who turns around and walks away”</a:t>
            </a:r>
          </a:p>
        </p:txBody>
      </p:sp>
      <p:sp>
        <p:nvSpPr>
          <p:cNvPr id="13" name="TextBox 12">
            <a:extLst>
              <a:ext uri="{FF2B5EF4-FFF2-40B4-BE49-F238E27FC236}">
                <a16:creationId xmlns:a16="http://schemas.microsoft.com/office/drawing/2014/main" id="{D13C773D-F0B4-4F50-BA88-46427BC30912}"/>
              </a:ext>
            </a:extLst>
          </p:cNvPr>
          <p:cNvSpPr>
            <a:spLocks noGrp="1"/>
          </p:cNvSpPr>
          <p:nvPr/>
        </p:nvSpPr>
        <p:spPr>
          <a:xfrm>
            <a:off x="777240" y="3127248"/>
            <a:ext cx="3017520" cy="219456"/>
          </a:xfrm>
          <a:prstGeom prst="rect">
            <a:avLst/>
          </a:prstGeom>
          <a:noFill/>
        </p:spPr>
        <p:txBody>
          <a:bodyPr wrap="square" lIns="0" tIns="0" rIns="0" bIns="0" anchor="t">
            <a:spAutoFit/>
          </a:bodyPr>
          <a:lstStyle/>
          <a:p>
            <a:pPr algn="l">
              <a:spcBef>
                <a:spcPts val="0"/>
              </a:spcBef>
              <a:spcAft>
                <a:spcPts val="0"/>
              </a:spcAft>
              <a:buNone/>
              <a:defRPr sz="900" b="1" i="0">
                <a:solidFill>
                  <a:srgbClr val="5E6D7B"/>
                </a:solidFill>
                <a:latin typeface="Aptos"/>
                <a:ea typeface="Aptos"/>
                <a:cs typeface="Aptos"/>
              </a:defRPr>
            </a:pPr>
            <a:r>
              <a:t>VIDEO FRAMES</a:t>
            </a:r>
          </a:p>
        </p:txBody>
      </p:sp>
      <p:sp>
        <p:nvSpPr>
          <p:cNvPr id="14" name="Rounded Rectangle 13">
            <a:extLst>
              <a:ext uri="{FF2B5EF4-FFF2-40B4-BE49-F238E27FC236}">
                <a16:creationId xmlns:a16="http://schemas.microsoft.com/office/drawing/2014/main" id="{1F17B1BA-9B1D-456F-A864-8BFB9CBE3543}"/>
              </a:ext>
            </a:extLst>
          </p:cNvPr>
          <p:cNvSpPr>
            <a:spLocks noGrp="1"/>
          </p:cNvSpPr>
          <p:nvPr/>
        </p:nvSpPr>
        <p:spPr>
          <a:xfrm>
            <a:off x="749808"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ounded Rectangle 14">
            <a:extLst>
              <a:ext uri="{FF2B5EF4-FFF2-40B4-BE49-F238E27FC236}">
                <a16:creationId xmlns:a16="http://schemas.microsoft.com/office/drawing/2014/main" id="{C045D688-947E-4B3D-B379-7189289D5A2D}"/>
              </a:ext>
            </a:extLst>
          </p:cNvPr>
          <p:cNvSpPr>
            <a:spLocks noGrp="1"/>
          </p:cNvSpPr>
          <p:nvPr/>
        </p:nvSpPr>
        <p:spPr>
          <a:xfrm>
            <a:off x="841247"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99971CC2-9C79-4F35-9EF7-DB78EE075576}"/>
              </a:ext>
            </a:extLst>
          </p:cNvPr>
          <p:cNvSpPr>
            <a:spLocks noGrp="1"/>
          </p:cNvSpPr>
          <p:nvPr/>
        </p:nvSpPr>
        <p:spPr>
          <a:xfrm>
            <a:off x="129030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ounded Rectangle 16">
            <a:extLst>
              <a:ext uri="{FF2B5EF4-FFF2-40B4-BE49-F238E27FC236}">
                <a16:creationId xmlns:a16="http://schemas.microsoft.com/office/drawing/2014/main" id="{700B6986-200D-456A-B2B2-F23943389028}"/>
              </a:ext>
            </a:extLst>
          </p:cNvPr>
          <p:cNvSpPr>
            <a:spLocks noGrp="1"/>
          </p:cNvSpPr>
          <p:nvPr/>
        </p:nvSpPr>
        <p:spPr>
          <a:xfrm>
            <a:off x="127046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Connector 17">
            <a:extLst>
              <a:ext uri="{FF2B5EF4-FFF2-40B4-BE49-F238E27FC236}">
                <a16:creationId xmlns:a16="http://schemas.microsoft.com/office/drawing/2014/main" id="{CFCEF059-BFCC-487A-AB90-0E670ADE2CA2}"/>
              </a:ext>
            </a:extLst>
          </p:cNvPr>
          <p:cNvSpPr>
            <a:spLocks noGrp="1"/>
          </p:cNvSpPr>
          <p:nvPr/>
        </p:nvSpPr>
        <p:spPr>
          <a:xfrm flipH="1">
            <a:off x="125345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9" name="Connector 18">
            <a:extLst>
              <a:ext uri="{FF2B5EF4-FFF2-40B4-BE49-F238E27FC236}">
                <a16:creationId xmlns:a16="http://schemas.microsoft.com/office/drawing/2014/main" id="{BA29E755-CF19-4DD0-B5DF-76187330B8C9}"/>
              </a:ext>
            </a:extLst>
          </p:cNvPr>
          <p:cNvSpPr>
            <a:spLocks noGrp="1"/>
          </p:cNvSpPr>
          <p:nvPr/>
        </p:nvSpPr>
        <p:spPr>
          <a:xfrm>
            <a:off x="138952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0" name="Connector 19">
            <a:extLst>
              <a:ext uri="{FF2B5EF4-FFF2-40B4-BE49-F238E27FC236}">
                <a16:creationId xmlns:a16="http://schemas.microsoft.com/office/drawing/2014/main" id="{B6419651-E2BE-41CA-BD15-9D510CB9F4BD}"/>
              </a:ext>
            </a:extLst>
          </p:cNvPr>
          <p:cNvSpPr>
            <a:spLocks noGrp="1"/>
          </p:cNvSpPr>
          <p:nvPr/>
        </p:nvSpPr>
        <p:spPr>
          <a:xfrm flipH="1">
            <a:off x="119109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1" name="Connector 20">
            <a:extLst>
              <a:ext uri="{FF2B5EF4-FFF2-40B4-BE49-F238E27FC236}">
                <a16:creationId xmlns:a16="http://schemas.microsoft.com/office/drawing/2014/main" id="{FAA4C0AE-ACB4-4ED7-8A61-13DC513005B5}"/>
              </a:ext>
            </a:extLst>
          </p:cNvPr>
          <p:cNvSpPr>
            <a:spLocks noGrp="1"/>
          </p:cNvSpPr>
          <p:nvPr/>
        </p:nvSpPr>
        <p:spPr>
          <a:xfrm>
            <a:off x="140086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2" name="Oval 21">
            <a:extLst>
              <a:ext uri="{FF2B5EF4-FFF2-40B4-BE49-F238E27FC236}">
                <a16:creationId xmlns:a16="http://schemas.microsoft.com/office/drawing/2014/main" id="{959A8141-D280-4743-94DB-909C012D02BD}"/>
              </a:ext>
            </a:extLst>
          </p:cNvPr>
          <p:cNvSpPr>
            <a:spLocks noGrp="1"/>
          </p:cNvSpPr>
          <p:nvPr/>
        </p:nvSpPr>
        <p:spPr>
          <a:xfrm>
            <a:off x="121377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Oval 22">
            <a:extLst>
              <a:ext uri="{FF2B5EF4-FFF2-40B4-BE49-F238E27FC236}">
                <a16:creationId xmlns:a16="http://schemas.microsoft.com/office/drawing/2014/main" id="{0B3CB136-C158-461C-A77C-9A662625F17A}"/>
              </a:ext>
            </a:extLst>
          </p:cNvPr>
          <p:cNvSpPr>
            <a:spLocks noGrp="1"/>
          </p:cNvSpPr>
          <p:nvPr/>
        </p:nvSpPr>
        <p:spPr>
          <a:xfrm>
            <a:off x="2004822"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ounded Rectangle 23">
            <a:extLst>
              <a:ext uri="{FF2B5EF4-FFF2-40B4-BE49-F238E27FC236}">
                <a16:creationId xmlns:a16="http://schemas.microsoft.com/office/drawing/2014/main" id="{EE97E876-1539-46FB-8C2E-70B1F34C1914}"/>
              </a:ext>
            </a:extLst>
          </p:cNvPr>
          <p:cNvSpPr>
            <a:spLocks noGrp="1"/>
          </p:cNvSpPr>
          <p:nvPr/>
        </p:nvSpPr>
        <p:spPr>
          <a:xfrm>
            <a:off x="1988819"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Connector 24">
            <a:extLst>
              <a:ext uri="{FF2B5EF4-FFF2-40B4-BE49-F238E27FC236}">
                <a16:creationId xmlns:a16="http://schemas.microsoft.com/office/drawing/2014/main" id="{6FA8907B-2CD6-4A55-9DF8-EB1C4A5157C7}"/>
              </a:ext>
            </a:extLst>
          </p:cNvPr>
          <p:cNvSpPr>
            <a:spLocks noGrp="1"/>
          </p:cNvSpPr>
          <p:nvPr/>
        </p:nvSpPr>
        <p:spPr>
          <a:xfrm flipH="1">
            <a:off x="1975103"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6" name="Connector 25">
            <a:extLst>
              <a:ext uri="{FF2B5EF4-FFF2-40B4-BE49-F238E27FC236}">
                <a16:creationId xmlns:a16="http://schemas.microsoft.com/office/drawing/2014/main" id="{D4DD2C58-2CD8-4EC7-8122-5CE5C52EAA5E}"/>
              </a:ext>
            </a:extLst>
          </p:cNvPr>
          <p:cNvSpPr>
            <a:spLocks noGrp="1"/>
          </p:cNvSpPr>
          <p:nvPr/>
        </p:nvSpPr>
        <p:spPr>
          <a:xfrm>
            <a:off x="2084831"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7" name="Connector 26">
            <a:extLst>
              <a:ext uri="{FF2B5EF4-FFF2-40B4-BE49-F238E27FC236}">
                <a16:creationId xmlns:a16="http://schemas.microsoft.com/office/drawing/2014/main" id="{07567ECD-9403-4458-BC36-C716427149CB}"/>
              </a:ext>
            </a:extLst>
          </p:cNvPr>
          <p:cNvSpPr>
            <a:spLocks noGrp="1"/>
          </p:cNvSpPr>
          <p:nvPr/>
        </p:nvSpPr>
        <p:spPr>
          <a:xfrm flipH="1">
            <a:off x="1924811" y="3982211"/>
            <a:ext cx="77725"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8" name="Connector 27">
            <a:extLst>
              <a:ext uri="{FF2B5EF4-FFF2-40B4-BE49-F238E27FC236}">
                <a16:creationId xmlns:a16="http://schemas.microsoft.com/office/drawing/2014/main" id="{1E322260-7A6A-464A-BB3C-44D3514A23EF}"/>
              </a:ext>
            </a:extLst>
          </p:cNvPr>
          <p:cNvSpPr>
            <a:spLocks noGrp="1"/>
          </p:cNvSpPr>
          <p:nvPr/>
        </p:nvSpPr>
        <p:spPr>
          <a:xfrm>
            <a:off x="2093975" y="3982211"/>
            <a:ext cx="77725"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9" name="TextBox 28">
            <a:extLst>
              <a:ext uri="{FF2B5EF4-FFF2-40B4-BE49-F238E27FC236}">
                <a16:creationId xmlns:a16="http://schemas.microsoft.com/office/drawing/2014/main" id="{3AFD05A0-821F-4B15-B792-3A024BA2C628}"/>
              </a:ext>
            </a:extLst>
          </p:cNvPr>
          <p:cNvSpPr>
            <a:spLocks noGrp="1"/>
          </p:cNvSpPr>
          <p:nvPr/>
        </p:nvSpPr>
        <p:spPr>
          <a:xfrm>
            <a:off x="841247" y="5001768"/>
            <a:ext cx="1554480" cy="164592"/>
          </a:xfrm>
          <a:prstGeom prst="rect">
            <a:avLst/>
          </a:prstGeom>
          <a:noFill/>
        </p:spPr>
        <p:txBody>
          <a:bodyPr wrap="square" lIns="0" tIns="0" rIns="0" bIns="0" anchor="t">
            <a:spAutoFit/>
          </a:bodyPr>
          <a:lstStyle/>
          <a:p>
            <a:pPr algn="ctr">
              <a:spcBef>
                <a:spcPts val="0"/>
              </a:spcBef>
              <a:spcAft>
                <a:spcPts val="0"/>
              </a:spcAft>
              <a:buNone/>
              <a:defRPr sz="900" b="1" i="0">
                <a:solidFill>
                  <a:srgbClr val="5E6D7B"/>
                </a:solidFill>
                <a:latin typeface="Aptos"/>
                <a:ea typeface="Aptos"/>
                <a:cs typeface="Aptos"/>
              </a:defRPr>
            </a:pPr>
            <a:r>
              <a:t>t = 1</a:t>
            </a:r>
          </a:p>
        </p:txBody>
      </p:sp>
      <p:sp>
        <p:nvSpPr>
          <p:cNvPr id="30" name="Right Arrow 29">
            <a:extLst>
              <a:ext uri="{FF2B5EF4-FFF2-40B4-BE49-F238E27FC236}">
                <a16:creationId xmlns:a16="http://schemas.microsoft.com/office/drawing/2014/main" id="{2A32E6CE-974A-4A7F-90C0-B3E0DD4FE514}"/>
              </a:ext>
            </a:extLst>
          </p:cNvPr>
          <p:cNvSpPr>
            <a:spLocks noGrp="1"/>
          </p:cNvSpPr>
          <p:nvPr/>
        </p:nvSpPr>
        <p:spPr>
          <a:xfrm>
            <a:off x="2514600"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ounded Rectangle 30">
            <a:extLst>
              <a:ext uri="{FF2B5EF4-FFF2-40B4-BE49-F238E27FC236}">
                <a16:creationId xmlns:a16="http://schemas.microsoft.com/office/drawing/2014/main" id="{6626928F-946B-4989-A9B3-F1A6AE06CEAA}"/>
              </a:ext>
            </a:extLst>
          </p:cNvPr>
          <p:cNvSpPr>
            <a:spLocks noGrp="1"/>
          </p:cNvSpPr>
          <p:nvPr/>
        </p:nvSpPr>
        <p:spPr>
          <a:xfrm>
            <a:off x="2834640"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ounded Rectangle 31">
            <a:extLst>
              <a:ext uri="{FF2B5EF4-FFF2-40B4-BE49-F238E27FC236}">
                <a16:creationId xmlns:a16="http://schemas.microsoft.com/office/drawing/2014/main" id="{4E879AB7-B323-43E1-8956-4A9EFA81BF26}"/>
              </a:ext>
            </a:extLst>
          </p:cNvPr>
          <p:cNvSpPr>
            <a:spLocks noGrp="1"/>
          </p:cNvSpPr>
          <p:nvPr/>
        </p:nvSpPr>
        <p:spPr>
          <a:xfrm>
            <a:off x="2926080"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Oval 32">
            <a:extLst>
              <a:ext uri="{FF2B5EF4-FFF2-40B4-BE49-F238E27FC236}">
                <a16:creationId xmlns:a16="http://schemas.microsoft.com/office/drawing/2014/main" id="{3219326F-06ED-436B-AC4A-976C3E8C432A}"/>
              </a:ext>
            </a:extLst>
          </p:cNvPr>
          <p:cNvSpPr>
            <a:spLocks noGrp="1"/>
          </p:cNvSpPr>
          <p:nvPr/>
        </p:nvSpPr>
        <p:spPr>
          <a:xfrm>
            <a:off x="353058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ounded Rectangle 33">
            <a:extLst>
              <a:ext uri="{FF2B5EF4-FFF2-40B4-BE49-F238E27FC236}">
                <a16:creationId xmlns:a16="http://schemas.microsoft.com/office/drawing/2014/main" id="{FDA0F7B0-D67D-4F17-98B8-9A9D935A0A71}"/>
              </a:ext>
            </a:extLst>
          </p:cNvPr>
          <p:cNvSpPr>
            <a:spLocks noGrp="1"/>
          </p:cNvSpPr>
          <p:nvPr/>
        </p:nvSpPr>
        <p:spPr>
          <a:xfrm>
            <a:off x="351074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Connector 34">
            <a:extLst>
              <a:ext uri="{FF2B5EF4-FFF2-40B4-BE49-F238E27FC236}">
                <a16:creationId xmlns:a16="http://schemas.microsoft.com/office/drawing/2014/main" id="{1339967F-3069-4641-8AF3-DF74C0512326}"/>
              </a:ext>
            </a:extLst>
          </p:cNvPr>
          <p:cNvSpPr>
            <a:spLocks noGrp="1"/>
          </p:cNvSpPr>
          <p:nvPr/>
        </p:nvSpPr>
        <p:spPr>
          <a:xfrm flipH="1">
            <a:off x="349373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6" name="Connector 35">
            <a:extLst>
              <a:ext uri="{FF2B5EF4-FFF2-40B4-BE49-F238E27FC236}">
                <a16:creationId xmlns:a16="http://schemas.microsoft.com/office/drawing/2014/main" id="{1425F7AB-7417-4959-86E6-BE297F8B45D9}"/>
              </a:ext>
            </a:extLst>
          </p:cNvPr>
          <p:cNvSpPr>
            <a:spLocks noGrp="1"/>
          </p:cNvSpPr>
          <p:nvPr/>
        </p:nvSpPr>
        <p:spPr>
          <a:xfrm>
            <a:off x="362980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7" name="Connector 36">
            <a:extLst>
              <a:ext uri="{FF2B5EF4-FFF2-40B4-BE49-F238E27FC236}">
                <a16:creationId xmlns:a16="http://schemas.microsoft.com/office/drawing/2014/main" id="{A22158D3-9D50-4344-A5F6-343A46296833}"/>
              </a:ext>
            </a:extLst>
          </p:cNvPr>
          <p:cNvSpPr>
            <a:spLocks noGrp="1"/>
          </p:cNvSpPr>
          <p:nvPr/>
        </p:nvSpPr>
        <p:spPr>
          <a:xfrm flipH="1">
            <a:off x="343137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8" name="Connector 37">
            <a:extLst>
              <a:ext uri="{FF2B5EF4-FFF2-40B4-BE49-F238E27FC236}">
                <a16:creationId xmlns:a16="http://schemas.microsoft.com/office/drawing/2014/main" id="{08BD134D-592E-49DE-B5EE-7DFBA4769F5F}"/>
              </a:ext>
            </a:extLst>
          </p:cNvPr>
          <p:cNvSpPr>
            <a:spLocks noGrp="1"/>
          </p:cNvSpPr>
          <p:nvPr/>
        </p:nvSpPr>
        <p:spPr>
          <a:xfrm>
            <a:off x="364114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9" name="Oval 38">
            <a:extLst>
              <a:ext uri="{FF2B5EF4-FFF2-40B4-BE49-F238E27FC236}">
                <a16:creationId xmlns:a16="http://schemas.microsoft.com/office/drawing/2014/main" id="{C6A51962-4BB0-4AEF-86FD-8823F9D2039B}"/>
              </a:ext>
            </a:extLst>
          </p:cNvPr>
          <p:cNvSpPr>
            <a:spLocks noGrp="1"/>
          </p:cNvSpPr>
          <p:nvPr/>
        </p:nvSpPr>
        <p:spPr>
          <a:xfrm>
            <a:off x="345405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Oval 39">
            <a:extLst>
              <a:ext uri="{FF2B5EF4-FFF2-40B4-BE49-F238E27FC236}">
                <a16:creationId xmlns:a16="http://schemas.microsoft.com/office/drawing/2014/main" id="{4E253B32-47D8-40EE-A83D-AC3C9AF51275}"/>
              </a:ext>
            </a:extLst>
          </p:cNvPr>
          <p:cNvSpPr>
            <a:spLocks noGrp="1"/>
          </p:cNvSpPr>
          <p:nvPr/>
        </p:nvSpPr>
        <p:spPr>
          <a:xfrm>
            <a:off x="4089653"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Rounded Rectangle 40">
            <a:extLst>
              <a:ext uri="{FF2B5EF4-FFF2-40B4-BE49-F238E27FC236}">
                <a16:creationId xmlns:a16="http://schemas.microsoft.com/office/drawing/2014/main" id="{14FAEE69-1AC8-46AE-BE47-20FF0E378529}"/>
              </a:ext>
            </a:extLst>
          </p:cNvPr>
          <p:cNvSpPr>
            <a:spLocks noGrp="1"/>
          </p:cNvSpPr>
          <p:nvPr/>
        </p:nvSpPr>
        <p:spPr>
          <a:xfrm>
            <a:off x="4073651"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Connector 41">
            <a:extLst>
              <a:ext uri="{FF2B5EF4-FFF2-40B4-BE49-F238E27FC236}">
                <a16:creationId xmlns:a16="http://schemas.microsoft.com/office/drawing/2014/main" id="{3CE41839-2B54-4AE2-9B77-BCE88F18DC52}"/>
              </a:ext>
            </a:extLst>
          </p:cNvPr>
          <p:cNvSpPr>
            <a:spLocks noGrp="1"/>
          </p:cNvSpPr>
          <p:nvPr/>
        </p:nvSpPr>
        <p:spPr>
          <a:xfrm flipH="1">
            <a:off x="4059935"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3" name="Connector 42">
            <a:extLst>
              <a:ext uri="{FF2B5EF4-FFF2-40B4-BE49-F238E27FC236}">
                <a16:creationId xmlns:a16="http://schemas.microsoft.com/office/drawing/2014/main" id="{A184233B-CF3A-452F-9E7A-C199E35E243A}"/>
              </a:ext>
            </a:extLst>
          </p:cNvPr>
          <p:cNvSpPr>
            <a:spLocks noGrp="1"/>
          </p:cNvSpPr>
          <p:nvPr/>
        </p:nvSpPr>
        <p:spPr>
          <a:xfrm>
            <a:off x="4169663"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4" name="Connector 43">
            <a:extLst>
              <a:ext uri="{FF2B5EF4-FFF2-40B4-BE49-F238E27FC236}">
                <a16:creationId xmlns:a16="http://schemas.microsoft.com/office/drawing/2014/main" id="{8E0D94C2-50D5-47CD-BA5C-DE8341CAC1FF}"/>
              </a:ext>
            </a:extLst>
          </p:cNvPr>
          <p:cNvSpPr>
            <a:spLocks noGrp="1"/>
          </p:cNvSpPr>
          <p:nvPr/>
        </p:nvSpPr>
        <p:spPr>
          <a:xfrm flipH="1">
            <a:off x="4009644"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5" name="Connector 44">
            <a:extLst>
              <a:ext uri="{FF2B5EF4-FFF2-40B4-BE49-F238E27FC236}">
                <a16:creationId xmlns:a16="http://schemas.microsoft.com/office/drawing/2014/main" id="{CA26EE6F-0EB9-425E-9FF3-CF43B675064B}"/>
              </a:ext>
            </a:extLst>
          </p:cNvPr>
          <p:cNvSpPr>
            <a:spLocks noGrp="1"/>
          </p:cNvSpPr>
          <p:nvPr/>
        </p:nvSpPr>
        <p:spPr>
          <a:xfrm>
            <a:off x="4178807"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46" name="TextBox 45">
            <a:extLst>
              <a:ext uri="{FF2B5EF4-FFF2-40B4-BE49-F238E27FC236}">
                <a16:creationId xmlns:a16="http://schemas.microsoft.com/office/drawing/2014/main" id="{BFC22B96-3A95-4C40-9F21-E0A707C08F7C}"/>
              </a:ext>
            </a:extLst>
          </p:cNvPr>
          <p:cNvSpPr>
            <a:spLocks noGrp="1"/>
          </p:cNvSpPr>
          <p:nvPr/>
        </p:nvSpPr>
        <p:spPr>
          <a:xfrm>
            <a:off x="2926080" y="5001768"/>
            <a:ext cx="1554480" cy="164592"/>
          </a:xfrm>
          <a:prstGeom prst="rect">
            <a:avLst/>
          </a:prstGeom>
          <a:noFill/>
        </p:spPr>
        <p:txBody>
          <a:bodyPr wrap="square" lIns="0" tIns="0" rIns="0" bIns="0" anchor="t">
            <a:spAutoFit/>
          </a:bodyPr>
          <a:lstStyle/>
          <a:p>
            <a:pPr algn="ctr">
              <a:spcBef>
                <a:spcPts val="0"/>
              </a:spcBef>
              <a:spcAft>
                <a:spcPts val="0"/>
              </a:spcAft>
              <a:buNone/>
              <a:defRPr sz="900" b="1" i="0">
                <a:solidFill>
                  <a:srgbClr val="5E6D7B"/>
                </a:solidFill>
                <a:latin typeface="Aptos"/>
                <a:ea typeface="Aptos"/>
                <a:cs typeface="Aptos"/>
              </a:defRPr>
            </a:pPr>
            <a:r>
              <a:t>t = 2</a:t>
            </a:r>
          </a:p>
        </p:txBody>
      </p:sp>
      <p:sp>
        <p:nvSpPr>
          <p:cNvPr id="47" name="Right Arrow 46">
            <a:extLst>
              <a:ext uri="{FF2B5EF4-FFF2-40B4-BE49-F238E27FC236}">
                <a16:creationId xmlns:a16="http://schemas.microsoft.com/office/drawing/2014/main" id="{6EB77498-9AE3-49E4-A10B-4C243757CB11}"/>
              </a:ext>
            </a:extLst>
          </p:cNvPr>
          <p:cNvSpPr>
            <a:spLocks noGrp="1"/>
          </p:cNvSpPr>
          <p:nvPr/>
        </p:nvSpPr>
        <p:spPr>
          <a:xfrm>
            <a:off x="4599432"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ounded Rectangle 47">
            <a:extLst>
              <a:ext uri="{FF2B5EF4-FFF2-40B4-BE49-F238E27FC236}">
                <a16:creationId xmlns:a16="http://schemas.microsoft.com/office/drawing/2014/main" id="{CEAB1F19-B1B8-471B-B084-E86AA27AC570}"/>
              </a:ext>
            </a:extLst>
          </p:cNvPr>
          <p:cNvSpPr>
            <a:spLocks noGrp="1"/>
          </p:cNvSpPr>
          <p:nvPr/>
        </p:nvSpPr>
        <p:spPr>
          <a:xfrm>
            <a:off x="4919472"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Rounded Rectangle 48">
            <a:extLst>
              <a:ext uri="{FF2B5EF4-FFF2-40B4-BE49-F238E27FC236}">
                <a16:creationId xmlns:a16="http://schemas.microsoft.com/office/drawing/2014/main" id="{31658CE3-35F0-4B03-8B3C-4B4CBE3BC847}"/>
              </a:ext>
            </a:extLst>
          </p:cNvPr>
          <p:cNvSpPr>
            <a:spLocks noGrp="1"/>
          </p:cNvSpPr>
          <p:nvPr/>
        </p:nvSpPr>
        <p:spPr>
          <a:xfrm>
            <a:off x="5010912"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Oval 49">
            <a:extLst>
              <a:ext uri="{FF2B5EF4-FFF2-40B4-BE49-F238E27FC236}">
                <a16:creationId xmlns:a16="http://schemas.microsoft.com/office/drawing/2014/main" id="{17A6CFA2-0E46-4F05-9FF7-B01D03BB1BC9}"/>
              </a:ext>
            </a:extLst>
          </p:cNvPr>
          <p:cNvSpPr>
            <a:spLocks noGrp="1"/>
          </p:cNvSpPr>
          <p:nvPr/>
        </p:nvSpPr>
        <p:spPr>
          <a:xfrm>
            <a:off x="572514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ounded Rectangle 50">
            <a:extLst>
              <a:ext uri="{FF2B5EF4-FFF2-40B4-BE49-F238E27FC236}">
                <a16:creationId xmlns:a16="http://schemas.microsoft.com/office/drawing/2014/main" id="{C6A072EB-CF84-4837-BB7F-525CE310F415}"/>
              </a:ext>
            </a:extLst>
          </p:cNvPr>
          <p:cNvSpPr>
            <a:spLocks noGrp="1"/>
          </p:cNvSpPr>
          <p:nvPr/>
        </p:nvSpPr>
        <p:spPr>
          <a:xfrm>
            <a:off x="570530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Connector 51">
            <a:extLst>
              <a:ext uri="{FF2B5EF4-FFF2-40B4-BE49-F238E27FC236}">
                <a16:creationId xmlns:a16="http://schemas.microsoft.com/office/drawing/2014/main" id="{049AF7A8-1A90-4225-A783-1DB403D46FA9}"/>
              </a:ext>
            </a:extLst>
          </p:cNvPr>
          <p:cNvSpPr>
            <a:spLocks noGrp="1"/>
          </p:cNvSpPr>
          <p:nvPr/>
        </p:nvSpPr>
        <p:spPr>
          <a:xfrm flipH="1">
            <a:off x="568829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3" name="Connector 52">
            <a:extLst>
              <a:ext uri="{FF2B5EF4-FFF2-40B4-BE49-F238E27FC236}">
                <a16:creationId xmlns:a16="http://schemas.microsoft.com/office/drawing/2014/main" id="{2699A40A-9646-49CC-8AA1-646EA50459E4}"/>
              </a:ext>
            </a:extLst>
          </p:cNvPr>
          <p:cNvSpPr>
            <a:spLocks noGrp="1"/>
          </p:cNvSpPr>
          <p:nvPr/>
        </p:nvSpPr>
        <p:spPr>
          <a:xfrm>
            <a:off x="582436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4" name="Connector 53">
            <a:extLst>
              <a:ext uri="{FF2B5EF4-FFF2-40B4-BE49-F238E27FC236}">
                <a16:creationId xmlns:a16="http://schemas.microsoft.com/office/drawing/2014/main" id="{009DBFAF-F9F6-4447-8597-DE6175EB763E}"/>
              </a:ext>
            </a:extLst>
          </p:cNvPr>
          <p:cNvSpPr>
            <a:spLocks noGrp="1"/>
          </p:cNvSpPr>
          <p:nvPr/>
        </p:nvSpPr>
        <p:spPr>
          <a:xfrm flipH="1">
            <a:off x="562593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5" name="Connector 54">
            <a:extLst>
              <a:ext uri="{FF2B5EF4-FFF2-40B4-BE49-F238E27FC236}">
                <a16:creationId xmlns:a16="http://schemas.microsoft.com/office/drawing/2014/main" id="{039838CC-1715-4FA5-9D3F-E9850C6FE02C}"/>
              </a:ext>
            </a:extLst>
          </p:cNvPr>
          <p:cNvSpPr>
            <a:spLocks noGrp="1"/>
          </p:cNvSpPr>
          <p:nvPr/>
        </p:nvSpPr>
        <p:spPr>
          <a:xfrm>
            <a:off x="583570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6" name="Oval 55">
            <a:extLst>
              <a:ext uri="{FF2B5EF4-FFF2-40B4-BE49-F238E27FC236}">
                <a16:creationId xmlns:a16="http://schemas.microsoft.com/office/drawing/2014/main" id="{2F9463E7-D2CE-484E-8561-5585EF25BFDB}"/>
              </a:ext>
            </a:extLst>
          </p:cNvPr>
          <p:cNvSpPr>
            <a:spLocks noGrp="1"/>
          </p:cNvSpPr>
          <p:nvPr/>
        </p:nvSpPr>
        <p:spPr>
          <a:xfrm>
            <a:off x="564861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Oval 56">
            <a:extLst>
              <a:ext uri="{FF2B5EF4-FFF2-40B4-BE49-F238E27FC236}">
                <a16:creationId xmlns:a16="http://schemas.microsoft.com/office/drawing/2014/main" id="{AD76200C-3127-4C0A-B9DD-7B779B6767D2}"/>
              </a:ext>
            </a:extLst>
          </p:cNvPr>
          <p:cNvSpPr>
            <a:spLocks noGrp="1"/>
          </p:cNvSpPr>
          <p:nvPr/>
        </p:nvSpPr>
        <p:spPr>
          <a:xfrm>
            <a:off x="6174486"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8" name="Rounded Rectangle 57">
            <a:extLst>
              <a:ext uri="{FF2B5EF4-FFF2-40B4-BE49-F238E27FC236}">
                <a16:creationId xmlns:a16="http://schemas.microsoft.com/office/drawing/2014/main" id="{CE89699F-006B-4EAE-8F00-E81617DB1AEE}"/>
              </a:ext>
            </a:extLst>
          </p:cNvPr>
          <p:cNvSpPr>
            <a:spLocks noGrp="1"/>
          </p:cNvSpPr>
          <p:nvPr/>
        </p:nvSpPr>
        <p:spPr>
          <a:xfrm>
            <a:off x="6158483"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Connector 58">
            <a:extLst>
              <a:ext uri="{FF2B5EF4-FFF2-40B4-BE49-F238E27FC236}">
                <a16:creationId xmlns:a16="http://schemas.microsoft.com/office/drawing/2014/main" id="{3B5665D1-2B0D-4307-B926-DE5FEAA33DCC}"/>
              </a:ext>
            </a:extLst>
          </p:cNvPr>
          <p:cNvSpPr>
            <a:spLocks noGrp="1"/>
          </p:cNvSpPr>
          <p:nvPr/>
        </p:nvSpPr>
        <p:spPr>
          <a:xfrm flipH="1">
            <a:off x="6144768"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0" name="Connector 59">
            <a:extLst>
              <a:ext uri="{FF2B5EF4-FFF2-40B4-BE49-F238E27FC236}">
                <a16:creationId xmlns:a16="http://schemas.microsoft.com/office/drawing/2014/main" id="{EFEA9F96-03FD-4C81-A72A-23FAB9AF7133}"/>
              </a:ext>
            </a:extLst>
          </p:cNvPr>
          <p:cNvSpPr>
            <a:spLocks noGrp="1"/>
          </p:cNvSpPr>
          <p:nvPr/>
        </p:nvSpPr>
        <p:spPr>
          <a:xfrm>
            <a:off x="6254496"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1" name="Connector 60">
            <a:extLst>
              <a:ext uri="{FF2B5EF4-FFF2-40B4-BE49-F238E27FC236}">
                <a16:creationId xmlns:a16="http://schemas.microsoft.com/office/drawing/2014/main" id="{3FA398FD-D6F4-481B-A79C-91FAA07361A3}"/>
              </a:ext>
            </a:extLst>
          </p:cNvPr>
          <p:cNvSpPr>
            <a:spLocks noGrp="1"/>
          </p:cNvSpPr>
          <p:nvPr/>
        </p:nvSpPr>
        <p:spPr>
          <a:xfrm flipH="1">
            <a:off x="6094476"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2" name="Connector 61">
            <a:extLst>
              <a:ext uri="{FF2B5EF4-FFF2-40B4-BE49-F238E27FC236}">
                <a16:creationId xmlns:a16="http://schemas.microsoft.com/office/drawing/2014/main" id="{63411F4D-7A39-49E9-A49E-ED84381EA717}"/>
              </a:ext>
            </a:extLst>
          </p:cNvPr>
          <p:cNvSpPr>
            <a:spLocks noGrp="1"/>
          </p:cNvSpPr>
          <p:nvPr/>
        </p:nvSpPr>
        <p:spPr>
          <a:xfrm>
            <a:off x="6263640"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3" name="TextBox 62">
            <a:extLst>
              <a:ext uri="{FF2B5EF4-FFF2-40B4-BE49-F238E27FC236}">
                <a16:creationId xmlns:a16="http://schemas.microsoft.com/office/drawing/2014/main" id="{8711EAD7-2E5F-4FEC-AC70-0DA2D3CDD308}"/>
              </a:ext>
            </a:extLst>
          </p:cNvPr>
          <p:cNvSpPr>
            <a:spLocks noGrp="1"/>
          </p:cNvSpPr>
          <p:nvPr/>
        </p:nvSpPr>
        <p:spPr>
          <a:xfrm>
            <a:off x="5010912" y="5001768"/>
            <a:ext cx="1554480" cy="164592"/>
          </a:xfrm>
          <a:prstGeom prst="rect">
            <a:avLst/>
          </a:prstGeom>
          <a:noFill/>
        </p:spPr>
        <p:txBody>
          <a:bodyPr wrap="square" lIns="0" tIns="0" rIns="0" bIns="0" anchor="t">
            <a:spAutoFit/>
          </a:bodyPr>
          <a:lstStyle/>
          <a:p>
            <a:pPr algn="ctr">
              <a:spcBef>
                <a:spcPts val="0"/>
              </a:spcBef>
              <a:spcAft>
                <a:spcPts val="0"/>
              </a:spcAft>
              <a:buNone/>
              <a:defRPr sz="900" b="1" i="0">
                <a:solidFill>
                  <a:srgbClr val="5E6D7B"/>
                </a:solidFill>
                <a:latin typeface="Aptos"/>
                <a:ea typeface="Aptos"/>
                <a:cs typeface="Aptos"/>
              </a:defRPr>
            </a:pPr>
            <a:r>
              <a:t>t = 3</a:t>
            </a:r>
          </a:p>
        </p:txBody>
      </p:sp>
      <p:sp>
        <p:nvSpPr>
          <p:cNvPr id="64" name="Right Arrow 63">
            <a:extLst>
              <a:ext uri="{FF2B5EF4-FFF2-40B4-BE49-F238E27FC236}">
                <a16:creationId xmlns:a16="http://schemas.microsoft.com/office/drawing/2014/main" id="{D6E7AA0E-3EFB-440D-AFB9-A9B11E538882}"/>
              </a:ext>
            </a:extLst>
          </p:cNvPr>
          <p:cNvSpPr>
            <a:spLocks noGrp="1"/>
          </p:cNvSpPr>
          <p:nvPr/>
        </p:nvSpPr>
        <p:spPr>
          <a:xfrm>
            <a:off x="6684264"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Rounded Rectangle 64">
            <a:extLst>
              <a:ext uri="{FF2B5EF4-FFF2-40B4-BE49-F238E27FC236}">
                <a16:creationId xmlns:a16="http://schemas.microsoft.com/office/drawing/2014/main" id="{6F1BFABE-0A1F-4EF5-A6A5-4BEE9964EA78}"/>
              </a:ext>
            </a:extLst>
          </p:cNvPr>
          <p:cNvSpPr>
            <a:spLocks noGrp="1"/>
          </p:cNvSpPr>
          <p:nvPr/>
        </p:nvSpPr>
        <p:spPr>
          <a:xfrm>
            <a:off x="7004304"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6" name="Rounded Rectangle 65">
            <a:extLst>
              <a:ext uri="{FF2B5EF4-FFF2-40B4-BE49-F238E27FC236}">
                <a16:creationId xmlns:a16="http://schemas.microsoft.com/office/drawing/2014/main" id="{D41828D4-1A66-43A5-BF70-A3D63AD7ACCC}"/>
              </a:ext>
            </a:extLst>
          </p:cNvPr>
          <p:cNvSpPr>
            <a:spLocks noGrp="1"/>
          </p:cNvSpPr>
          <p:nvPr/>
        </p:nvSpPr>
        <p:spPr>
          <a:xfrm>
            <a:off x="7095744"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Oval 66">
            <a:extLst>
              <a:ext uri="{FF2B5EF4-FFF2-40B4-BE49-F238E27FC236}">
                <a16:creationId xmlns:a16="http://schemas.microsoft.com/office/drawing/2014/main" id="{7F728E8A-92E7-4ED6-AF44-BE8D818A586A}"/>
              </a:ext>
            </a:extLst>
          </p:cNvPr>
          <p:cNvSpPr>
            <a:spLocks noGrp="1"/>
          </p:cNvSpPr>
          <p:nvPr/>
        </p:nvSpPr>
        <p:spPr>
          <a:xfrm>
            <a:off x="7645389"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8" name="Rounded Rectangle 67">
            <a:extLst>
              <a:ext uri="{FF2B5EF4-FFF2-40B4-BE49-F238E27FC236}">
                <a16:creationId xmlns:a16="http://schemas.microsoft.com/office/drawing/2014/main" id="{A5409F94-808D-41C3-B1CD-CA71F0149C51}"/>
              </a:ext>
            </a:extLst>
          </p:cNvPr>
          <p:cNvSpPr>
            <a:spLocks noGrp="1"/>
          </p:cNvSpPr>
          <p:nvPr/>
        </p:nvSpPr>
        <p:spPr>
          <a:xfrm>
            <a:off x="7625547"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9" name="Connector 68">
            <a:extLst>
              <a:ext uri="{FF2B5EF4-FFF2-40B4-BE49-F238E27FC236}">
                <a16:creationId xmlns:a16="http://schemas.microsoft.com/office/drawing/2014/main" id="{A32588C8-DE45-44DD-AF38-49B95022933B}"/>
              </a:ext>
            </a:extLst>
          </p:cNvPr>
          <p:cNvSpPr>
            <a:spLocks noGrp="1"/>
          </p:cNvSpPr>
          <p:nvPr/>
        </p:nvSpPr>
        <p:spPr>
          <a:xfrm flipH="1">
            <a:off x="7608539"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0" name="Connector 69">
            <a:extLst>
              <a:ext uri="{FF2B5EF4-FFF2-40B4-BE49-F238E27FC236}">
                <a16:creationId xmlns:a16="http://schemas.microsoft.com/office/drawing/2014/main" id="{010748B2-4474-4644-9614-0DA833826003}"/>
              </a:ext>
            </a:extLst>
          </p:cNvPr>
          <p:cNvSpPr>
            <a:spLocks noGrp="1"/>
          </p:cNvSpPr>
          <p:nvPr/>
        </p:nvSpPr>
        <p:spPr>
          <a:xfrm>
            <a:off x="7744602"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1" name="Connector 70">
            <a:extLst>
              <a:ext uri="{FF2B5EF4-FFF2-40B4-BE49-F238E27FC236}">
                <a16:creationId xmlns:a16="http://schemas.microsoft.com/office/drawing/2014/main" id="{185FCAD1-91DA-43C6-A8BC-2D30A2B077F1}"/>
              </a:ext>
            </a:extLst>
          </p:cNvPr>
          <p:cNvSpPr>
            <a:spLocks noGrp="1"/>
          </p:cNvSpPr>
          <p:nvPr/>
        </p:nvSpPr>
        <p:spPr>
          <a:xfrm flipH="1">
            <a:off x="7546177"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2" name="Connector 71">
            <a:extLst>
              <a:ext uri="{FF2B5EF4-FFF2-40B4-BE49-F238E27FC236}">
                <a16:creationId xmlns:a16="http://schemas.microsoft.com/office/drawing/2014/main" id="{FD6C110D-0AE7-4EE8-820F-10309E21E33B}"/>
              </a:ext>
            </a:extLst>
          </p:cNvPr>
          <p:cNvSpPr>
            <a:spLocks noGrp="1"/>
          </p:cNvSpPr>
          <p:nvPr/>
        </p:nvSpPr>
        <p:spPr>
          <a:xfrm>
            <a:off x="7755940"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3" name="Oval 72">
            <a:extLst>
              <a:ext uri="{FF2B5EF4-FFF2-40B4-BE49-F238E27FC236}">
                <a16:creationId xmlns:a16="http://schemas.microsoft.com/office/drawing/2014/main" id="{0FC82E96-9D18-4507-9CCC-9EF7132C0615}"/>
              </a:ext>
            </a:extLst>
          </p:cNvPr>
          <p:cNvSpPr>
            <a:spLocks noGrp="1"/>
          </p:cNvSpPr>
          <p:nvPr/>
        </p:nvSpPr>
        <p:spPr>
          <a:xfrm>
            <a:off x="7568854"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4" name="Oval 73">
            <a:extLst>
              <a:ext uri="{FF2B5EF4-FFF2-40B4-BE49-F238E27FC236}">
                <a16:creationId xmlns:a16="http://schemas.microsoft.com/office/drawing/2014/main" id="{9720498B-6730-4FCB-8D55-6B1813543356}"/>
              </a:ext>
            </a:extLst>
          </p:cNvPr>
          <p:cNvSpPr>
            <a:spLocks noGrp="1"/>
          </p:cNvSpPr>
          <p:nvPr/>
        </p:nvSpPr>
        <p:spPr>
          <a:xfrm>
            <a:off x="8259318"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5" name="Rounded Rectangle 74">
            <a:extLst>
              <a:ext uri="{FF2B5EF4-FFF2-40B4-BE49-F238E27FC236}">
                <a16:creationId xmlns:a16="http://schemas.microsoft.com/office/drawing/2014/main" id="{92126971-1379-4A32-B49E-9CDF2A53D73C}"/>
              </a:ext>
            </a:extLst>
          </p:cNvPr>
          <p:cNvSpPr>
            <a:spLocks noGrp="1"/>
          </p:cNvSpPr>
          <p:nvPr/>
        </p:nvSpPr>
        <p:spPr>
          <a:xfrm>
            <a:off x="8243316"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6" name="Connector 75">
            <a:extLst>
              <a:ext uri="{FF2B5EF4-FFF2-40B4-BE49-F238E27FC236}">
                <a16:creationId xmlns:a16="http://schemas.microsoft.com/office/drawing/2014/main" id="{A6DAEB63-E370-4EEE-9C07-256410DDB052}"/>
              </a:ext>
            </a:extLst>
          </p:cNvPr>
          <p:cNvSpPr>
            <a:spLocks noGrp="1"/>
          </p:cNvSpPr>
          <p:nvPr/>
        </p:nvSpPr>
        <p:spPr>
          <a:xfrm flipH="1">
            <a:off x="8229600"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7" name="Connector 76">
            <a:extLst>
              <a:ext uri="{FF2B5EF4-FFF2-40B4-BE49-F238E27FC236}">
                <a16:creationId xmlns:a16="http://schemas.microsoft.com/office/drawing/2014/main" id="{EF2E0CBC-5FE6-464C-B1D4-D39EA0B53DDA}"/>
              </a:ext>
            </a:extLst>
          </p:cNvPr>
          <p:cNvSpPr>
            <a:spLocks noGrp="1"/>
          </p:cNvSpPr>
          <p:nvPr/>
        </p:nvSpPr>
        <p:spPr>
          <a:xfrm>
            <a:off x="8339327"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8" name="Connector 77">
            <a:extLst>
              <a:ext uri="{FF2B5EF4-FFF2-40B4-BE49-F238E27FC236}">
                <a16:creationId xmlns:a16="http://schemas.microsoft.com/office/drawing/2014/main" id="{4F237158-1ECD-40B7-A8A0-6C5BC8B72EFC}"/>
              </a:ext>
            </a:extLst>
          </p:cNvPr>
          <p:cNvSpPr>
            <a:spLocks noGrp="1"/>
          </p:cNvSpPr>
          <p:nvPr/>
        </p:nvSpPr>
        <p:spPr>
          <a:xfrm flipH="1">
            <a:off x="8179308" y="3982211"/>
            <a:ext cx="77723"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9" name="Connector 78">
            <a:extLst>
              <a:ext uri="{FF2B5EF4-FFF2-40B4-BE49-F238E27FC236}">
                <a16:creationId xmlns:a16="http://schemas.microsoft.com/office/drawing/2014/main" id="{833C16A4-EF86-4792-8609-22CD64B120A7}"/>
              </a:ext>
            </a:extLst>
          </p:cNvPr>
          <p:cNvSpPr>
            <a:spLocks noGrp="1"/>
          </p:cNvSpPr>
          <p:nvPr/>
        </p:nvSpPr>
        <p:spPr>
          <a:xfrm>
            <a:off x="8348472"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80" name="TextBox 79">
            <a:extLst>
              <a:ext uri="{FF2B5EF4-FFF2-40B4-BE49-F238E27FC236}">
                <a16:creationId xmlns:a16="http://schemas.microsoft.com/office/drawing/2014/main" id="{47F91F93-55FD-4D84-B567-EA292B1FE23D}"/>
              </a:ext>
            </a:extLst>
          </p:cNvPr>
          <p:cNvSpPr>
            <a:spLocks noGrp="1"/>
          </p:cNvSpPr>
          <p:nvPr/>
        </p:nvSpPr>
        <p:spPr>
          <a:xfrm>
            <a:off x="7095744" y="5001768"/>
            <a:ext cx="1554480" cy="164592"/>
          </a:xfrm>
          <a:prstGeom prst="rect">
            <a:avLst/>
          </a:prstGeom>
          <a:noFill/>
        </p:spPr>
        <p:txBody>
          <a:bodyPr wrap="square" lIns="0" tIns="0" rIns="0" bIns="0" anchor="t">
            <a:spAutoFit/>
          </a:bodyPr>
          <a:lstStyle/>
          <a:p>
            <a:pPr algn="ctr">
              <a:spcBef>
                <a:spcPts val="0"/>
              </a:spcBef>
              <a:spcAft>
                <a:spcPts val="0"/>
              </a:spcAft>
              <a:buNone/>
              <a:defRPr sz="900" b="1" i="0">
                <a:solidFill>
                  <a:srgbClr val="5E6D7B"/>
                </a:solidFill>
                <a:latin typeface="Aptos"/>
                <a:ea typeface="Aptos"/>
                <a:cs typeface="Aptos"/>
              </a:defRPr>
            </a:pPr>
            <a:r>
              <a:t>t = 4</a:t>
            </a:r>
          </a:p>
        </p:txBody>
      </p:sp>
      <p:sp>
        <p:nvSpPr>
          <p:cNvPr id="81" name="Right Arrow 80">
            <a:extLst>
              <a:ext uri="{FF2B5EF4-FFF2-40B4-BE49-F238E27FC236}">
                <a16:creationId xmlns:a16="http://schemas.microsoft.com/office/drawing/2014/main" id="{8569CB42-C6D4-4148-8A74-3A8F51B88286}"/>
              </a:ext>
            </a:extLst>
          </p:cNvPr>
          <p:cNvSpPr>
            <a:spLocks noGrp="1"/>
          </p:cNvSpPr>
          <p:nvPr/>
        </p:nvSpPr>
        <p:spPr>
          <a:xfrm>
            <a:off x="8769096" y="4087368"/>
            <a:ext cx="274320" cy="18288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2" name="Rounded Rectangle 81">
            <a:extLst>
              <a:ext uri="{FF2B5EF4-FFF2-40B4-BE49-F238E27FC236}">
                <a16:creationId xmlns:a16="http://schemas.microsoft.com/office/drawing/2014/main" id="{22E24DD1-2E49-437F-8E4F-AAA3A754B2D7}"/>
              </a:ext>
            </a:extLst>
          </p:cNvPr>
          <p:cNvSpPr>
            <a:spLocks noGrp="1"/>
          </p:cNvSpPr>
          <p:nvPr/>
        </p:nvSpPr>
        <p:spPr>
          <a:xfrm>
            <a:off x="9089136" y="3383280"/>
            <a:ext cx="1737360" cy="1874519"/>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3" name="Rounded Rectangle 82">
            <a:extLst>
              <a:ext uri="{FF2B5EF4-FFF2-40B4-BE49-F238E27FC236}">
                <a16:creationId xmlns:a16="http://schemas.microsoft.com/office/drawing/2014/main" id="{95322E94-26DF-4BFF-929A-8186F32B67E9}"/>
              </a:ext>
            </a:extLst>
          </p:cNvPr>
          <p:cNvSpPr>
            <a:spLocks noGrp="1"/>
          </p:cNvSpPr>
          <p:nvPr/>
        </p:nvSpPr>
        <p:spPr>
          <a:xfrm>
            <a:off x="9180576" y="3483864"/>
            <a:ext cx="1554480" cy="1371600"/>
          </a:xfrm>
          <a:prstGeom prst="roundRect">
            <a:avLst>
              <a:gd name="adj" fmla="val 12000"/>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4" name="Oval 83">
            <a:extLst>
              <a:ext uri="{FF2B5EF4-FFF2-40B4-BE49-F238E27FC236}">
                <a16:creationId xmlns:a16="http://schemas.microsoft.com/office/drawing/2014/main" id="{A1B456CD-9781-48D3-9213-DA204F669666}"/>
              </a:ext>
            </a:extLst>
          </p:cNvPr>
          <p:cNvSpPr>
            <a:spLocks noGrp="1"/>
          </p:cNvSpPr>
          <p:nvPr/>
        </p:nvSpPr>
        <p:spPr>
          <a:xfrm>
            <a:off x="9492477" y="3703320"/>
            <a:ext cx="107716" cy="10771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5" name="Rounded Rectangle 84">
            <a:extLst>
              <a:ext uri="{FF2B5EF4-FFF2-40B4-BE49-F238E27FC236}">
                <a16:creationId xmlns:a16="http://schemas.microsoft.com/office/drawing/2014/main" id="{95F8F8AE-9B35-4FC8-B405-3EB8E2900FFA}"/>
              </a:ext>
            </a:extLst>
          </p:cNvPr>
          <p:cNvSpPr>
            <a:spLocks noGrp="1"/>
          </p:cNvSpPr>
          <p:nvPr/>
        </p:nvSpPr>
        <p:spPr>
          <a:xfrm>
            <a:off x="9472635" y="3816705"/>
            <a:ext cx="147401" cy="209763"/>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6" name="Connector 85">
            <a:extLst>
              <a:ext uri="{FF2B5EF4-FFF2-40B4-BE49-F238E27FC236}">
                <a16:creationId xmlns:a16="http://schemas.microsoft.com/office/drawing/2014/main" id="{1A5204CC-6C57-46CB-9C0F-507302B0DBC4}"/>
              </a:ext>
            </a:extLst>
          </p:cNvPr>
          <p:cNvSpPr>
            <a:spLocks noGrp="1"/>
          </p:cNvSpPr>
          <p:nvPr/>
        </p:nvSpPr>
        <p:spPr>
          <a:xfrm flipH="1">
            <a:off x="9455627"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87" name="Connector 86">
            <a:extLst>
              <a:ext uri="{FF2B5EF4-FFF2-40B4-BE49-F238E27FC236}">
                <a16:creationId xmlns:a16="http://schemas.microsoft.com/office/drawing/2014/main" id="{9C24AE23-00D1-4D61-8403-6030A84F05A7}"/>
              </a:ext>
            </a:extLst>
          </p:cNvPr>
          <p:cNvSpPr>
            <a:spLocks noGrp="1"/>
          </p:cNvSpPr>
          <p:nvPr/>
        </p:nvSpPr>
        <p:spPr>
          <a:xfrm>
            <a:off x="9591690" y="3998122"/>
            <a:ext cx="45354" cy="147401"/>
          </a:xfrm>
          <a:prstGeom prst="line">
            <a:avLst/>
          </a:prstGeom>
          <a:ln w="3810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88" name="Connector 87">
            <a:extLst>
              <a:ext uri="{FF2B5EF4-FFF2-40B4-BE49-F238E27FC236}">
                <a16:creationId xmlns:a16="http://schemas.microsoft.com/office/drawing/2014/main" id="{0737095C-4B66-4DD7-BDAE-F2D81009A181}"/>
              </a:ext>
            </a:extLst>
          </p:cNvPr>
          <p:cNvSpPr>
            <a:spLocks noGrp="1"/>
          </p:cNvSpPr>
          <p:nvPr/>
        </p:nvSpPr>
        <p:spPr>
          <a:xfrm flipH="1">
            <a:off x="9393265"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89" name="Connector 88">
            <a:extLst>
              <a:ext uri="{FF2B5EF4-FFF2-40B4-BE49-F238E27FC236}">
                <a16:creationId xmlns:a16="http://schemas.microsoft.com/office/drawing/2014/main" id="{FB3D96BB-140C-4F42-937F-E651A375FD58}"/>
              </a:ext>
            </a:extLst>
          </p:cNvPr>
          <p:cNvSpPr>
            <a:spLocks noGrp="1"/>
          </p:cNvSpPr>
          <p:nvPr/>
        </p:nvSpPr>
        <p:spPr>
          <a:xfrm>
            <a:off x="9603028" y="3867729"/>
            <a:ext cx="96378" cy="79370"/>
          </a:xfrm>
          <a:prstGeom prst="line">
            <a:avLst/>
          </a:prstGeom>
          <a:ln w="31750">
            <a:solidFill>
              <a:srgbClr val="F0716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90" name="Oval 89">
            <a:extLst>
              <a:ext uri="{FF2B5EF4-FFF2-40B4-BE49-F238E27FC236}">
                <a16:creationId xmlns:a16="http://schemas.microsoft.com/office/drawing/2014/main" id="{7101D7EB-6071-4510-92C6-BF2F12B383FF}"/>
              </a:ext>
            </a:extLst>
          </p:cNvPr>
          <p:cNvSpPr>
            <a:spLocks noGrp="1"/>
          </p:cNvSpPr>
          <p:nvPr/>
        </p:nvSpPr>
        <p:spPr>
          <a:xfrm>
            <a:off x="9415942" y="3663635"/>
            <a:ext cx="260786" cy="260786"/>
          </a:xfrm>
          <a:prstGeom prst="ellipse">
            <a:avLst/>
          </a:prstGeom>
          <a:noFill/>
          <a:ln w="27940">
            <a:solidFill>
              <a:srgbClr val="F0716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1" name="Oval 90">
            <a:extLst>
              <a:ext uri="{FF2B5EF4-FFF2-40B4-BE49-F238E27FC236}">
                <a16:creationId xmlns:a16="http://schemas.microsoft.com/office/drawing/2014/main" id="{7612943C-AB74-43C5-89C5-377BEF05A0A7}"/>
              </a:ext>
            </a:extLst>
          </p:cNvPr>
          <p:cNvSpPr>
            <a:spLocks noGrp="1"/>
          </p:cNvSpPr>
          <p:nvPr/>
        </p:nvSpPr>
        <p:spPr>
          <a:xfrm>
            <a:off x="10344150" y="3849624"/>
            <a:ext cx="86868" cy="86868"/>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2" name="Rounded Rectangle 91">
            <a:extLst>
              <a:ext uri="{FF2B5EF4-FFF2-40B4-BE49-F238E27FC236}">
                <a16:creationId xmlns:a16="http://schemas.microsoft.com/office/drawing/2014/main" id="{031EFAB8-ECF7-4D4C-B231-5B34AF24F2F5}"/>
              </a:ext>
            </a:extLst>
          </p:cNvPr>
          <p:cNvSpPr>
            <a:spLocks noGrp="1"/>
          </p:cNvSpPr>
          <p:nvPr/>
        </p:nvSpPr>
        <p:spPr>
          <a:xfrm>
            <a:off x="10328148" y="3941063"/>
            <a:ext cx="118872" cy="169164"/>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3" name="Connector 92">
            <a:extLst>
              <a:ext uri="{FF2B5EF4-FFF2-40B4-BE49-F238E27FC236}">
                <a16:creationId xmlns:a16="http://schemas.microsoft.com/office/drawing/2014/main" id="{CB9AC7A5-FE18-4351-9ECF-67F70A76CBE7}"/>
              </a:ext>
            </a:extLst>
          </p:cNvPr>
          <p:cNvSpPr>
            <a:spLocks noGrp="1"/>
          </p:cNvSpPr>
          <p:nvPr/>
        </p:nvSpPr>
        <p:spPr>
          <a:xfrm flipH="1">
            <a:off x="10314432" y="4087368"/>
            <a:ext cx="36576"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94" name="Connector 93">
            <a:extLst>
              <a:ext uri="{FF2B5EF4-FFF2-40B4-BE49-F238E27FC236}">
                <a16:creationId xmlns:a16="http://schemas.microsoft.com/office/drawing/2014/main" id="{108A8121-AFD8-4ECC-8B6F-D778CDDD530F}"/>
              </a:ext>
            </a:extLst>
          </p:cNvPr>
          <p:cNvSpPr>
            <a:spLocks noGrp="1"/>
          </p:cNvSpPr>
          <p:nvPr/>
        </p:nvSpPr>
        <p:spPr>
          <a:xfrm>
            <a:off x="10424159" y="4087368"/>
            <a:ext cx="36577" cy="118872"/>
          </a:xfrm>
          <a:prstGeom prst="line">
            <a:avLst/>
          </a:prstGeom>
          <a:ln w="3810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95" name="Connector 94">
            <a:extLst>
              <a:ext uri="{FF2B5EF4-FFF2-40B4-BE49-F238E27FC236}">
                <a16:creationId xmlns:a16="http://schemas.microsoft.com/office/drawing/2014/main" id="{D2BE5A8B-C97D-4217-B18B-9343858EF8CA}"/>
              </a:ext>
            </a:extLst>
          </p:cNvPr>
          <p:cNvSpPr>
            <a:spLocks noGrp="1"/>
          </p:cNvSpPr>
          <p:nvPr/>
        </p:nvSpPr>
        <p:spPr>
          <a:xfrm flipH="1">
            <a:off x="10264140" y="3982211"/>
            <a:ext cx="77723"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96" name="Connector 95">
            <a:extLst>
              <a:ext uri="{FF2B5EF4-FFF2-40B4-BE49-F238E27FC236}">
                <a16:creationId xmlns:a16="http://schemas.microsoft.com/office/drawing/2014/main" id="{643D4574-B446-40DA-854F-598CE1E90BE8}"/>
              </a:ext>
            </a:extLst>
          </p:cNvPr>
          <p:cNvSpPr>
            <a:spLocks noGrp="1"/>
          </p:cNvSpPr>
          <p:nvPr/>
        </p:nvSpPr>
        <p:spPr>
          <a:xfrm>
            <a:off x="10433304" y="3982211"/>
            <a:ext cx="77724" cy="64009"/>
          </a:xfrm>
          <a:prstGeom prst="line">
            <a:avLst/>
          </a:prstGeom>
          <a:ln w="31750">
            <a:solidFill>
              <a:srgbClr val="5A8DEE"/>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97" name="TextBox 96">
            <a:extLst>
              <a:ext uri="{FF2B5EF4-FFF2-40B4-BE49-F238E27FC236}">
                <a16:creationId xmlns:a16="http://schemas.microsoft.com/office/drawing/2014/main" id="{D1AB222E-16CA-4E93-B38D-701102F6075A}"/>
              </a:ext>
            </a:extLst>
          </p:cNvPr>
          <p:cNvSpPr>
            <a:spLocks noGrp="1"/>
          </p:cNvSpPr>
          <p:nvPr/>
        </p:nvSpPr>
        <p:spPr>
          <a:xfrm>
            <a:off x="9180576" y="5001768"/>
            <a:ext cx="1554480" cy="164592"/>
          </a:xfrm>
          <a:prstGeom prst="rect">
            <a:avLst/>
          </a:prstGeom>
          <a:noFill/>
        </p:spPr>
        <p:txBody>
          <a:bodyPr wrap="square" lIns="0" tIns="0" rIns="0" bIns="0" anchor="t">
            <a:spAutoFit/>
          </a:bodyPr>
          <a:lstStyle/>
          <a:p>
            <a:pPr algn="ctr">
              <a:spcBef>
                <a:spcPts val="0"/>
              </a:spcBef>
              <a:spcAft>
                <a:spcPts val="0"/>
              </a:spcAft>
              <a:buNone/>
              <a:defRPr sz="900" b="1" i="0">
                <a:solidFill>
                  <a:srgbClr val="5E6D7B"/>
                </a:solidFill>
                <a:latin typeface="Aptos"/>
                <a:ea typeface="Aptos"/>
                <a:cs typeface="Aptos"/>
              </a:defRPr>
            </a:pPr>
            <a:r>
              <a:t>t = 5</a:t>
            </a:r>
          </a:p>
        </p:txBody>
      </p:sp>
      <p:sp>
        <p:nvSpPr>
          <p:cNvPr id="98" name="Rounded Rectangle 97">
            <a:extLst>
              <a:ext uri="{FF2B5EF4-FFF2-40B4-BE49-F238E27FC236}">
                <a16:creationId xmlns:a16="http://schemas.microsoft.com/office/drawing/2014/main" id="{64E5A7F6-BB0B-4C54-8D81-06A41F4B5E76}"/>
              </a:ext>
            </a:extLst>
          </p:cNvPr>
          <p:cNvSpPr>
            <a:spLocks noGrp="1"/>
          </p:cNvSpPr>
          <p:nvPr/>
        </p:nvSpPr>
        <p:spPr>
          <a:xfrm>
            <a:off x="749808" y="5422392"/>
            <a:ext cx="10049256" cy="566928"/>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9" name="TextBox 98">
            <a:extLst>
              <a:ext uri="{FF2B5EF4-FFF2-40B4-BE49-F238E27FC236}">
                <a16:creationId xmlns:a16="http://schemas.microsoft.com/office/drawing/2014/main" id="{8246B38F-13DC-43DB-9274-B680C74D4364}"/>
              </a:ext>
            </a:extLst>
          </p:cNvPr>
          <p:cNvSpPr>
            <a:spLocks noGrp="1"/>
          </p:cNvSpPr>
          <p:nvPr/>
        </p:nvSpPr>
        <p:spPr>
          <a:xfrm>
            <a:off x="950976" y="5541264"/>
            <a:ext cx="9646920" cy="310896"/>
          </a:xfrm>
          <a:prstGeom prst="rect">
            <a:avLst/>
          </a:prstGeom>
          <a:noFill/>
        </p:spPr>
        <p:txBody>
          <a:bodyPr wrap="square" lIns="0" tIns="0" rIns="0" bIns="0" anchor="ctr">
            <a:spAutoFit/>
          </a:bodyPr>
          <a:lstStyle/>
          <a:p>
            <a:pPr algn="ctr">
              <a:spcBef>
                <a:spcPts val="0"/>
              </a:spcBef>
              <a:spcAft>
                <a:spcPts val="0"/>
              </a:spcAft>
              <a:buNone/>
              <a:defRPr sz="1400" b="1" i="0">
                <a:solidFill>
                  <a:srgbClr val="122438"/>
                </a:solidFill>
                <a:latin typeface="Aptos"/>
                <a:ea typeface="Aptos"/>
                <a:cs typeface="Aptos"/>
              </a:defRPr>
            </a:pPr>
            <a:r>
              <a:t>Output: a pixel-level mask for the same referred instance across the video</a:t>
            </a:r>
          </a:p>
        </p:txBody>
      </p:sp>
      <p:sp>
        <p:nvSpPr>
          <p:cNvPr id="100" name="TextBox 99">
            <a:extLst>
              <a:ext uri="{FF2B5EF4-FFF2-40B4-BE49-F238E27FC236}">
                <a16:creationId xmlns:a16="http://schemas.microsoft.com/office/drawing/2014/main" id="{2738C0A0-AD1D-4104-99FF-0FEF582AC1DD}"/>
              </a:ext>
            </a:extLst>
          </p:cNvPr>
          <p:cNvSpPr>
            <a:spLocks noGrp="1"/>
          </p:cNvSpPr>
          <p:nvPr/>
        </p:nvSpPr>
        <p:spPr>
          <a:xfrm>
            <a:off x="777240" y="6099048"/>
            <a:ext cx="10195560" cy="201168"/>
          </a:xfrm>
          <a:prstGeom prst="rect">
            <a:avLst/>
          </a:prstGeom>
          <a:noFill/>
        </p:spPr>
        <p:txBody>
          <a:bodyPr wrap="square" lIns="0" tIns="0" rIns="0" bIns="0" anchor="t">
            <a:spAutoFit/>
          </a:bodyPr>
          <a:lstStyle/>
          <a:p>
            <a:pPr algn="ctr">
              <a:spcBef>
                <a:spcPts val="0"/>
              </a:spcBef>
              <a:spcAft>
                <a:spcPts val="0"/>
              </a:spcAft>
              <a:buNone/>
              <a:defRPr sz="1050" b="0" i="0">
                <a:solidFill>
                  <a:srgbClr val="5E6D7B"/>
                </a:solidFill>
                <a:latin typeface="Aptos"/>
                <a:ea typeface="Aptos"/>
                <a:cs typeface="Aptos"/>
              </a:defRPr>
            </a:pPr>
            <a:r>
              <a:t>Unlike semi-supervised VOS, RVOS specifies the target with language instead of a first-frame mask.</a:t>
            </a:r>
          </a:p>
        </p:txBody>
      </p:sp>
    </p:spTree>
    <p:extLst>
      <p:ext uri="{BB962C8B-B14F-4D97-AF65-F5344CB8AC3E}">
        <p14:creationId xmlns:p14="http://schemas.microsoft.com/office/powerpoint/2010/main" val="61952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27B96D-43B4-42C7-9B1F-D2010E7ECE87}"/>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TASK FORMULATION</a:t>
            </a:r>
          </a:p>
        </p:txBody>
      </p:sp>
      <p:sp>
        <p:nvSpPr>
          <p:cNvPr id="3" name="TextBox 2">
            <a:extLst>
              <a:ext uri="{FF2B5EF4-FFF2-40B4-BE49-F238E27FC236}">
                <a16:creationId xmlns:a16="http://schemas.microsoft.com/office/drawing/2014/main" id="{96861A22-A623-49FE-B4FA-29B859E19A8C}"/>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The RVOS pipeline has three jobs</a:t>
            </a:r>
          </a:p>
        </p:txBody>
      </p:sp>
      <p:sp>
        <p:nvSpPr>
          <p:cNvPr id="4" name="Connector 3">
            <a:extLst>
              <a:ext uri="{FF2B5EF4-FFF2-40B4-BE49-F238E27FC236}">
                <a16:creationId xmlns:a16="http://schemas.microsoft.com/office/drawing/2014/main" id="{DC801056-F628-41A2-A80A-C070E6BC55E0}"/>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C615A56F-50BB-4661-8DC9-B8E7749C5A05}"/>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BBB23921-717D-4CD8-B81F-7EDCDD0382DD}"/>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III.</a:t>
            </a:r>
          </a:p>
        </p:txBody>
      </p:sp>
      <p:sp>
        <p:nvSpPr>
          <p:cNvPr id="8" name="Rounded Rectangle 7">
            <a:extLst>
              <a:ext uri="{FF2B5EF4-FFF2-40B4-BE49-F238E27FC236}">
                <a16:creationId xmlns:a16="http://schemas.microsoft.com/office/drawing/2014/main" id="{F1681214-EA39-44A8-AF49-794BE9787C9B}"/>
              </a:ext>
            </a:extLst>
          </p:cNvPr>
          <p:cNvSpPr>
            <a:spLocks noGrp="1"/>
          </p:cNvSpPr>
          <p:nvPr/>
        </p:nvSpPr>
        <p:spPr>
          <a:xfrm>
            <a:off x="713232" y="1874519"/>
            <a:ext cx="3127248" cy="1883664"/>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C3D7A62D-28B6-43F8-BC04-F3722829335E}"/>
              </a:ext>
            </a:extLst>
          </p:cNvPr>
          <p:cNvSpPr>
            <a:spLocks noGrp="1"/>
          </p:cNvSpPr>
          <p:nvPr/>
        </p:nvSpPr>
        <p:spPr>
          <a:xfrm>
            <a:off x="914400" y="2057400"/>
            <a:ext cx="1920240"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97B124A-F04E-4335-9077-551829B479C9}"/>
              </a:ext>
            </a:extLst>
          </p:cNvPr>
          <p:cNvSpPr>
            <a:spLocks noGrp="1"/>
          </p:cNvSpPr>
          <p:nvPr/>
        </p:nvSpPr>
        <p:spPr>
          <a:xfrm>
            <a:off x="987552" y="2080260"/>
            <a:ext cx="1773936" cy="210312"/>
          </a:xfrm>
          <a:prstGeom prst="rect">
            <a:avLst/>
          </a:prstGeom>
          <a:noFill/>
        </p:spPr>
        <p:txBody>
          <a:bodyPr wrap="square" lIns="0" tIns="0" rIns="0" bIns="0" anchor="ctr">
            <a:spAutoFit/>
          </a:bodyPr>
          <a:lstStyle/>
          <a:p>
            <a:pPr algn="ctr">
              <a:spcBef>
                <a:spcPts val="0"/>
              </a:spcBef>
              <a:spcAft>
                <a:spcPts val="0"/>
              </a:spcAft>
              <a:buNone/>
              <a:defRPr sz="800" b="1" i="0">
                <a:solidFill>
                  <a:srgbClr val="5A8DEE"/>
                </a:solidFill>
                <a:latin typeface="Aptos"/>
                <a:ea typeface="Aptos"/>
                <a:cs typeface="Aptos"/>
              </a:defRPr>
            </a:pPr>
            <a:r>
              <a:t>01  ENCODE THE VIDEO</a:t>
            </a:r>
          </a:p>
        </p:txBody>
      </p:sp>
      <p:sp>
        <p:nvSpPr>
          <p:cNvPr id="11" name="TextBox 10">
            <a:extLst>
              <a:ext uri="{FF2B5EF4-FFF2-40B4-BE49-F238E27FC236}">
                <a16:creationId xmlns:a16="http://schemas.microsoft.com/office/drawing/2014/main" id="{183AC396-3F16-4B53-AC17-444251543FF7}"/>
              </a:ext>
            </a:extLst>
          </p:cNvPr>
          <p:cNvSpPr>
            <a:spLocks noGrp="1"/>
          </p:cNvSpPr>
          <p:nvPr/>
        </p:nvSpPr>
        <p:spPr>
          <a:xfrm>
            <a:off x="941832" y="2578608"/>
            <a:ext cx="2670048" cy="841248"/>
          </a:xfrm>
          <a:prstGeom prst="rect">
            <a:avLst/>
          </a:prstGeom>
          <a:noFill/>
        </p:spPr>
        <p:txBody>
          <a:bodyPr wrap="square" lIns="0" tIns="0" rIns="0" bIns="0" anchor="t">
            <a:spAutoFit/>
          </a:bodyPr>
          <a:lstStyle/>
          <a:p>
            <a:pPr algn="l">
              <a:spcBef>
                <a:spcPts val="0"/>
              </a:spcBef>
              <a:spcAft>
                <a:spcPts val="0"/>
              </a:spcAft>
              <a:buNone/>
              <a:defRPr sz="1500" b="0" i="0">
                <a:solidFill>
                  <a:srgbClr val="172A3A"/>
                </a:solidFill>
                <a:latin typeface="Aptos"/>
                <a:ea typeface="Aptos"/>
                <a:cs typeface="Aptos"/>
              </a:defRPr>
            </a:pPr>
            <a:r>
              <a:t>Extract spatial features from frames and retain information that can connect them.</a:t>
            </a:r>
          </a:p>
        </p:txBody>
      </p:sp>
      <p:sp>
        <p:nvSpPr>
          <p:cNvPr id="12" name="Rounded Rectangle 11">
            <a:extLst>
              <a:ext uri="{FF2B5EF4-FFF2-40B4-BE49-F238E27FC236}">
                <a16:creationId xmlns:a16="http://schemas.microsoft.com/office/drawing/2014/main" id="{D1AF5850-AE62-4DB5-8F01-217554E12FAC}"/>
              </a:ext>
            </a:extLst>
          </p:cNvPr>
          <p:cNvSpPr>
            <a:spLocks noGrp="1"/>
          </p:cNvSpPr>
          <p:nvPr/>
        </p:nvSpPr>
        <p:spPr>
          <a:xfrm>
            <a:off x="4517136" y="1874519"/>
            <a:ext cx="3127248" cy="1883664"/>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ounded Rectangle 12">
            <a:extLst>
              <a:ext uri="{FF2B5EF4-FFF2-40B4-BE49-F238E27FC236}">
                <a16:creationId xmlns:a16="http://schemas.microsoft.com/office/drawing/2014/main" id="{8DE71B5D-2C3B-4C28-9D2F-C1899D5831E6}"/>
              </a:ext>
            </a:extLst>
          </p:cNvPr>
          <p:cNvSpPr>
            <a:spLocks noGrp="1"/>
          </p:cNvSpPr>
          <p:nvPr/>
        </p:nvSpPr>
        <p:spPr>
          <a:xfrm>
            <a:off x="4718304" y="2057400"/>
            <a:ext cx="192024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766A8CCA-ED76-497B-A49D-BE978503D40E}"/>
              </a:ext>
            </a:extLst>
          </p:cNvPr>
          <p:cNvSpPr>
            <a:spLocks noGrp="1"/>
          </p:cNvSpPr>
          <p:nvPr/>
        </p:nvSpPr>
        <p:spPr>
          <a:xfrm>
            <a:off x="4791456" y="2080260"/>
            <a:ext cx="1773936" cy="210312"/>
          </a:xfrm>
          <a:prstGeom prst="rect">
            <a:avLst/>
          </a:prstGeom>
          <a:noFill/>
        </p:spPr>
        <p:txBody>
          <a:bodyPr wrap="square" lIns="0" tIns="0" rIns="0" bIns="0" anchor="ctr">
            <a:spAutoFit/>
          </a:bodyPr>
          <a:lstStyle/>
          <a:p>
            <a:pPr algn="ctr">
              <a:spcBef>
                <a:spcPts val="0"/>
              </a:spcBef>
              <a:spcAft>
                <a:spcPts val="0"/>
              </a:spcAft>
              <a:buNone/>
              <a:defRPr sz="800" b="1" i="0">
                <a:solidFill>
                  <a:srgbClr val="087E78"/>
                </a:solidFill>
                <a:latin typeface="Aptos"/>
                <a:ea typeface="Aptos"/>
                <a:cs typeface="Aptos"/>
              </a:defRPr>
            </a:pPr>
            <a:r>
              <a:t>02  GROUND THE LANGUAGE</a:t>
            </a:r>
          </a:p>
        </p:txBody>
      </p:sp>
      <p:sp>
        <p:nvSpPr>
          <p:cNvPr id="15" name="TextBox 14">
            <a:extLst>
              <a:ext uri="{FF2B5EF4-FFF2-40B4-BE49-F238E27FC236}">
                <a16:creationId xmlns:a16="http://schemas.microsoft.com/office/drawing/2014/main" id="{26CE66BA-BAA4-40D5-B276-57E64F66BE36}"/>
              </a:ext>
            </a:extLst>
          </p:cNvPr>
          <p:cNvSpPr>
            <a:spLocks noGrp="1"/>
          </p:cNvSpPr>
          <p:nvPr/>
        </p:nvSpPr>
        <p:spPr>
          <a:xfrm>
            <a:off x="4745736" y="2578608"/>
            <a:ext cx="2670048" cy="841248"/>
          </a:xfrm>
          <a:prstGeom prst="rect">
            <a:avLst/>
          </a:prstGeom>
          <a:noFill/>
        </p:spPr>
        <p:txBody>
          <a:bodyPr wrap="square" lIns="0" tIns="0" rIns="0" bIns="0" anchor="t">
            <a:spAutoFit/>
          </a:bodyPr>
          <a:lstStyle/>
          <a:p>
            <a:pPr algn="l">
              <a:spcBef>
                <a:spcPts val="0"/>
              </a:spcBef>
              <a:spcAft>
                <a:spcPts val="0"/>
              </a:spcAft>
              <a:buNone/>
              <a:defRPr sz="1500" b="0" i="0">
                <a:solidFill>
                  <a:srgbClr val="172A3A"/>
                </a:solidFill>
                <a:latin typeface="Aptos"/>
                <a:ea typeface="Aptos"/>
                <a:cs typeface="Aptos"/>
              </a:defRPr>
            </a:pPr>
            <a:r>
              <a:t>Match words and phrases to candidate objects, actions, and temporal evidence.</a:t>
            </a:r>
          </a:p>
        </p:txBody>
      </p:sp>
      <p:sp>
        <p:nvSpPr>
          <p:cNvPr id="16" name="Rounded Rectangle 15">
            <a:extLst>
              <a:ext uri="{FF2B5EF4-FFF2-40B4-BE49-F238E27FC236}">
                <a16:creationId xmlns:a16="http://schemas.microsoft.com/office/drawing/2014/main" id="{DEA5867D-A9E9-4942-8D30-E9EDF441C4AF}"/>
              </a:ext>
            </a:extLst>
          </p:cNvPr>
          <p:cNvSpPr>
            <a:spLocks noGrp="1"/>
          </p:cNvSpPr>
          <p:nvPr/>
        </p:nvSpPr>
        <p:spPr>
          <a:xfrm>
            <a:off x="8321040" y="1874519"/>
            <a:ext cx="3127248" cy="1883664"/>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ounded Rectangle 16">
            <a:extLst>
              <a:ext uri="{FF2B5EF4-FFF2-40B4-BE49-F238E27FC236}">
                <a16:creationId xmlns:a16="http://schemas.microsoft.com/office/drawing/2014/main" id="{662FCCA9-C281-4295-9663-78DDD9A92ECA}"/>
              </a:ext>
            </a:extLst>
          </p:cNvPr>
          <p:cNvSpPr>
            <a:spLocks noGrp="1"/>
          </p:cNvSpPr>
          <p:nvPr/>
        </p:nvSpPr>
        <p:spPr>
          <a:xfrm>
            <a:off x="8522208" y="2057400"/>
            <a:ext cx="1920240"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BEF4751-80F8-4114-8EEE-433C9A3DFC3C}"/>
              </a:ext>
            </a:extLst>
          </p:cNvPr>
          <p:cNvSpPr>
            <a:spLocks noGrp="1"/>
          </p:cNvSpPr>
          <p:nvPr/>
        </p:nvSpPr>
        <p:spPr>
          <a:xfrm>
            <a:off x="8595360" y="2080260"/>
            <a:ext cx="1773936" cy="210312"/>
          </a:xfrm>
          <a:prstGeom prst="rect">
            <a:avLst/>
          </a:prstGeom>
          <a:noFill/>
        </p:spPr>
        <p:txBody>
          <a:bodyPr wrap="square" lIns="0" tIns="0" rIns="0" bIns="0" anchor="ctr">
            <a:spAutoFit/>
          </a:bodyPr>
          <a:lstStyle/>
          <a:p>
            <a:pPr algn="ctr">
              <a:spcBef>
                <a:spcPts val="0"/>
              </a:spcBef>
              <a:spcAft>
                <a:spcPts val="0"/>
              </a:spcAft>
              <a:buNone/>
              <a:defRPr sz="800" b="1" i="0">
                <a:solidFill>
                  <a:srgbClr val="F07167"/>
                </a:solidFill>
                <a:latin typeface="Aptos"/>
                <a:ea typeface="Aptos"/>
                <a:cs typeface="Aptos"/>
              </a:defRPr>
            </a:pPr>
            <a:r>
              <a:t>03  PREDICT MASKS</a:t>
            </a:r>
          </a:p>
        </p:txBody>
      </p:sp>
      <p:sp>
        <p:nvSpPr>
          <p:cNvPr id="19" name="TextBox 18">
            <a:extLst>
              <a:ext uri="{FF2B5EF4-FFF2-40B4-BE49-F238E27FC236}">
                <a16:creationId xmlns:a16="http://schemas.microsoft.com/office/drawing/2014/main" id="{58F7405A-FBB3-4557-8B24-B6838379E79A}"/>
              </a:ext>
            </a:extLst>
          </p:cNvPr>
          <p:cNvSpPr>
            <a:spLocks noGrp="1"/>
          </p:cNvSpPr>
          <p:nvPr/>
        </p:nvSpPr>
        <p:spPr>
          <a:xfrm>
            <a:off x="8549640" y="2578608"/>
            <a:ext cx="2670048" cy="841248"/>
          </a:xfrm>
          <a:prstGeom prst="rect">
            <a:avLst/>
          </a:prstGeom>
          <a:noFill/>
        </p:spPr>
        <p:txBody>
          <a:bodyPr wrap="square" lIns="0" tIns="0" rIns="0" bIns="0" anchor="t">
            <a:spAutoFit/>
          </a:bodyPr>
          <a:lstStyle/>
          <a:p>
            <a:pPr algn="l">
              <a:spcBef>
                <a:spcPts val="0"/>
              </a:spcBef>
              <a:spcAft>
                <a:spcPts val="0"/>
              </a:spcAft>
              <a:buNone/>
              <a:defRPr sz="1500" b="0" i="0">
                <a:solidFill>
                  <a:srgbClr val="172A3A"/>
                </a:solidFill>
                <a:latin typeface="Aptos"/>
                <a:ea typeface="Aptos"/>
                <a:cs typeface="Aptos"/>
              </a:defRPr>
            </a:pPr>
            <a:r>
              <a:t>Decode one target mask per frame and keep the same instance over time.</a:t>
            </a:r>
          </a:p>
        </p:txBody>
      </p:sp>
      <p:sp>
        <p:nvSpPr>
          <p:cNvPr id="20" name="Right Arrow 19">
            <a:extLst>
              <a:ext uri="{FF2B5EF4-FFF2-40B4-BE49-F238E27FC236}">
                <a16:creationId xmlns:a16="http://schemas.microsoft.com/office/drawing/2014/main" id="{282F1E71-0E25-4C1C-AFAF-D1D9ED76F509}"/>
              </a:ext>
            </a:extLst>
          </p:cNvPr>
          <p:cNvSpPr>
            <a:spLocks noGrp="1"/>
          </p:cNvSpPr>
          <p:nvPr/>
        </p:nvSpPr>
        <p:spPr>
          <a:xfrm>
            <a:off x="3977639" y="2596896"/>
            <a:ext cx="347472"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ight Arrow 20">
            <a:extLst>
              <a:ext uri="{FF2B5EF4-FFF2-40B4-BE49-F238E27FC236}">
                <a16:creationId xmlns:a16="http://schemas.microsoft.com/office/drawing/2014/main" id="{43BF8967-B623-46DF-BFCE-A8F459F50F2B}"/>
              </a:ext>
            </a:extLst>
          </p:cNvPr>
          <p:cNvSpPr>
            <a:spLocks noGrp="1"/>
          </p:cNvSpPr>
          <p:nvPr/>
        </p:nvSpPr>
        <p:spPr>
          <a:xfrm>
            <a:off x="7781544" y="2596896"/>
            <a:ext cx="347472"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ounded Rectangle 21">
            <a:extLst>
              <a:ext uri="{FF2B5EF4-FFF2-40B4-BE49-F238E27FC236}">
                <a16:creationId xmlns:a16="http://schemas.microsoft.com/office/drawing/2014/main" id="{0A2E2250-313C-4FDA-8F1E-0CB9A9133C55}"/>
              </a:ext>
            </a:extLst>
          </p:cNvPr>
          <p:cNvSpPr>
            <a:spLocks noGrp="1"/>
          </p:cNvSpPr>
          <p:nvPr/>
        </p:nvSpPr>
        <p:spPr>
          <a:xfrm>
            <a:off x="713232" y="4224528"/>
            <a:ext cx="3950208" cy="1188720"/>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C27B721-DF39-4D38-BFBB-29947F3BCC40}"/>
              </a:ext>
            </a:extLst>
          </p:cNvPr>
          <p:cNvSpPr>
            <a:spLocks noGrp="1"/>
          </p:cNvSpPr>
          <p:nvPr/>
        </p:nvSpPr>
        <p:spPr>
          <a:xfrm>
            <a:off x="932688" y="4416552"/>
            <a:ext cx="3520440" cy="201168"/>
          </a:xfrm>
          <a:prstGeom prst="rect">
            <a:avLst/>
          </a:prstGeom>
          <a:noFill/>
        </p:spPr>
        <p:txBody>
          <a:bodyPr wrap="square" lIns="0" tIns="0" rIns="0" bIns="0" anchor="t">
            <a:spAutoFit/>
          </a:bodyPr>
          <a:lstStyle/>
          <a:p>
            <a:pPr algn="l">
              <a:spcBef>
                <a:spcPts val="0"/>
              </a:spcBef>
              <a:spcAft>
                <a:spcPts val="0"/>
              </a:spcAft>
              <a:buNone/>
              <a:defRPr sz="900" b="1" i="0">
                <a:solidFill>
                  <a:srgbClr val="65D5CC"/>
                </a:solidFill>
                <a:latin typeface="Aptos"/>
                <a:ea typeface="Aptos"/>
                <a:cs typeface="Aptos"/>
              </a:defRPr>
            </a:pPr>
            <a:r>
              <a:t>INPUT</a:t>
            </a:r>
          </a:p>
        </p:txBody>
      </p:sp>
      <p:sp>
        <p:nvSpPr>
          <p:cNvPr id="24" name="TextBox 23">
            <a:extLst>
              <a:ext uri="{FF2B5EF4-FFF2-40B4-BE49-F238E27FC236}">
                <a16:creationId xmlns:a16="http://schemas.microsoft.com/office/drawing/2014/main" id="{BCBB500E-F1E6-48FF-B595-174F4430EBFE}"/>
              </a:ext>
            </a:extLst>
          </p:cNvPr>
          <p:cNvSpPr>
            <a:spLocks noGrp="1"/>
          </p:cNvSpPr>
          <p:nvPr/>
        </p:nvSpPr>
        <p:spPr>
          <a:xfrm>
            <a:off x="932688" y="4700016"/>
            <a:ext cx="3511296" cy="411480"/>
          </a:xfrm>
          <a:prstGeom prst="rect">
            <a:avLst/>
          </a:prstGeom>
          <a:noFill/>
        </p:spPr>
        <p:txBody>
          <a:bodyPr wrap="square" lIns="0" tIns="0" rIns="0" bIns="0" anchor="t">
            <a:spAutoFit/>
          </a:bodyPr>
          <a:lstStyle/>
          <a:p>
            <a:pPr algn="l">
              <a:spcBef>
                <a:spcPts val="0"/>
              </a:spcBef>
              <a:spcAft>
                <a:spcPts val="0"/>
              </a:spcAft>
              <a:buNone/>
              <a:defRPr sz="1800" b="1" i="0">
                <a:solidFill>
                  <a:srgbClr val="FFFFFF"/>
                </a:solidFill>
                <a:latin typeface="Aptos"/>
                <a:ea typeface="Aptos"/>
                <a:cs typeface="Aptos"/>
              </a:defRPr>
            </a:pPr>
            <a:r>
              <a:t>Video V  +  expression E</a:t>
            </a:r>
          </a:p>
        </p:txBody>
      </p:sp>
      <p:sp>
        <p:nvSpPr>
          <p:cNvPr id="25" name="Right Arrow 24">
            <a:extLst>
              <a:ext uri="{FF2B5EF4-FFF2-40B4-BE49-F238E27FC236}">
                <a16:creationId xmlns:a16="http://schemas.microsoft.com/office/drawing/2014/main" id="{2A045164-ED42-48A6-9029-2DD86FDFAC34}"/>
              </a:ext>
            </a:extLst>
          </p:cNvPr>
          <p:cNvSpPr>
            <a:spLocks noGrp="1"/>
          </p:cNvSpPr>
          <p:nvPr/>
        </p:nvSpPr>
        <p:spPr>
          <a:xfrm>
            <a:off x="4910328" y="4617720"/>
            <a:ext cx="475488" cy="310896"/>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ounded Rectangle 25">
            <a:extLst>
              <a:ext uri="{FF2B5EF4-FFF2-40B4-BE49-F238E27FC236}">
                <a16:creationId xmlns:a16="http://schemas.microsoft.com/office/drawing/2014/main" id="{D9BD3BE3-5655-400E-AA57-ADE873EB61E6}"/>
              </a:ext>
            </a:extLst>
          </p:cNvPr>
          <p:cNvSpPr>
            <a:spLocks noGrp="1"/>
          </p:cNvSpPr>
          <p:nvPr/>
        </p:nvSpPr>
        <p:spPr>
          <a:xfrm>
            <a:off x="5614416" y="4224528"/>
            <a:ext cx="5833872" cy="11887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3B95BAA2-FC9F-414F-B4D9-DE996F4BA136}"/>
              </a:ext>
            </a:extLst>
          </p:cNvPr>
          <p:cNvSpPr>
            <a:spLocks noGrp="1"/>
          </p:cNvSpPr>
          <p:nvPr/>
        </p:nvSpPr>
        <p:spPr>
          <a:xfrm>
            <a:off x="5852160" y="4416552"/>
            <a:ext cx="5394960" cy="201168"/>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OUTPUT</a:t>
            </a:r>
          </a:p>
        </p:txBody>
      </p:sp>
      <p:sp>
        <p:nvSpPr>
          <p:cNvPr id="28" name="Rounded Rectangle 27">
            <a:extLst>
              <a:ext uri="{FF2B5EF4-FFF2-40B4-BE49-F238E27FC236}">
                <a16:creationId xmlns:a16="http://schemas.microsoft.com/office/drawing/2014/main" id="{F2EE1FF8-2B51-44EF-9A7C-C046B2D14BBF}"/>
              </a:ext>
            </a:extLst>
          </p:cNvPr>
          <p:cNvSpPr>
            <a:spLocks noGrp="1"/>
          </p:cNvSpPr>
          <p:nvPr/>
        </p:nvSpPr>
        <p:spPr>
          <a:xfrm>
            <a:off x="5870448"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Oval 28">
            <a:extLst>
              <a:ext uri="{FF2B5EF4-FFF2-40B4-BE49-F238E27FC236}">
                <a16:creationId xmlns:a16="http://schemas.microsoft.com/office/drawing/2014/main" id="{18E0B46F-4361-4E73-8740-FF1BC7CD593E}"/>
              </a:ext>
            </a:extLst>
          </p:cNvPr>
          <p:cNvSpPr>
            <a:spLocks noGrp="1"/>
          </p:cNvSpPr>
          <p:nvPr/>
        </p:nvSpPr>
        <p:spPr>
          <a:xfrm>
            <a:off x="6172200"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ounded Rectangle 29">
            <a:extLst>
              <a:ext uri="{FF2B5EF4-FFF2-40B4-BE49-F238E27FC236}">
                <a16:creationId xmlns:a16="http://schemas.microsoft.com/office/drawing/2014/main" id="{034D1269-EE29-460D-814D-39EAEC309E2A}"/>
              </a:ext>
            </a:extLst>
          </p:cNvPr>
          <p:cNvSpPr>
            <a:spLocks noGrp="1"/>
          </p:cNvSpPr>
          <p:nvPr/>
        </p:nvSpPr>
        <p:spPr>
          <a:xfrm>
            <a:off x="6126480"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ounded Rectangle 30">
            <a:extLst>
              <a:ext uri="{FF2B5EF4-FFF2-40B4-BE49-F238E27FC236}">
                <a16:creationId xmlns:a16="http://schemas.microsoft.com/office/drawing/2014/main" id="{4DEDD127-DE94-4006-AB8A-645FF929E3B2}"/>
              </a:ext>
            </a:extLst>
          </p:cNvPr>
          <p:cNvSpPr>
            <a:spLocks noGrp="1"/>
          </p:cNvSpPr>
          <p:nvPr/>
        </p:nvSpPr>
        <p:spPr>
          <a:xfrm>
            <a:off x="6848856"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Oval 31">
            <a:extLst>
              <a:ext uri="{FF2B5EF4-FFF2-40B4-BE49-F238E27FC236}">
                <a16:creationId xmlns:a16="http://schemas.microsoft.com/office/drawing/2014/main" id="{73F1A51C-CD1D-428F-BBC3-04FA624AFB53}"/>
              </a:ext>
            </a:extLst>
          </p:cNvPr>
          <p:cNvSpPr>
            <a:spLocks noGrp="1"/>
          </p:cNvSpPr>
          <p:nvPr/>
        </p:nvSpPr>
        <p:spPr>
          <a:xfrm>
            <a:off x="7150608"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ounded Rectangle 32">
            <a:extLst>
              <a:ext uri="{FF2B5EF4-FFF2-40B4-BE49-F238E27FC236}">
                <a16:creationId xmlns:a16="http://schemas.microsoft.com/office/drawing/2014/main" id="{1B1D2FEC-D5EC-4D92-B8F5-FD8D06310B28}"/>
              </a:ext>
            </a:extLst>
          </p:cNvPr>
          <p:cNvSpPr>
            <a:spLocks noGrp="1"/>
          </p:cNvSpPr>
          <p:nvPr/>
        </p:nvSpPr>
        <p:spPr>
          <a:xfrm>
            <a:off x="7104888"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ounded Rectangle 33">
            <a:extLst>
              <a:ext uri="{FF2B5EF4-FFF2-40B4-BE49-F238E27FC236}">
                <a16:creationId xmlns:a16="http://schemas.microsoft.com/office/drawing/2014/main" id="{DA998E92-872E-401B-9515-98937559E1A2}"/>
              </a:ext>
            </a:extLst>
          </p:cNvPr>
          <p:cNvSpPr>
            <a:spLocks noGrp="1"/>
          </p:cNvSpPr>
          <p:nvPr/>
        </p:nvSpPr>
        <p:spPr>
          <a:xfrm>
            <a:off x="7827264"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Oval 34">
            <a:extLst>
              <a:ext uri="{FF2B5EF4-FFF2-40B4-BE49-F238E27FC236}">
                <a16:creationId xmlns:a16="http://schemas.microsoft.com/office/drawing/2014/main" id="{CA809057-101A-41D0-970C-81B441A40822}"/>
              </a:ext>
            </a:extLst>
          </p:cNvPr>
          <p:cNvSpPr>
            <a:spLocks noGrp="1"/>
          </p:cNvSpPr>
          <p:nvPr/>
        </p:nvSpPr>
        <p:spPr>
          <a:xfrm>
            <a:off x="8129016"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ounded Rectangle 35">
            <a:extLst>
              <a:ext uri="{FF2B5EF4-FFF2-40B4-BE49-F238E27FC236}">
                <a16:creationId xmlns:a16="http://schemas.microsoft.com/office/drawing/2014/main" id="{94E40717-5B35-47BA-B812-9289974BA156}"/>
              </a:ext>
            </a:extLst>
          </p:cNvPr>
          <p:cNvSpPr>
            <a:spLocks noGrp="1"/>
          </p:cNvSpPr>
          <p:nvPr/>
        </p:nvSpPr>
        <p:spPr>
          <a:xfrm>
            <a:off x="8083296"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Rounded Rectangle 36">
            <a:extLst>
              <a:ext uri="{FF2B5EF4-FFF2-40B4-BE49-F238E27FC236}">
                <a16:creationId xmlns:a16="http://schemas.microsoft.com/office/drawing/2014/main" id="{727C1A2E-0D67-42F3-96B6-8245D323B28E}"/>
              </a:ext>
            </a:extLst>
          </p:cNvPr>
          <p:cNvSpPr>
            <a:spLocks noGrp="1"/>
          </p:cNvSpPr>
          <p:nvPr/>
        </p:nvSpPr>
        <p:spPr>
          <a:xfrm>
            <a:off x="8805672"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Oval 37">
            <a:extLst>
              <a:ext uri="{FF2B5EF4-FFF2-40B4-BE49-F238E27FC236}">
                <a16:creationId xmlns:a16="http://schemas.microsoft.com/office/drawing/2014/main" id="{B11AFEE7-F921-461E-9EB7-5C7C47D56F51}"/>
              </a:ext>
            </a:extLst>
          </p:cNvPr>
          <p:cNvSpPr>
            <a:spLocks noGrp="1"/>
          </p:cNvSpPr>
          <p:nvPr/>
        </p:nvSpPr>
        <p:spPr>
          <a:xfrm>
            <a:off x="9107424"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ounded Rectangle 38">
            <a:extLst>
              <a:ext uri="{FF2B5EF4-FFF2-40B4-BE49-F238E27FC236}">
                <a16:creationId xmlns:a16="http://schemas.microsoft.com/office/drawing/2014/main" id="{4C3041AB-35F5-46FD-8B2A-AED233FB95C3}"/>
              </a:ext>
            </a:extLst>
          </p:cNvPr>
          <p:cNvSpPr>
            <a:spLocks noGrp="1"/>
          </p:cNvSpPr>
          <p:nvPr/>
        </p:nvSpPr>
        <p:spPr>
          <a:xfrm>
            <a:off x="9061704"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ounded Rectangle 39">
            <a:extLst>
              <a:ext uri="{FF2B5EF4-FFF2-40B4-BE49-F238E27FC236}">
                <a16:creationId xmlns:a16="http://schemas.microsoft.com/office/drawing/2014/main" id="{ABEAD421-3012-45F6-BDB0-DC7F4B17EE1A}"/>
              </a:ext>
            </a:extLst>
          </p:cNvPr>
          <p:cNvSpPr>
            <a:spLocks noGrp="1"/>
          </p:cNvSpPr>
          <p:nvPr/>
        </p:nvSpPr>
        <p:spPr>
          <a:xfrm>
            <a:off x="9784080" y="4736592"/>
            <a:ext cx="758952" cy="420624"/>
          </a:xfrm>
          <a:prstGeom prst="roundRect">
            <a:avLst>
              <a:gd name="adj" fmla="val 12000"/>
            </a:avLst>
          </a:prstGeom>
          <a:solidFill>
            <a:srgbClr val="FFFFFF"/>
          </a:solidFill>
          <a:ln w="12700">
            <a:solidFill>
              <a:srgbClr val="B8DAD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Oval 40">
            <a:extLst>
              <a:ext uri="{FF2B5EF4-FFF2-40B4-BE49-F238E27FC236}">
                <a16:creationId xmlns:a16="http://schemas.microsoft.com/office/drawing/2014/main" id="{B967FD78-223E-48D9-AEAE-4F1024CD2E27}"/>
              </a:ext>
            </a:extLst>
          </p:cNvPr>
          <p:cNvSpPr>
            <a:spLocks noGrp="1"/>
          </p:cNvSpPr>
          <p:nvPr/>
        </p:nvSpPr>
        <p:spPr>
          <a:xfrm>
            <a:off x="10085832" y="4818888"/>
            <a:ext cx="146304" cy="146304"/>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ounded Rectangle 41">
            <a:extLst>
              <a:ext uri="{FF2B5EF4-FFF2-40B4-BE49-F238E27FC236}">
                <a16:creationId xmlns:a16="http://schemas.microsoft.com/office/drawing/2014/main" id="{A273F4DE-5ACC-4DD2-93A6-95184EEDC097}"/>
              </a:ext>
            </a:extLst>
          </p:cNvPr>
          <p:cNvSpPr>
            <a:spLocks noGrp="1"/>
          </p:cNvSpPr>
          <p:nvPr/>
        </p:nvSpPr>
        <p:spPr>
          <a:xfrm>
            <a:off x="10040112" y="4956048"/>
            <a:ext cx="237744" cy="128016"/>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C7B8C154-65DE-4E01-BF5F-A23843CC298C}"/>
              </a:ext>
            </a:extLst>
          </p:cNvPr>
          <p:cNvSpPr>
            <a:spLocks noGrp="1"/>
          </p:cNvSpPr>
          <p:nvPr/>
        </p:nvSpPr>
        <p:spPr>
          <a:xfrm>
            <a:off x="749808" y="5779008"/>
            <a:ext cx="10698480" cy="329184"/>
          </a:xfrm>
          <a:prstGeom prst="rect">
            <a:avLst/>
          </a:prstGeom>
          <a:noFill/>
        </p:spPr>
        <p:txBody>
          <a:bodyPr wrap="square" lIns="0" tIns="0" rIns="0" bIns="0" anchor="t">
            <a:spAutoFit/>
          </a:bodyPr>
          <a:lstStyle/>
          <a:p>
            <a:pPr algn="ctr">
              <a:spcBef>
                <a:spcPts val="0"/>
              </a:spcBef>
              <a:spcAft>
                <a:spcPts val="0"/>
              </a:spcAft>
              <a:buNone/>
              <a:defRPr sz="1500" b="1" i="0">
                <a:solidFill>
                  <a:srgbClr val="122438"/>
                </a:solidFill>
                <a:latin typeface="Aptos"/>
                <a:ea typeface="Aptos"/>
                <a:cs typeface="Aptos"/>
              </a:defRPr>
            </a:pPr>
            <a:r>
              <a:t>Unlike first-frame-mask VOS: the initial target cue is a natural-language description.</a:t>
            </a:r>
          </a:p>
        </p:txBody>
      </p:sp>
    </p:spTree>
    <p:extLst>
      <p:ext uri="{BB962C8B-B14F-4D97-AF65-F5344CB8AC3E}">
        <p14:creationId xmlns:p14="http://schemas.microsoft.com/office/powerpoint/2010/main" val="721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75A595-5BC3-480A-8F6B-C8896F0EAFC9}"/>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FAILURE MODES</a:t>
            </a:r>
          </a:p>
        </p:txBody>
      </p:sp>
      <p:sp>
        <p:nvSpPr>
          <p:cNvPr id="3" name="TextBox 2">
            <a:extLst>
              <a:ext uri="{FF2B5EF4-FFF2-40B4-BE49-F238E27FC236}">
                <a16:creationId xmlns:a16="http://schemas.microsoft.com/office/drawing/2014/main" id="{CD36C3E7-0F7A-44F4-ADF4-8D11A97B913F}"/>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Why language + video is hard</a:t>
            </a:r>
          </a:p>
        </p:txBody>
      </p:sp>
      <p:sp>
        <p:nvSpPr>
          <p:cNvPr id="4" name="Connector 3">
            <a:extLst>
              <a:ext uri="{FF2B5EF4-FFF2-40B4-BE49-F238E27FC236}">
                <a16:creationId xmlns:a16="http://schemas.microsoft.com/office/drawing/2014/main" id="{9531B10F-872B-4BDD-8BBB-35C30F4AEE14}"/>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9FC37429-03D2-4B09-9AA8-7FB8B05D03F8}"/>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2274898D-17F5-4219-9EBA-5A41A24A2238}"/>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IV, Table I.</a:t>
            </a:r>
          </a:p>
        </p:txBody>
      </p:sp>
      <p:sp>
        <p:nvSpPr>
          <p:cNvPr id="8" name="Rounded Rectangle 7">
            <a:extLst>
              <a:ext uri="{FF2B5EF4-FFF2-40B4-BE49-F238E27FC236}">
                <a16:creationId xmlns:a16="http://schemas.microsoft.com/office/drawing/2014/main" id="{1B7F0FE8-6058-405D-A47C-7E7E38F11092}"/>
              </a:ext>
            </a:extLst>
          </p:cNvPr>
          <p:cNvSpPr>
            <a:spLocks noGrp="1"/>
          </p:cNvSpPr>
          <p:nvPr/>
        </p:nvSpPr>
        <p:spPr>
          <a:xfrm>
            <a:off x="713232" y="1700784"/>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12800170-8E20-44C2-A40E-00F821C3C41B}"/>
              </a:ext>
            </a:extLst>
          </p:cNvPr>
          <p:cNvSpPr>
            <a:spLocks noGrp="1"/>
          </p:cNvSpPr>
          <p:nvPr/>
        </p:nvSpPr>
        <p:spPr>
          <a:xfrm>
            <a:off x="932688" y="1947672"/>
            <a:ext cx="438912" cy="438912"/>
          </a:xfrm>
          <a:prstGeom prst="ellipse">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A6C5E62-1785-4074-BE77-7640A404E24F}"/>
              </a:ext>
            </a:extLst>
          </p:cNvPr>
          <p:cNvSpPr>
            <a:spLocks noGrp="1"/>
          </p:cNvSpPr>
          <p:nvPr/>
        </p:nvSpPr>
        <p:spPr>
          <a:xfrm>
            <a:off x="932688" y="1956816"/>
            <a:ext cx="438912" cy="365760"/>
          </a:xfrm>
          <a:prstGeom prst="rect">
            <a:avLst/>
          </a:prstGeom>
          <a:noFill/>
        </p:spPr>
        <p:txBody>
          <a:bodyPr wrap="square" lIns="0" tIns="0" rIns="0" bIns="0" anchor="ctr">
            <a:spAutoFit/>
          </a:bodyPr>
          <a:lstStyle/>
          <a:p>
            <a:pPr algn="ctr">
              <a:spcBef>
                <a:spcPts val="0"/>
              </a:spcBef>
              <a:spcAft>
                <a:spcPts val="0"/>
              </a:spcAft>
              <a:buNone/>
              <a:defRPr sz="1000" b="1" i="0">
                <a:solidFill>
                  <a:srgbClr val="F07167"/>
                </a:solidFill>
                <a:latin typeface="Aptos"/>
                <a:ea typeface="Aptos"/>
                <a:cs typeface="Aptos"/>
              </a:defRPr>
            </a:pPr>
            <a:r>
              <a:t>01</a:t>
            </a:r>
          </a:p>
        </p:txBody>
      </p:sp>
      <p:sp>
        <p:nvSpPr>
          <p:cNvPr id="11" name="TextBox 10">
            <a:extLst>
              <a:ext uri="{FF2B5EF4-FFF2-40B4-BE49-F238E27FC236}">
                <a16:creationId xmlns:a16="http://schemas.microsoft.com/office/drawing/2014/main" id="{1AEA1BDE-96E9-4EFA-A53C-6B03F1B1AAE7}"/>
              </a:ext>
            </a:extLst>
          </p:cNvPr>
          <p:cNvSpPr>
            <a:spLocks noGrp="1"/>
          </p:cNvSpPr>
          <p:nvPr/>
        </p:nvSpPr>
        <p:spPr>
          <a:xfrm>
            <a:off x="1517904" y="1929384"/>
            <a:ext cx="4297680" cy="384048"/>
          </a:xfrm>
          <a:prstGeom prst="rect">
            <a:avLst/>
          </a:prstGeom>
          <a:noFill/>
        </p:spPr>
        <p:txBody>
          <a:bodyPr wrap="square" lIns="0" tIns="0" rIns="0" bIns="0" anchor="t">
            <a:spAutoFit/>
          </a:bodyPr>
          <a:lstStyle/>
          <a:p>
            <a:pPr algn="l">
              <a:spcBef>
                <a:spcPts val="0"/>
              </a:spcBef>
              <a:spcAft>
                <a:spcPts val="0"/>
              </a:spcAft>
              <a:buNone/>
              <a:defRPr sz="1800" b="1" i="0">
                <a:solidFill>
                  <a:srgbClr val="122438"/>
                </a:solidFill>
                <a:latin typeface="Aptos"/>
                <a:ea typeface="Aptos"/>
                <a:cs typeface="Aptos"/>
              </a:defRPr>
            </a:pPr>
            <a:r>
              <a:t>Static bias</a:t>
            </a:r>
          </a:p>
        </p:txBody>
      </p:sp>
      <p:sp>
        <p:nvSpPr>
          <p:cNvPr id="12" name="TextBox 11">
            <a:extLst>
              <a:ext uri="{FF2B5EF4-FFF2-40B4-BE49-F238E27FC236}">
                <a16:creationId xmlns:a16="http://schemas.microsoft.com/office/drawing/2014/main" id="{AFA80998-E1BC-4CAC-8BC2-3E7234C96CBF}"/>
              </a:ext>
            </a:extLst>
          </p:cNvPr>
          <p:cNvSpPr>
            <a:spLocks noGrp="1"/>
          </p:cNvSpPr>
          <p:nvPr/>
        </p:nvSpPr>
        <p:spPr>
          <a:xfrm>
            <a:off x="1517904" y="2459736"/>
            <a:ext cx="4242816" cy="768096"/>
          </a:xfrm>
          <a:prstGeom prst="rect">
            <a:avLst/>
          </a:prstGeom>
          <a:noFill/>
        </p:spPr>
        <p:txBody>
          <a:bodyPr wrap="square" lIns="0" tIns="0" rIns="0" bIns="0" anchor="t">
            <a:spAutoFit/>
          </a:bodyPr>
          <a:lstStyle/>
          <a:p>
            <a:pPr algn="l">
              <a:spcBef>
                <a:spcPts val="0"/>
              </a:spcBef>
              <a:spcAft>
                <a:spcPts val="0"/>
              </a:spcAft>
              <a:buNone/>
              <a:defRPr sz="1300" b="0" i="0">
                <a:solidFill>
                  <a:srgbClr val="5E6D7B"/>
                </a:solidFill>
                <a:latin typeface="Aptos"/>
                <a:ea typeface="Aptos"/>
                <a:cs typeface="Aptos"/>
              </a:defRPr>
            </a:pPr>
            <a:r>
              <a:t>The model follows a salient noun or color, even when the verb identifies a different instance.</a:t>
            </a:r>
          </a:p>
        </p:txBody>
      </p:sp>
      <p:sp>
        <p:nvSpPr>
          <p:cNvPr id="13" name="Rounded Rectangle 12">
            <a:extLst>
              <a:ext uri="{FF2B5EF4-FFF2-40B4-BE49-F238E27FC236}">
                <a16:creationId xmlns:a16="http://schemas.microsoft.com/office/drawing/2014/main" id="{6A0FAC03-6353-41C2-B421-FFEB0134B795}"/>
              </a:ext>
            </a:extLst>
          </p:cNvPr>
          <p:cNvSpPr>
            <a:spLocks noGrp="1"/>
          </p:cNvSpPr>
          <p:nvPr/>
        </p:nvSpPr>
        <p:spPr>
          <a:xfrm>
            <a:off x="6181344" y="1700784"/>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Oval 13">
            <a:extLst>
              <a:ext uri="{FF2B5EF4-FFF2-40B4-BE49-F238E27FC236}">
                <a16:creationId xmlns:a16="http://schemas.microsoft.com/office/drawing/2014/main" id="{B4A580D7-79FF-47B0-9B3E-A73656D86FD2}"/>
              </a:ext>
            </a:extLst>
          </p:cNvPr>
          <p:cNvSpPr>
            <a:spLocks noGrp="1"/>
          </p:cNvSpPr>
          <p:nvPr/>
        </p:nvSpPr>
        <p:spPr>
          <a:xfrm>
            <a:off x="6400800" y="1947672"/>
            <a:ext cx="438912" cy="438912"/>
          </a:xfrm>
          <a:prstGeom prst="ellipse">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0C01211-F49F-4BE4-A8A2-B94C0C760E07}"/>
              </a:ext>
            </a:extLst>
          </p:cNvPr>
          <p:cNvSpPr>
            <a:spLocks noGrp="1"/>
          </p:cNvSpPr>
          <p:nvPr/>
        </p:nvSpPr>
        <p:spPr>
          <a:xfrm>
            <a:off x="6400800" y="1956816"/>
            <a:ext cx="438912" cy="365760"/>
          </a:xfrm>
          <a:prstGeom prst="rect">
            <a:avLst/>
          </a:prstGeom>
          <a:noFill/>
        </p:spPr>
        <p:txBody>
          <a:bodyPr wrap="square" lIns="0" tIns="0" rIns="0" bIns="0" anchor="ctr">
            <a:spAutoFit/>
          </a:bodyPr>
          <a:lstStyle/>
          <a:p>
            <a:pPr algn="ctr">
              <a:spcBef>
                <a:spcPts val="0"/>
              </a:spcBef>
              <a:spcAft>
                <a:spcPts val="0"/>
              </a:spcAft>
              <a:buNone/>
              <a:defRPr sz="1000" b="1" i="0">
                <a:solidFill>
                  <a:srgbClr val="5A8DEE"/>
                </a:solidFill>
                <a:latin typeface="Aptos"/>
                <a:ea typeface="Aptos"/>
                <a:cs typeface="Aptos"/>
              </a:defRPr>
            </a:pPr>
            <a:r>
              <a:t>02</a:t>
            </a:r>
          </a:p>
        </p:txBody>
      </p:sp>
      <p:sp>
        <p:nvSpPr>
          <p:cNvPr id="16" name="TextBox 15">
            <a:extLst>
              <a:ext uri="{FF2B5EF4-FFF2-40B4-BE49-F238E27FC236}">
                <a16:creationId xmlns:a16="http://schemas.microsoft.com/office/drawing/2014/main" id="{72A25659-CF43-4563-96FD-A501D37B9594}"/>
              </a:ext>
            </a:extLst>
          </p:cNvPr>
          <p:cNvSpPr>
            <a:spLocks noGrp="1"/>
          </p:cNvSpPr>
          <p:nvPr/>
        </p:nvSpPr>
        <p:spPr>
          <a:xfrm>
            <a:off x="6986016" y="1929384"/>
            <a:ext cx="4297680" cy="384048"/>
          </a:xfrm>
          <a:prstGeom prst="rect">
            <a:avLst/>
          </a:prstGeom>
          <a:noFill/>
        </p:spPr>
        <p:txBody>
          <a:bodyPr wrap="square" lIns="0" tIns="0" rIns="0" bIns="0" anchor="t">
            <a:spAutoFit/>
          </a:bodyPr>
          <a:lstStyle/>
          <a:p>
            <a:pPr algn="l">
              <a:spcBef>
                <a:spcPts val="0"/>
              </a:spcBef>
              <a:spcAft>
                <a:spcPts val="0"/>
              </a:spcAft>
              <a:buNone/>
              <a:defRPr sz="1800" b="1" i="0">
                <a:solidFill>
                  <a:srgbClr val="122438"/>
                </a:solidFill>
                <a:latin typeface="Aptos"/>
                <a:ea typeface="Aptos"/>
                <a:cs typeface="Aptos"/>
              </a:defRPr>
            </a:pPr>
            <a:r>
              <a:t>Occlusion &amp; reappearance</a:t>
            </a:r>
          </a:p>
        </p:txBody>
      </p:sp>
      <p:sp>
        <p:nvSpPr>
          <p:cNvPr id="17" name="TextBox 16">
            <a:extLst>
              <a:ext uri="{FF2B5EF4-FFF2-40B4-BE49-F238E27FC236}">
                <a16:creationId xmlns:a16="http://schemas.microsoft.com/office/drawing/2014/main" id="{A1D3E3A0-ED9D-4AAF-8C4A-635FB9A00FE9}"/>
              </a:ext>
            </a:extLst>
          </p:cNvPr>
          <p:cNvSpPr>
            <a:spLocks noGrp="1"/>
          </p:cNvSpPr>
          <p:nvPr/>
        </p:nvSpPr>
        <p:spPr>
          <a:xfrm>
            <a:off x="6986016" y="2459736"/>
            <a:ext cx="4242816" cy="768096"/>
          </a:xfrm>
          <a:prstGeom prst="rect">
            <a:avLst/>
          </a:prstGeom>
          <a:noFill/>
        </p:spPr>
        <p:txBody>
          <a:bodyPr wrap="square" lIns="0" tIns="0" rIns="0" bIns="0" anchor="t">
            <a:spAutoFit/>
          </a:bodyPr>
          <a:lstStyle/>
          <a:p>
            <a:pPr algn="l">
              <a:spcBef>
                <a:spcPts val="0"/>
              </a:spcBef>
              <a:spcAft>
                <a:spcPts val="0"/>
              </a:spcAft>
              <a:buNone/>
              <a:defRPr sz="1300" b="0" i="0">
                <a:solidFill>
                  <a:srgbClr val="5E6D7B"/>
                </a:solidFill>
                <a:latin typeface="Aptos"/>
                <a:ea typeface="Aptos"/>
                <a:cs typeface="Aptos"/>
              </a:defRPr>
            </a:pPr>
            <a:r>
              <a:t>The target disappears; memory can be lost—or an old wrong match can persist.</a:t>
            </a:r>
          </a:p>
        </p:txBody>
      </p:sp>
      <p:sp>
        <p:nvSpPr>
          <p:cNvPr id="18" name="Rounded Rectangle 17">
            <a:extLst>
              <a:ext uri="{FF2B5EF4-FFF2-40B4-BE49-F238E27FC236}">
                <a16:creationId xmlns:a16="http://schemas.microsoft.com/office/drawing/2014/main" id="{09C4677D-8AE4-4FC2-AB33-BD0FC91F36C4}"/>
              </a:ext>
            </a:extLst>
          </p:cNvPr>
          <p:cNvSpPr>
            <a:spLocks noGrp="1"/>
          </p:cNvSpPr>
          <p:nvPr/>
        </p:nvSpPr>
        <p:spPr>
          <a:xfrm>
            <a:off x="713232" y="3767328"/>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Oval 18">
            <a:extLst>
              <a:ext uri="{FF2B5EF4-FFF2-40B4-BE49-F238E27FC236}">
                <a16:creationId xmlns:a16="http://schemas.microsoft.com/office/drawing/2014/main" id="{ED063CB5-C7CE-4789-8DF6-F59052FC0ED3}"/>
              </a:ext>
            </a:extLst>
          </p:cNvPr>
          <p:cNvSpPr>
            <a:spLocks noGrp="1"/>
          </p:cNvSpPr>
          <p:nvPr/>
        </p:nvSpPr>
        <p:spPr>
          <a:xfrm>
            <a:off x="932688" y="4014216"/>
            <a:ext cx="438912" cy="438912"/>
          </a:xfrm>
          <a:prstGeom prst="ellipse">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8231B52-DF60-4046-AC32-BE79088EE035}"/>
              </a:ext>
            </a:extLst>
          </p:cNvPr>
          <p:cNvSpPr>
            <a:spLocks noGrp="1"/>
          </p:cNvSpPr>
          <p:nvPr/>
        </p:nvSpPr>
        <p:spPr>
          <a:xfrm>
            <a:off x="932688" y="4023360"/>
            <a:ext cx="438912" cy="365760"/>
          </a:xfrm>
          <a:prstGeom prst="rect">
            <a:avLst/>
          </a:prstGeom>
          <a:noFill/>
        </p:spPr>
        <p:txBody>
          <a:bodyPr wrap="square" lIns="0" tIns="0" rIns="0" bIns="0" anchor="ctr">
            <a:spAutoFit/>
          </a:bodyPr>
          <a:lstStyle/>
          <a:p>
            <a:pPr algn="ctr">
              <a:spcBef>
                <a:spcPts val="0"/>
              </a:spcBef>
              <a:spcAft>
                <a:spcPts val="0"/>
              </a:spcAft>
              <a:buNone/>
              <a:defRPr sz="1000" b="1" i="0">
                <a:solidFill>
                  <a:srgbClr val="B17A00"/>
                </a:solidFill>
                <a:latin typeface="Aptos"/>
                <a:ea typeface="Aptos"/>
                <a:cs typeface="Aptos"/>
              </a:defRPr>
            </a:pPr>
            <a:r>
              <a:t>03</a:t>
            </a:r>
          </a:p>
        </p:txBody>
      </p:sp>
      <p:sp>
        <p:nvSpPr>
          <p:cNvPr id="21" name="TextBox 20">
            <a:extLst>
              <a:ext uri="{FF2B5EF4-FFF2-40B4-BE49-F238E27FC236}">
                <a16:creationId xmlns:a16="http://schemas.microsoft.com/office/drawing/2014/main" id="{9F79A31E-3608-4D99-9A7B-168CBD39C0B3}"/>
              </a:ext>
            </a:extLst>
          </p:cNvPr>
          <p:cNvSpPr>
            <a:spLocks noGrp="1"/>
          </p:cNvSpPr>
          <p:nvPr/>
        </p:nvSpPr>
        <p:spPr>
          <a:xfrm>
            <a:off x="1517904" y="3995928"/>
            <a:ext cx="4297680" cy="384048"/>
          </a:xfrm>
          <a:prstGeom prst="rect">
            <a:avLst/>
          </a:prstGeom>
          <a:noFill/>
        </p:spPr>
        <p:txBody>
          <a:bodyPr wrap="square" lIns="0" tIns="0" rIns="0" bIns="0" anchor="t">
            <a:spAutoFit/>
          </a:bodyPr>
          <a:lstStyle/>
          <a:p>
            <a:pPr algn="l">
              <a:spcBef>
                <a:spcPts val="0"/>
              </a:spcBef>
              <a:spcAft>
                <a:spcPts val="0"/>
              </a:spcAft>
              <a:buNone/>
              <a:defRPr sz="1800" b="1" i="0">
                <a:solidFill>
                  <a:srgbClr val="122438"/>
                </a:solidFill>
                <a:latin typeface="Aptos"/>
                <a:ea typeface="Aptos"/>
                <a:cs typeface="Aptos"/>
              </a:defRPr>
            </a:pPr>
            <a:r>
              <a:t>Implicit reasoning</a:t>
            </a:r>
          </a:p>
        </p:txBody>
      </p:sp>
      <p:sp>
        <p:nvSpPr>
          <p:cNvPr id="22" name="TextBox 21">
            <a:extLst>
              <a:ext uri="{FF2B5EF4-FFF2-40B4-BE49-F238E27FC236}">
                <a16:creationId xmlns:a16="http://schemas.microsoft.com/office/drawing/2014/main" id="{BF672C24-5B02-4060-B68B-0158AC888C69}"/>
              </a:ext>
            </a:extLst>
          </p:cNvPr>
          <p:cNvSpPr>
            <a:spLocks noGrp="1"/>
          </p:cNvSpPr>
          <p:nvPr/>
        </p:nvSpPr>
        <p:spPr>
          <a:xfrm>
            <a:off x="1517904" y="4526280"/>
            <a:ext cx="4242816" cy="768096"/>
          </a:xfrm>
          <a:prstGeom prst="rect">
            <a:avLst/>
          </a:prstGeom>
          <a:noFill/>
        </p:spPr>
        <p:txBody>
          <a:bodyPr wrap="square" lIns="0" tIns="0" rIns="0" bIns="0" anchor="t">
            <a:spAutoFit/>
          </a:bodyPr>
          <a:lstStyle/>
          <a:p>
            <a:pPr algn="l">
              <a:spcBef>
                <a:spcPts val="0"/>
              </a:spcBef>
              <a:spcAft>
                <a:spcPts val="0"/>
              </a:spcAft>
              <a:buNone/>
              <a:defRPr sz="1300" b="0" i="0">
                <a:solidFill>
                  <a:srgbClr val="5E6D7B"/>
                </a:solidFill>
                <a:latin typeface="Aptos"/>
                <a:ea typeface="Aptos"/>
                <a:cs typeface="Aptos"/>
              </a:defRPr>
            </a:pPr>
            <a:r>
              <a:t>The query names a role or outcome with no direct visual noun to match.</a:t>
            </a:r>
          </a:p>
        </p:txBody>
      </p:sp>
      <p:sp>
        <p:nvSpPr>
          <p:cNvPr id="23" name="Rounded Rectangle 22">
            <a:extLst>
              <a:ext uri="{FF2B5EF4-FFF2-40B4-BE49-F238E27FC236}">
                <a16:creationId xmlns:a16="http://schemas.microsoft.com/office/drawing/2014/main" id="{5450DD62-5D92-4D69-AD9E-85418C3A81D4}"/>
              </a:ext>
            </a:extLst>
          </p:cNvPr>
          <p:cNvSpPr>
            <a:spLocks noGrp="1"/>
          </p:cNvSpPr>
          <p:nvPr/>
        </p:nvSpPr>
        <p:spPr>
          <a:xfrm>
            <a:off x="6181344" y="3767328"/>
            <a:ext cx="5321808" cy="18470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Oval 23">
            <a:extLst>
              <a:ext uri="{FF2B5EF4-FFF2-40B4-BE49-F238E27FC236}">
                <a16:creationId xmlns:a16="http://schemas.microsoft.com/office/drawing/2014/main" id="{A3769D2A-6008-4920-ACDF-6DBD15EBBD10}"/>
              </a:ext>
            </a:extLst>
          </p:cNvPr>
          <p:cNvSpPr>
            <a:spLocks noGrp="1"/>
          </p:cNvSpPr>
          <p:nvPr/>
        </p:nvSpPr>
        <p:spPr>
          <a:xfrm>
            <a:off x="6400800" y="4014216"/>
            <a:ext cx="438912" cy="438912"/>
          </a:xfrm>
          <a:prstGeom prst="ellipse">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0424C85-85EB-464E-AAA9-543EECE51E40}"/>
              </a:ext>
            </a:extLst>
          </p:cNvPr>
          <p:cNvSpPr>
            <a:spLocks noGrp="1"/>
          </p:cNvSpPr>
          <p:nvPr/>
        </p:nvSpPr>
        <p:spPr>
          <a:xfrm>
            <a:off x="6400800" y="4023360"/>
            <a:ext cx="438912" cy="365760"/>
          </a:xfrm>
          <a:prstGeom prst="rect">
            <a:avLst/>
          </a:prstGeom>
          <a:noFill/>
        </p:spPr>
        <p:txBody>
          <a:bodyPr wrap="square" lIns="0" tIns="0" rIns="0" bIns="0" anchor="ctr">
            <a:spAutoFit/>
          </a:bodyPr>
          <a:lstStyle/>
          <a:p>
            <a:pPr algn="ctr">
              <a:spcBef>
                <a:spcPts val="0"/>
              </a:spcBef>
              <a:spcAft>
                <a:spcPts val="0"/>
              </a:spcAft>
              <a:buNone/>
              <a:defRPr sz="1000" b="1" i="0">
                <a:solidFill>
                  <a:srgbClr val="087E78"/>
                </a:solidFill>
                <a:latin typeface="Aptos"/>
                <a:ea typeface="Aptos"/>
                <a:cs typeface="Aptos"/>
              </a:defRPr>
            </a:pPr>
            <a:r>
              <a:t>04</a:t>
            </a:r>
          </a:p>
        </p:txBody>
      </p:sp>
      <p:sp>
        <p:nvSpPr>
          <p:cNvPr id="26" name="TextBox 25">
            <a:extLst>
              <a:ext uri="{FF2B5EF4-FFF2-40B4-BE49-F238E27FC236}">
                <a16:creationId xmlns:a16="http://schemas.microsoft.com/office/drawing/2014/main" id="{56EC6545-BCB3-4049-9125-CB2122245D08}"/>
              </a:ext>
            </a:extLst>
          </p:cNvPr>
          <p:cNvSpPr>
            <a:spLocks noGrp="1"/>
          </p:cNvSpPr>
          <p:nvPr/>
        </p:nvSpPr>
        <p:spPr>
          <a:xfrm>
            <a:off x="6986016" y="3995928"/>
            <a:ext cx="4297680" cy="384048"/>
          </a:xfrm>
          <a:prstGeom prst="rect">
            <a:avLst/>
          </a:prstGeom>
          <a:noFill/>
        </p:spPr>
        <p:txBody>
          <a:bodyPr wrap="square" lIns="0" tIns="0" rIns="0" bIns="0" anchor="t">
            <a:spAutoFit/>
          </a:bodyPr>
          <a:lstStyle/>
          <a:p>
            <a:pPr algn="l">
              <a:spcBef>
                <a:spcPts val="0"/>
              </a:spcBef>
              <a:spcAft>
                <a:spcPts val="0"/>
              </a:spcAft>
              <a:buNone/>
              <a:defRPr sz="1800" b="1" i="0">
                <a:solidFill>
                  <a:srgbClr val="122438"/>
                </a:solidFill>
                <a:latin typeface="Aptos"/>
                <a:ea typeface="Aptos"/>
                <a:cs typeface="Aptos"/>
              </a:defRPr>
            </a:pPr>
            <a:r>
              <a:t>Long-video cost</a:t>
            </a:r>
          </a:p>
        </p:txBody>
      </p:sp>
      <p:sp>
        <p:nvSpPr>
          <p:cNvPr id="27" name="TextBox 26">
            <a:extLst>
              <a:ext uri="{FF2B5EF4-FFF2-40B4-BE49-F238E27FC236}">
                <a16:creationId xmlns:a16="http://schemas.microsoft.com/office/drawing/2014/main" id="{F9070EDB-D7FF-4CD4-8201-5DA25C22F609}"/>
              </a:ext>
            </a:extLst>
          </p:cNvPr>
          <p:cNvSpPr>
            <a:spLocks noGrp="1"/>
          </p:cNvSpPr>
          <p:nvPr/>
        </p:nvSpPr>
        <p:spPr>
          <a:xfrm>
            <a:off x="6986016" y="4526280"/>
            <a:ext cx="4242816" cy="768096"/>
          </a:xfrm>
          <a:prstGeom prst="rect">
            <a:avLst/>
          </a:prstGeom>
          <a:noFill/>
        </p:spPr>
        <p:txBody>
          <a:bodyPr wrap="square" lIns="0" tIns="0" rIns="0" bIns="0" anchor="t">
            <a:spAutoFit/>
          </a:bodyPr>
          <a:lstStyle/>
          <a:p>
            <a:pPr algn="l">
              <a:spcBef>
                <a:spcPts val="0"/>
              </a:spcBef>
              <a:spcAft>
                <a:spcPts val="0"/>
              </a:spcAft>
              <a:buNone/>
              <a:defRPr sz="1300" b="0" i="0">
                <a:solidFill>
                  <a:srgbClr val="5E6D7B"/>
                </a:solidFill>
                <a:latin typeface="Aptos"/>
                <a:ea typeface="Aptos"/>
                <a:cs typeface="Aptos"/>
              </a:defRPr>
            </a:pPr>
            <a:r>
              <a:t>Global attention sees more context, but compute and memory rise with clip length.</a:t>
            </a:r>
          </a:p>
        </p:txBody>
      </p:sp>
    </p:spTree>
    <p:extLst>
      <p:ext uri="{BB962C8B-B14F-4D97-AF65-F5344CB8AC3E}">
        <p14:creationId xmlns:p14="http://schemas.microsoft.com/office/powerpoint/2010/main" val="95731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D7205B-724A-4B2A-AB5E-8ADDBF1897F4}"/>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SURVEY MAP</a:t>
            </a:r>
          </a:p>
        </p:txBody>
      </p:sp>
      <p:sp>
        <p:nvSpPr>
          <p:cNvPr id="3" name="TextBox 2">
            <a:extLst>
              <a:ext uri="{FF2B5EF4-FFF2-40B4-BE49-F238E27FC236}">
                <a16:creationId xmlns:a16="http://schemas.microsoft.com/office/drawing/2014/main" id="{E6C401D6-CD59-468C-8B01-BBCC18769747}"/>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What this survey adds</a:t>
            </a:r>
          </a:p>
        </p:txBody>
      </p:sp>
      <p:sp>
        <p:nvSpPr>
          <p:cNvPr id="4" name="Connector 3">
            <a:extLst>
              <a:ext uri="{FF2B5EF4-FFF2-40B4-BE49-F238E27FC236}">
                <a16:creationId xmlns:a16="http://schemas.microsoft.com/office/drawing/2014/main" id="{C8122467-7195-4E1A-9509-9FDD10E32A31}"/>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56572833-2A67-4360-ABF6-E71CD5E38FFF}"/>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B6B904C7-1C4D-44CA-87A8-D58810E328E4}"/>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Sections II–III and VII.</a:t>
            </a:r>
          </a:p>
        </p:txBody>
      </p:sp>
      <p:sp>
        <p:nvSpPr>
          <p:cNvPr id="8" name="Rounded Rectangle 7">
            <a:extLst>
              <a:ext uri="{FF2B5EF4-FFF2-40B4-BE49-F238E27FC236}">
                <a16:creationId xmlns:a16="http://schemas.microsoft.com/office/drawing/2014/main" id="{84E59EAC-6D9E-4D64-B41B-981FA2D25828}"/>
              </a:ext>
            </a:extLst>
          </p:cNvPr>
          <p:cNvSpPr>
            <a:spLocks noGrp="1"/>
          </p:cNvSpPr>
          <p:nvPr/>
        </p:nvSpPr>
        <p:spPr>
          <a:xfrm>
            <a:off x="713232" y="1719072"/>
            <a:ext cx="3319272" cy="4233672"/>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DD80CE-6734-42E6-A33F-0F679FA36237}"/>
              </a:ext>
            </a:extLst>
          </p:cNvPr>
          <p:cNvSpPr>
            <a:spLocks noGrp="1"/>
          </p:cNvSpPr>
          <p:nvPr/>
        </p:nvSpPr>
        <p:spPr>
          <a:xfrm>
            <a:off x="987552" y="1984248"/>
            <a:ext cx="2761488" cy="256032"/>
          </a:xfrm>
          <a:prstGeom prst="rect">
            <a:avLst/>
          </a:prstGeom>
          <a:noFill/>
        </p:spPr>
        <p:txBody>
          <a:bodyPr wrap="square" lIns="0" tIns="0" rIns="0" bIns="0" anchor="t">
            <a:spAutoFit/>
          </a:bodyPr>
          <a:lstStyle/>
          <a:p>
            <a:pPr algn="l">
              <a:spcBef>
                <a:spcPts val="0"/>
              </a:spcBef>
              <a:spcAft>
                <a:spcPts val="0"/>
              </a:spcAft>
              <a:buNone/>
              <a:defRPr sz="1000" b="1" i="0">
                <a:solidFill>
                  <a:srgbClr val="65D5CC"/>
                </a:solidFill>
                <a:latin typeface="Aptos"/>
                <a:ea typeface="Aptos"/>
                <a:cs typeface="Aptos"/>
              </a:defRPr>
            </a:pPr>
            <a:r>
              <a:t>SCOPE</a:t>
            </a:r>
          </a:p>
        </p:txBody>
      </p:sp>
      <p:sp>
        <p:nvSpPr>
          <p:cNvPr id="10" name="TextBox 9">
            <a:extLst>
              <a:ext uri="{FF2B5EF4-FFF2-40B4-BE49-F238E27FC236}">
                <a16:creationId xmlns:a16="http://schemas.microsoft.com/office/drawing/2014/main" id="{4B79B870-CC9C-4344-9386-EE254F6F6A5A}"/>
              </a:ext>
            </a:extLst>
          </p:cNvPr>
          <p:cNvSpPr>
            <a:spLocks noGrp="1"/>
          </p:cNvSpPr>
          <p:nvPr/>
        </p:nvSpPr>
        <p:spPr>
          <a:xfrm>
            <a:off x="987552" y="2450592"/>
            <a:ext cx="2761488" cy="987552"/>
          </a:xfrm>
          <a:prstGeom prst="rect">
            <a:avLst/>
          </a:prstGeom>
          <a:noFill/>
        </p:spPr>
        <p:txBody>
          <a:bodyPr wrap="square" lIns="0" tIns="0" rIns="0" bIns="0" anchor="t">
            <a:spAutoFit/>
          </a:bodyPr>
          <a:lstStyle/>
          <a:p>
            <a:pPr algn="l">
              <a:spcBef>
                <a:spcPts val="0"/>
              </a:spcBef>
              <a:spcAft>
                <a:spcPts val="0"/>
              </a:spcAft>
              <a:buNone/>
              <a:defRPr sz="1900" b="1" i="0">
                <a:solidFill>
                  <a:srgbClr val="FFFFFF"/>
                </a:solidFill>
                <a:latin typeface="Aptos Display"/>
                <a:ea typeface="Aptos Display"/>
                <a:cs typeface="Aptos Display"/>
              </a:defRPr>
            </a:pPr>
            <a:r>
              <a:t>From mask</a:t>
            </a:r>
            <a:br/>
            <a:r>
              <a:t>propagation to</a:t>
            </a:r>
            <a:br/>
            <a:r>
              <a:t>multimodal reasoning</a:t>
            </a:r>
          </a:p>
        </p:txBody>
      </p:sp>
      <p:sp>
        <p:nvSpPr>
          <p:cNvPr id="11" name="Connector 10">
            <a:extLst>
              <a:ext uri="{FF2B5EF4-FFF2-40B4-BE49-F238E27FC236}">
                <a16:creationId xmlns:a16="http://schemas.microsoft.com/office/drawing/2014/main" id="{26AD406A-E2CC-4854-BB59-982E11C1F75C}"/>
              </a:ext>
            </a:extLst>
          </p:cNvPr>
          <p:cNvSpPr>
            <a:spLocks noGrp="1"/>
          </p:cNvSpPr>
          <p:nvPr/>
        </p:nvSpPr>
        <p:spPr>
          <a:xfrm>
            <a:off x="987552" y="3675887"/>
            <a:ext cx="2715768" cy="0"/>
          </a:xfrm>
          <a:prstGeom prst="line">
            <a:avLst/>
          </a:prstGeom>
          <a:ln w="12700">
            <a:solidFill>
              <a:srgbClr val="365064"/>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2" name="TextBox 11">
            <a:extLst>
              <a:ext uri="{FF2B5EF4-FFF2-40B4-BE49-F238E27FC236}">
                <a16:creationId xmlns:a16="http://schemas.microsoft.com/office/drawing/2014/main" id="{337B3E80-4FD0-4F4A-9BE9-9FCB429ED722}"/>
              </a:ext>
            </a:extLst>
          </p:cNvPr>
          <p:cNvSpPr>
            <a:spLocks noGrp="1"/>
          </p:cNvSpPr>
          <p:nvPr/>
        </p:nvSpPr>
        <p:spPr>
          <a:xfrm>
            <a:off x="987552" y="3913632"/>
            <a:ext cx="2697480" cy="1344168"/>
          </a:xfrm>
          <a:prstGeom prst="rect">
            <a:avLst/>
          </a:prstGeom>
          <a:noFill/>
        </p:spPr>
        <p:txBody>
          <a:bodyPr wrap="square" lIns="0" tIns="0" rIns="0" bIns="0" anchor="t">
            <a:spAutoFit/>
          </a:bodyPr>
          <a:lstStyle/>
          <a:p>
            <a:pPr algn="l">
              <a:spcBef>
                <a:spcPts val="0"/>
              </a:spcBef>
              <a:spcAft>
                <a:spcPts val="0"/>
              </a:spcAft>
              <a:buNone/>
              <a:defRPr sz="1400" b="0" i="0">
                <a:solidFill>
                  <a:srgbClr val="C5D3DD"/>
                </a:solidFill>
                <a:latin typeface="Aptos"/>
                <a:ea typeface="Aptos"/>
                <a:cs typeface="Aptos"/>
              </a:defRPr>
            </a:pPr>
            <a:r>
              <a:t>Methods • failure modes</a:t>
            </a:r>
            <a:br/>
            <a:r>
              <a:t>Benchmarks • trade-offs</a:t>
            </a:r>
            <a:br/>
            <a:r>
              <a:t>SAMWISE case study</a:t>
            </a:r>
          </a:p>
        </p:txBody>
      </p:sp>
      <p:sp>
        <p:nvSpPr>
          <p:cNvPr id="13" name="Rounded Rectangle 12">
            <a:extLst>
              <a:ext uri="{FF2B5EF4-FFF2-40B4-BE49-F238E27FC236}">
                <a16:creationId xmlns:a16="http://schemas.microsoft.com/office/drawing/2014/main" id="{201F11BD-FC57-4380-9537-71A2B41757EE}"/>
              </a:ext>
            </a:extLst>
          </p:cNvPr>
          <p:cNvSpPr>
            <a:spLocks noGrp="1"/>
          </p:cNvSpPr>
          <p:nvPr/>
        </p:nvSpPr>
        <p:spPr>
          <a:xfrm>
            <a:off x="4370832" y="1810512"/>
            <a:ext cx="7114032" cy="11430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ounded Rectangle 13">
            <a:extLst>
              <a:ext uri="{FF2B5EF4-FFF2-40B4-BE49-F238E27FC236}">
                <a16:creationId xmlns:a16="http://schemas.microsoft.com/office/drawing/2014/main" id="{561E934C-039A-463C-9ACB-0AFAF045F358}"/>
              </a:ext>
            </a:extLst>
          </p:cNvPr>
          <p:cNvSpPr>
            <a:spLocks noGrp="1"/>
          </p:cNvSpPr>
          <p:nvPr/>
        </p:nvSpPr>
        <p:spPr>
          <a:xfrm>
            <a:off x="4572000" y="1993392"/>
            <a:ext cx="5029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EE5503B-4284-4362-B11D-2087AA651F17}"/>
              </a:ext>
            </a:extLst>
          </p:cNvPr>
          <p:cNvSpPr>
            <a:spLocks noGrp="1"/>
          </p:cNvSpPr>
          <p:nvPr/>
        </p:nvSpPr>
        <p:spPr>
          <a:xfrm>
            <a:off x="4645152" y="2016252"/>
            <a:ext cx="356616" cy="210312"/>
          </a:xfrm>
          <a:prstGeom prst="rect">
            <a:avLst/>
          </a:prstGeom>
          <a:noFill/>
        </p:spPr>
        <p:txBody>
          <a:bodyPr wrap="square" lIns="0" tIns="0" rIns="0" bIns="0" anchor="ctr">
            <a:spAutoFit/>
          </a:bodyPr>
          <a:lstStyle/>
          <a:p>
            <a:pPr algn="ctr">
              <a:spcBef>
                <a:spcPts val="0"/>
              </a:spcBef>
              <a:spcAft>
                <a:spcPts val="0"/>
              </a:spcAft>
              <a:buNone/>
              <a:defRPr sz="900" b="1" i="0">
                <a:solidFill>
                  <a:srgbClr val="087E78"/>
                </a:solidFill>
                <a:latin typeface="Aptos"/>
                <a:ea typeface="Aptos"/>
                <a:cs typeface="Aptos"/>
              </a:defRPr>
            </a:pPr>
            <a:r>
              <a:t>01</a:t>
            </a:r>
          </a:p>
        </p:txBody>
      </p:sp>
      <p:sp>
        <p:nvSpPr>
          <p:cNvPr id="16" name="TextBox 15">
            <a:extLst>
              <a:ext uri="{FF2B5EF4-FFF2-40B4-BE49-F238E27FC236}">
                <a16:creationId xmlns:a16="http://schemas.microsoft.com/office/drawing/2014/main" id="{CC434E58-0C8E-4FEE-BB63-46EA9F18B87D}"/>
              </a:ext>
            </a:extLst>
          </p:cNvPr>
          <p:cNvSpPr>
            <a:spLocks noGrp="1"/>
          </p:cNvSpPr>
          <p:nvPr/>
        </p:nvSpPr>
        <p:spPr>
          <a:xfrm>
            <a:off x="5248656" y="1975104"/>
            <a:ext cx="5852160" cy="283464"/>
          </a:xfrm>
          <a:prstGeom prst="rect">
            <a:avLst/>
          </a:prstGeom>
          <a:noFill/>
        </p:spPr>
        <p:txBody>
          <a:bodyPr wrap="square" lIns="0" tIns="0" rIns="0" bIns="0" anchor="t">
            <a:spAutoFit/>
          </a:bodyPr>
          <a:lstStyle/>
          <a:p>
            <a:pPr algn="l">
              <a:spcBef>
                <a:spcPts val="0"/>
              </a:spcBef>
              <a:spcAft>
                <a:spcPts val="0"/>
              </a:spcAft>
              <a:buNone/>
              <a:defRPr sz="1600" b="1" i="0">
                <a:solidFill>
                  <a:srgbClr val="122438"/>
                </a:solidFill>
                <a:latin typeface="Aptos"/>
                <a:ea typeface="Aptos"/>
                <a:cs typeface="Aptos"/>
              </a:defRPr>
            </a:pPr>
            <a:r>
              <a:t>Organizes methods by mechanism</a:t>
            </a:r>
          </a:p>
        </p:txBody>
      </p:sp>
      <p:sp>
        <p:nvSpPr>
          <p:cNvPr id="17" name="TextBox 16">
            <a:extLst>
              <a:ext uri="{FF2B5EF4-FFF2-40B4-BE49-F238E27FC236}">
                <a16:creationId xmlns:a16="http://schemas.microsoft.com/office/drawing/2014/main" id="{31874244-7F70-4DEB-BC55-F6B6D009F12C}"/>
              </a:ext>
            </a:extLst>
          </p:cNvPr>
          <p:cNvSpPr>
            <a:spLocks noGrp="1"/>
          </p:cNvSpPr>
          <p:nvPr/>
        </p:nvSpPr>
        <p:spPr>
          <a:xfrm>
            <a:off x="5248656" y="2340864"/>
            <a:ext cx="5852160" cy="448056"/>
          </a:xfrm>
          <a:prstGeom prst="rect">
            <a:avLst/>
          </a:prstGeom>
          <a:noFill/>
        </p:spPr>
        <p:txBody>
          <a:bodyPr wrap="square" lIns="0" tIns="0" rIns="0" bIns="0" anchor="t">
            <a:spAutoFit/>
          </a:bodyPr>
          <a:lstStyle/>
          <a:p>
            <a:pPr algn="l">
              <a:spcBef>
                <a:spcPts val="0"/>
              </a:spcBef>
              <a:spcAft>
                <a:spcPts val="0"/>
              </a:spcAft>
              <a:buNone/>
              <a:defRPr sz="1150" b="0" i="0">
                <a:solidFill>
                  <a:srgbClr val="5E6D7B"/>
                </a:solidFill>
                <a:latin typeface="Aptos"/>
                <a:ea typeface="Aptos"/>
                <a:cs typeface="Aptos"/>
              </a:defRPr>
            </a:pPr>
            <a:r>
              <a:t>Transformers, motion modeling, online inference, memory, and MLLM reasoning.</a:t>
            </a:r>
          </a:p>
        </p:txBody>
      </p:sp>
      <p:sp>
        <p:nvSpPr>
          <p:cNvPr id="18" name="Rounded Rectangle 17">
            <a:extLst>
              <a:ext uri="{FF2B5EF4-FFF2-40B4-BE49-F238E27FC236}">
                <a16:creationId xmlns:a16="http://schemas.microsoft.com/office/drawing/2014/main" id="{00AE6F8A-0EB0-460E-9672-5F3A6AE9B021}"/>
              </a:ext>
            </a:extLst>
          </p:cNvPr>
          <p:cNvSpPr>
            <a:spLocks noGrp="1"/>
          </p:cNvSpPr>
          <p:nvPr/>
        </p:nvSpPr>
        <p:spPr>
          <a:xfrm>
            <a:off x="4370832" y="3163824"/>
            <a:ext cx="7114032" cy="11430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ounded Rectangle 18">
            <a:extLst>
              <a:ext uri="{FF2B5EF4-FFF2-40B4-BE49-F238E27FC236}">
                <a16:creationId xmlns:a16="http://schemas.microsoft.com/office/drawing/2014/main" id="{17DFE60C-DFE7-42C5-B8E3-3564A11DDBE4}"/>
              </a:ext>
            </a:extLst>
          </p:cNvPr>
          <p:cNvSpPr>
            <a:spLocks noGrp="1"/>
          </p:cNvSpPr>
          <p:nvPr/>
        </p:nvSpPr>
        <p:spPr>
          <a:xfrm>
            <a:off x="4572000" y="3346704"/>
            <a:ext cx="5029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31EF7CB-32BC-4F29-945D-698B9A4ED00A}"/>
              </a:ext>
            </a:extLst>
          </p:cNvPr>
          <p:cNvSpPr>
            <a:spLocks noGrp="1"/>
          </p:cNvSpPr>
          <p:nvPr/>
        </p:nvSpPr>
        <p:spPr>
          <a:xfrm>
            <a:off x="4645152" y="3369564"/>
            <a:ext cx="356616" cy="210312"/>
          </a:xfrm>
          <a:prstGeom prst="rect">
            <a:avLst/>
          </a:prstGeom>
          <a:noFill/>
        </p:spPr>
        <p:txBody>
          <a:bodyPr wrap="square" lIns="0" tIns="0" rIns="0" bIns="0" anchor="ctr">
            <a:spAutoFit/>
          </a:bodyPr>
          <a:lstStyle/>
          <a:p>
            <a:pPr algn="ctr">
              <a:spcBef>
                <a:spcPts val="0"/>
              </a:spcBef>
              <a:spcAft>
                <a:spcPts val="0"/>
              </a:spcAft>
              <a:buNone/>
              <a:defRPr sz="900" b="1" i="0">
                <a:solidFill>
                  <a:srgbClr val="087E78"/>
                </a:solidFill>
                <a:latin typeface="Aptos"/>
                <a:ea typeface="Aptos"/>
                <a:cs typeface="Aptos"/>
              </a:defRPr>
            </a:pPr>
            <a:r>
              <a:t>02</a:t>
            </a:r>
          </a:p>
        </p:txBody>
      </p:sp>
      <p:sp>
        <p:nvSpPr>
          <p:cNvPr id="21" name="TextBox 20">
            <a:extLst>
              <a:ext uri="{FF2B5EF4-FFF2-40B4-BE49-F238E27FC236}">
                <a16:creationId xmlns:a16="http://schemas.microsoft.com/office/drawing/2014/main" id="{5939A0BA-020F-4311-81A7-F30AD7EED94A}"/>
              </a:ext>
            </a:extLst>
          </p:cNvPr>
          <p:cNvSpPr>
            <a:spLocks noGrp="1"/>
          </p:cNvSpPr>
          <p:nvPr/>
        </p:nvSpPr>
        <p:spPr>
          <a:xfrm>
            <a:off x="5248656" y="3328416"/>
            <a:ext cx="5852160" cy="283464"/>
          </a:xfrm>
          <a:prstGeom prst="rect">
            <a:avLst/>
          </a:prstGeom>
          <a:noFill/>
        </p:spPr>
        <p:txBody>
          <a:bodyPr wrap="square" lIns="0" tIns="0" rIns="0" bIns="0" anchor="t">
            <a:spAutoFit/>
          </a:bodyPr>
          <a:lstStyle/>
          <a:p>
            <a:pPr algn="l">
              <a:spcBef>
                <a:spcPts val="0"/>
              </a:spcBef>
              <a:spcAft>
                <a:spcPts val="0"/>
              </a:spcAft>
              <a:buNone/>
              <a:defRPr sz="1600" b="1" i="0">
                <a:solidFill>
                  <a:srgbClr val="122438"/>
                </a:solidFill>
                <a:latin typeface="Aptos"/>
                <a:ea typeface="Aptos"/>
                <a:cs typeface="Aptos"/>
              </a:defRPr>
            </a:pPr>
            <a:r>
              <a:t>Compares what systems can do</a:t>
            </a:r>
          </a:p>
        </p:txBody>
      </p:sp>
      <p:sp>
        <p:nvSpPr>
          <p:cNvPr id="22" name="TextBox 21">
            <a:extLst>
              <a:ext uri="{FF2B5EF4-FFF2-40B4-BE49-F238E27FC236}">
                <a16:creationId xmlns:a16="http://schemas.microsoft.com/office/drawing/2014/main" id="{89547891-1386-484E-A33F-ED91D4383AAE}"/>
              </a:ext>
            </a:extLst>
          </p:cNvPr>
          <p:cNvSpPr>
            <a:spLocks noGrp="1"/>
          </p:cNvSpPr>
          <p:nvPr/>
        </p:nvSpPr>
        <p:spPr>
          <a:xfrm>
            <a:off x="5248656" y="3694176"/>
            <a:ext cx="5852160" cy="448056"/>
          </a:xfrm>
          <a:prstGeom prst="rect">
            <a:avLst/>
          </a:prstGeom>
          <a:noFill/>
        </p:spPr>
        <p:txBody>
          <a:bodyPr wrap="square" lIns="0" tIns="0" rIns="0" bIns="0" anchor="t">
            <a:spAutoFit/>
          </a:bodyPr>
          <a:lstStyle/>
          <a:p>
            <a:pPr algn="l">
              <a:spcBef>
                <a:spcPts val="0"/>
              </a:spcBef>
              <a:spcAft>
                <a:spcPts val="0"/>
              </a:spcAft>
              <a:buNone/>
              <a:defRPr sz="1150" b="0" i="0">
                <a:solidFill>
                  <a:srgbClr val="5E6D7B"/>
                </a:solidFill>
                <a:latin typeface="Aptos"/>
                <a:ea typeface="Aptos"/>
                <a:cs typeface="Aptos"/>
              </a:defRPr>
            </a:pPr>
            <a:r>
              <a:t>Shared benchmark view plus the costs and limitations behind reported scores.</a:t>
            </a:r>
          </a:p>
        </p:txBody>
      </p:sp>
      <p:sp>
        <p:nvSpPr>
          <p:cNvPr id="23" name="Rounded Rectangle 22">
            <a:extLst>
              <a:ext uri="{FF2B5EF4-FFF2-40B4-BE49-F238E27FC236}">
                <a16:creationId xmlns:a16="http://schemas.microsoft.com/office/drawing/2014/main" id="{078D3A5D-2D18-4C4D-B0BF-B6AA3D6F9354}"/>
              </a:ext>
            </a:extLst>
          </p:cNvPr>
          <p:cNvSpPr>
            <a:spLocks noGrp="1"/>
          </p:cNvSpPr>
          <p:nvPr/>
        </p:nvSpPr>
        <p:spPr>
          <a:xfrm>
            <a:off x="4370832" y="4517136"/>
            <a:ext cx="7114032" cy="11430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ounded Rectangle 23">
            <a:extLst>
              <a:ext uri="{FF2B5EF4-FFF2-40B4-BE49-F238E27FC236}">
                <a16:creationId xmlns:a16="http://schemas.microsoft.com/office/drawing/2014/main" id="{B54DC0B1-AF1F-4434-8DDC-DB579627FB09}"/>
              </a:ext>
            </a:extLst>
          </p:cNvPr>
          <p:cNvSpPr>
            <a:spLocks noGrp="1"/>
          </p:cNvSpPr>
          <p:nvPr/>
        </p:nvSpPr>
        <p:spPr>
          <a:xfrm>
            <a:off x="4572000" y="4700016"/>
            <a:ext cx="5029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A3037C6-80BE-4867-8C12-51DC77ECF17B}"/>
              </a:ext>
            </a:extLst>
          </p:cNvPr>
          <p:cNvSpPr>
            <a:spLocks noGrp="1"/>
          </p:cNvSpPr>
          <p:nvPr/>
        </p:nvSpPr>
        <p:spPr>
          <a:xfrm>
            <a:off x="4645152" y="4722876"/>
            <a:ext cx="356616" cy="210312"/>
          </a:xfrm>
          <a:prstGeom prst="rect">
            <a:avLst/>
          </a:prstGeom>
          <a:noFill/>
        </p:spPr>
        <p:txBody>
          <a:bodyPr wrap="square" lIns="0" tIns="0" rIns="0" bIns="0" anchor="ctr">
            <a:spAutoFit/>
          </a:bodyPr>
          <a:lstStyle/>
          <a:p>
            <a:pPr algn="ctr">
              <a:spcBef>
                <a:spcPts val="0"/>
              </a:spcBef>
              <a:spcAft>
                <a:spcPts val="0"/>
              </a:spcAft>
              <a:buNone/>
              <a:defRPr sz="900" b="1" i="0">
                <a:solidFill>
                  <a:srgbClr val="087E78"/>
                </a:solidFill>
                <a:latin typeface="Aptos"/>
                <a:ea typeface="Aptos"/>
                <a:cs typeface="Aptos"/>
              </a:defRPr>
            </a:pPr>
            <a:r>
              <a:t>03</a:t>
            </a:r>
          </a:p>
        </p:txBody>
      </p:sp>
      <p:sp>
        <p:nvSpPr>
          <p:cNvPr id="26" name="TextBox 25">
            <a:extLst>
              <a:ext uri="{FF2B5EF4-FFF2-40B4-BE49-F238E27FC236}">
                <a16:creationId xmlns:a16="http://schemas.microsoft.com/office/drawing/2014/main" id="{02668DA5-E5CC-49BC-84D6-CBF2FA88F6DA}"/>
              </a:ext>
            </a:extLst>
          </p:cNvPr>
          <p:cNvSpPr>
            <a:spLocks noGrp="1"/>
          </p:cNvSpPr>
          <p:nvPr/>
        </p:nvSpPr>
        <p:spPr>
          <a:xfrm>
            <a:off x="5248656" y="4681727"/>
            <a:ext cx="5852160" cy="283464"/>
          </a:xfrm>
          <a:prstGeom prst="rect">
            <a:avLst/>
          </a:prstGeom>
          <a:noFill/>
        </p:spPr>
        <p:txBody>
          <a:bodyPr wrap="square" lIns="0" tIns="0" rIns="0" bIns="0" anchor="t">
            <a:spAutoFit/>
          </a:bodyPr>
          <a:lstStyle/>
          <a:p>
            <a:pPr algn="l">
              <a:spcBef>
                <a:spcPts val="0"/>
              </a:spcBef>
              <a:spcAft>
                <a:spcPts val="0"/>
              </a:spcAft>
              <a:buNone/>
              <a:defRPr sz="1600" b="1" i="0">
                <a:solidFill>
                  <a:srgbClr val="122438"/>
                </a:solidFill>
                <a:latin typeface="Aptos"/>
                <a:ea typeface="Aptos"/>
                <a:cs typeface="Aptos"/>
              </a:defRPr>
            </a:pPr>
            <a:r>
              <a:t>Proposes a temporal-capability lens</a:t>
            </a:r>
          </a:p>
        </p:txBody>
      </p:sp>
      <p:sp>
        <p:nvSpPr>
          <p:cNvPr id="27" name="TextBox 26">
            <a:extLst>
              <a:ext uri="{FF2B5EF4-FFF2-40B4-BE49-F238E27FC236}">
                <a16:creationId xmlns:a16="http://schemas.microsoft.com/office/drawing/2014/main" id="{39147AF3-29D1-4DA8-9587-2E44877EC363}"/>
              </a:ext>
            </a:extLst>
          </p:cNvPr>
          <p:cNvSpPr>
            <a:spLocks noGrp="1"/>
          </p:cNvSpPr>
          <p:nvPr/>
        </p:nvSpPr>
        <p:spPr>
          <a:xfrm>
            <a:off x="5248656" y="5047488"/>
            <a:ext cx="5852160" cy="448056"/>
          </a:xfrm>
          <a:prstGeom prst="rect">
            <a:avLst/>
          </a:prstGeom>
          <a:noFill/>
        </p:spPr>
        <p:txBody>
          <a:bodyPr wrap="square" lIns="0" tIns="0" rIns="0" bIns="0" anchor="t">
            <a:spAutoFit/>
          </a:bodyPr>
          <a:lstStyle/>
          <a:p>
            <a:pPr algn="l">
              <a:spcBef>
                <a:spcPts val="0"/>
              </a:spcBef>
              <a:spcAft>
                <a:spcPts val="0"/>
              </a:spcAft>
              <a:buNone/>
              <a:defRPr sz="1150" b="0" i="0">
                <a:solidFill>
                  <a:srgbClr val="5E6D7B"/>
                </a:solidFill>
                <a:latin typeface="Aptos"/>
                <a:ea typeface="Aptos"/>
                <a:cs typeface="Aptos"/>
              </a:defRPr>
            </a:pPr>
            <a:r>
              <a:t>Consistency → understanding → reasoning (an analytical framework proposed by this survey).</a:t>
            </a:r>
          </a:p>
        </p:txBody>
      </p:sp>
    </p:spTree>
    <p:extLst>
      <p:ext uri="{BB962C8B-B14F-4D97-AF65-F5344CB8AC3E}">
        <p14:creationId xmlns:p14="http://schemas.microsoft.com/office/powerpoint/2010/main" val="1456746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9F1257-3042-43E8-BBE3-6536AEA84C9B}"/>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METHOD LANDSCAPE</a:t>
            </a:r>
          </a:p>
        </p:txBody>
      </p:sp>
      <p:sp>
        <p:nvSpPr>
          <p:cNvPr id="3" name="TextBox 2">
            <a:extLst>
              <a:ext uri="{FF2B5EF4-FFF2-40B4-BE49-F238E27FC236}">
                <a16:creationId xmlns:a16="http://schemas.microsoft.com/office/drawing/2014/main" id="{45B79077-A305-431B-A416-41D5CAF0FE79}"/>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The field’s design space is expanding</a:t>
            </a:r>
          </a:p>
        </p:txBody>
      </p:sp>
      <p:sp>
        <p:nvSpPr>
          <p:cNvPr id="4" name="Connector 3">
            <a:extLst>
              <a:ext uri="{FF2B5EF4-FFF2-40B4-BE49-F238E27FC236}">
                <a16:creationId xmlns:a16="http://schemas.microsoft.com/office/drawing/2014/main" id="{5B538526-8939-42EC-95B4-8A5EAE7053E7}"/>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C87E5B93-3A7E-47E9-9DD3-60AB933AAF93}"/>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9E991710-ACFC-440F-91BD-6EFCABE8A276}"/>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V.</a:t>
            </a:r>
          </a:p>
        </p:txBody>
      </p:sp>
      <p:sp>
        <p:nvSpPr>
          <p:cNvPr id="8" name="Connector 7">
            <a:extLst>
              <a:ext uri="{FF2B5EF4-FFF2-40B4-BE49-F238E27FC236}">
                <a16:creationId xmlns:a16="http://schemas.microsoft.com/office/drawing/2014/main" id="{4FA6FBBF-2B47-4611-857C-64C22E3A201E}"/>
              </a:ext>
            </a:extLst>
          </p:cNvPr>
          <p:cNvSpPr>
            <a:spLocks noGrp="1"/>
          </p:cNvSpPr>
          <p:nvPr/>
        </p:nvSpPr>
        <p:spPr>
          <a:xfrm>
            <a:off x="1024128" y="2432304"/>
            <a:ext cx="10104120" cy="0"/>
          </a:xfrm>
          <a:prstGeom prst="line">
            <a:avLst/>
          </a:prstGeom>
          <a:ln w="25400">
            <a:solidFill>
              <a:srgbClr val="BCC9D1"/>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9" name="Oval 8">
            <a:extLst>
              <a:ext uri="{FF2B5EF4-FFF2-40B4-BE49-F238E27FC236}">
                <a16:creationId xmlns:a16="http://schemas.microsoft.com/office/drawing/2014/main" id="{2676C647-6E06-45DB-B8DE-0D6B3F4CFD90}"/>
              </a:ext>
            </a:extLst>
          </p:cNvPr>
          <p:cNvSpPr>
            <a:spLocks noGrp="1"/>
          </p:cNvSpPr>
          <p:nvPr/>
        </p:nvSpPr>
        <p:spPr>
          <a:xfrm>
            <a:off x="841247" y="2276856"/>
            <a:ext cx="310896" cy="310896"/>
          </a:xfrm>
          <a:prstGeom prst="ellipse">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ounded Rectangle 9">
            <a:extLst>
              <a:ext uri="{FF2B5EF4-FFF2-40B4-BE49-F238E27FC236}">
                <a16:creationId xmlns:a16="http://schemas.microsoft.com/office/drawing/2014/main" id="{72D21E21-E298-46E9-AD6E-C897E7EAC204}"/>
              </a:ext>
            </a:extLst>
          </p:cNvPr>
          <p:cNvSpPr>
            <a:spLocks noGrp="1"/>
          </p:cNvSpPr>
          <p:nvPr/>
        </p:nvSpPr>
        <p:spPr>
          <a:xfrm>
            <a:off x="749808"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ounded Rectangle 10">
            <a:extLst>
              <a:ext uri="{FF2B5EF4-FFF2-40B4-BE49-F238E27FC236}">
                <a16:creationId xmlns:a16="http://schemas.microsoft.com/office/drawing/2014/main" id="{7777F1FB-C909-4D2D-BDA6-045054C638CC}"/>
              </a:ext>
            </a:extLst>
          </p:cNvPr>
          <p:cNvSpPr>
            <a:spLocks noGrp="1"/>
          </p:cNvSpPr>
          <p:nvPr/>
        </p:nvSpPr>
        <p:spPr>
          <a:xfrm>
            <a:off x="886968" y="2926080"/>
            <a:ext cx="1938528"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353EA9D-3031-4D47-B3FB-24EB30D8FFC3}"/>
              </a:ext>
            </a:extLst>
          </p:cNvPr>
          <p:cNvSpPr>
            <a:spLocks noGrp="1"/>
          </p:cNvSpPr>
          <p:nvPr/>
        </p:nvSpPr>
        <p:spPr>
          <a:xfrm>
            <a:off x="960120" y="2948940"/>
            <a:ext cx="1792224" cy="210312"/>
          </a:xfrm>
          <a:prstGeom prst="rect">
            <a:avLst/>
          </a:prstGeom>
          <a:noFill/>
        </p:spPr>
        <p:txBody>
          <a:bodyPr wrap="square" lIns="0" tIns="0" rIns="0" bIns="0" anchor="ctr">
            <a:spAutoFit/>
          </a:bodyPr>
          <a:lstStyle/>
          <a:p>
            <a:pPr algn="ctr">
              <a:spcBef>
                <a:spcPts val="0"/>
              </a:spcBef>
              <a:spcAft>
                <a:spcPts val="0"/>
              </a:spcAft>
              <a:buNone/>
              <a:defRPr sz="740" b="1" i="0">
                <a:solidFill>
                  <a:srgbClr val="5A8DEE"/>
                </a:solidFill>
                <a:latin typeface="Aptos"/>
                <a:ea typeface="Aptos"/>
                <a:cs typeface="Aptos"/>
              </a:defRPr>
            </a:pPr>
            <a:r>
              <a:t>GROUND THEN PROPAGATE</a:t>
            </a:r>
          </a:p>
        </p:txBody>
      </p:sp>
      <p:sp>
        <p:nvSpPr>
          <p:cNvPr id="13" name="TextBox 12">
            <a:extLst>
              <a:ext uri="{FF2B5EF4-FFF2-40B4-BE49-F238E27FC236}">
                <a16:creationId xmlns:a16="http://schemas.microsoft.com/office/drawing/2014/main" id="{A04C62EF-B5BA-4FC1-88E8-635C708010A3}"/>
              </a:ext>
            </a:extLst>
          </p:cNvPr>
          <p:cNvSpPr>
            <a:spLocks noGrp="1"/>
          </p:cNvSpPr>
          <p:nvPr/>
        </p:nvSpPr>
        <p:spPr>
          <a:xfrm>
            <a:off x="905256" y="3474720"/>
            <a:ext cx="1901952" cy="594360"/>
          </a:xfrm>
          <a:prstGeom prst="rect">
            <a:avLst/>
          </a:prstGeom>
          <a:noFill/>
        </p:spPr>
        <p:txBody>
          <a:bodyPr wrap="square" lIns="0" tIns="0" rIns="0" bIns="0" anchor="t">
            <a:spAutoFit/>
          </a:bodyPr>
          <a:lstStyle/>
          <a:p>
            <a:pPr algn="ctr">
              <a:spcBef>
                <a:spcPts val="0"/>
              </a:spcBef>
              <a:spcAft>
                <a:spcPts val="0"/>
              </a:spcAft>
              <a:buNone/>
              <a:defRPr sz="1300" b="0" i="0">
                <a:solidFill>
                  <a:srgbClr val="172A3A"/>
                </a:solidFill>
                <a:latin typeface="Aptos"/>
                <a:ea typeface="Aptos"/>
                <a:cs typeface="Aptos"/>
              </a:defRPr>
            </a:pPr>
            <a:r>
              <a:t>URVOS grounds text</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in each frame, then</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propagates masks</a:t>
            </a:r>
          </a:p>
        </p:txBody>
      </p:sp>
      <p:sp>
        <p:nvSpPr>
          <p:cNvPr id="14" name="Connector 13">
            <a:extLst>
              <a:ext uri="{FF2B5EF4-FFF2-40B4-BE49-F238E27FC236}">
                <a16:creationId xmlns:a16="http://schemas.microsoft.com/office/drawing/2014/main" id="{8005CC5E-5D35-418D-B386-FE8BA1A43729}"/>
              </a:ext>
            </a:extLst>
          </p:cNvPr>
          <p:cNvSpPr>
            <a:spLocks noGrp="1"/>
          </p:cNvSpPr>
          <p:nvPr/>
        </p:nvSpPr>
        <p:spPr>
          <a:xfrm>
            <a:off x="1005840"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5" name="TextBox 14">
            <a:extLst>
              <a:ext uri="{FF2B5EF4-FFF2-40B4-BE49-F238E27FC236}">
                <a16:creationId xmlns:a16="http://schemas.microsoft.com/office/drawing/2014/main" id="{5E7B7883-8AE4-4453-82CD-9DC634ABD9F7}"/>
              </a:ext>
            </a:extLst>
          </p:cNvPr>
          <p:cNvSpPr>
            <a:spLocks noGrp="1"/>
          </p:cNvSpPr>
          <p:nvPr/>
        </p:nvSpPr>
        <p:spPr>
          <a:xfrm>
            <a:off x="905256" y="4489704"/>
            <a:ext cx="1901952" cy="438912"/>
          </a:xfrm>
          <a:prstGeom prst="rect">
            <a:avLst/>
          </a:prstGeom>
          <a:noFill/>
        </p:spPr>
        <p:txBody>
          <a:bodyPr wrap="square" lIns="0" tIns="0" rIns="0" bIns="0" anchor="t">
            <a:spAutoFit/>
          </a:bodyPr>
          <a:lstStyle/>
          <a:p>
            <a:pPr algn="ctr">
              <a:spcBef>
                <a:spcPts val="0"/>
              </a:spcBef>
              <a:spcAft>
                <a:spcPts val="0"/>
              </a:spcAft>
              <a:buNone/>
              <a:defRPr sz="1000" b="1" i="0">
                <a:solidFill>
                  <a:srgbClr val="5A8DEE"/>
                </a:solidFill>
                <a:latin typeface="Aptos"/>
                <a:ea typeface="Aptos"/>
                <a:cs typeface="Aptos"/>
              </a:defRPr>
            </a:pPr>
            <a:r>
              <a:t>URVOS</a:t>
            </a:r>
          </a:p>
        </p:txBody>
      </p:sp>
      <p:sp>
        <p:nvSpPr>
          <p:cNvPr id="16" name="Right Arrow 15">
            <a:extLst>
              <a:ext uri="{FF2B5EF4-FFF2-40B4-BE49-F238E27FC236}">
                <a16:creationId xmlns:a16="http://schemas.microsoft.com/office/drawing/2014/main" id="{08059B04-995F-4034-A654-7935A0C23C19}"/>
              </a:ext>
            </a:extLst>
          </p:cNvPr>
          <p:cNvSpPr>
            <a:spLocks noGrp="1"/>
          </p:cNvSpPr>
          <p:nvPr/>
        </p:nvSpPr>
        <p:spPr>
          <a:xfrm>
            <a:off x="3072384" y="3584448"/>
            <a:ext cx="338328" cy="192024"/>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Oval 16">
            <a:extLst>
              <a:ext uri="{FF2B5EF4-FFF2-40B4-BE49-F238E27FC236}">
                <a16:creationId xmlns:a16="http://schemas.microsoft.com/office/drawing/2014/main" id="{68E3C25D-B9D6-490A-870F-DF690A82C3B0}"/>
              </a:ext>
            </a:extLst>
          </p:cNvPr>
          <p:cNvSpPr>
            <a:spLocks noGrp="1"/>
          </p:cNvSpPr>
          <p:nvPr/>
        </p:nvSpPr>
        <p:spPr>
          <a:xfrm>
            <a:off x="3730752" y="2276856"/>
            <a:ext cx="310896" cy="310896"/>
          </a:xfrm>
          <a:prstGeom prst="ellipse">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ounded Rectangle 17">
            <a:extLst>
              <a:ext uri="{FF2B5EF4-FFF2-40B4-BE49-F238E27FC236}">
                <a16:creationId xmlns:a16="http://schemas.microsoft.com/office/drawing/2014/main" id="{94BE2AAE-17BF-44FF-8384-82F0214EC536}"/>
              </a:ext>
            </a:extLst>
          </p:cNvPr>
          <p:cNvSpPr>
            <a:spLocks noGrp="1"/>
          </p:cNvSpPr>
          <p:nvPr/>
        </p:nvSpPr>
        <p:spPr>
          <a:xfrm>
            <a:off x="3639312"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ounded Rectangle 18">
            <a:extLst>
              <a:ext uri="{FF2B5EF4-FFF2-40B4-BE49-F238E27FC236}">
                <a16:creationId xmlns:a16="http://schemas.microsoft.com/office/drawing/2014/main" id="{237B8B93-952D-4C05-A047-149395237F07}"/>
              </a:ext>
            </a:extLst>
          </p:cNvPr>
          <p:cNvSpPr>
            <a:spLocks noGrp="1"/>
          </p:cNvSpPr>
          <p:nvPr/>
        </p:nvSpPr>
        <p:spPr>
          <a:xfrm>
            <a:off x="3776472" y="2926080"/>
            <a:ext cx="1938528"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30C75243-044B-40F8-82FB-5D9764245492}"/>
              </a:ext>
            </a:extLst>
          </p:cNvPr>
          <p:cNvSpPr>
            <a:spLocks noGrp="1"/>
          </p:cNvSpPr>
          <p:nvPr/>
        </p:nvSpPr>
        <p:spPr>
          <a:xfrm>
            <a:off x="3849624" y="2948940"/>
            <a:ext cx="1792224" cy="210312"/>
          </a:xfrm>
          <a:prstGeom prst="rect">
            <a:avLst/>
          </a:prstGeom>
          <a:noFill/>
        </p:spPr>
        <p:txBody>
          <a:bodyPr wrap="square" lIns="0" tIns="0" rIns="0" bIns="0" anchor="ctr">
            <a:spAutoFit/>
          </a:bodyPr>
          <a:lstStyle/>
          <a:p>
            <a:pPr algn="ctr">
              <a:spcBef>
                <a:spcPts val="0"/>
              </a:spcBef>
              <a:spcAft>
                <a:spcPts val="0"/>
              </a:spcAft>
              <a:buNone/>
              <a:defRPr sz="740" b="1" i="0">
                <a:solidFill>
                  <a:srgbClr val="087E78"/>
                </a:solidFill>
                <a:latin typeface="Aptos"/>
                <a:ea typeface="Aptos"/>
                <a:cs typeface="Aptos"/>
              </a:defRPr>
            </a:pPr>
            <a:r>
              <a:t>JOINT TEMPORAL TRANSFORMERS</a:t>
            </a:r>
          </a:p>
        </p:txBody>
      </p:sp>
      <p:sp>
        <p:nvSpPr>
          <p:cNvPr id="21" name="TextBox 20">
            <a:extLst>
              <a:ext uri="{FF2B5EF4-FFF2-40B4-BE49-F238E27FC236}">
                <a16:creationId xmlns:a16="http://schemas.microsoft.com/office/drawing/2014/main" id="{A150E71C-A32B-42AC-AB53-F82994ABCF63}"/>
              </a:ext>
            </a:extLst>
          </p:cNvPr>
          <p:cNvSpPr>
            <a:spLocks noGrp="1"/>
          </p:cNvSpPr>
          <p:nvPr/>
        </p:nvSpPr>
        <p:spPr>
          <a:xfrm>
            <a:off x="3794760" y="3474720"/>
            <a:ext cx="1901952" cy="594360"/>
          </a:xfrm>
          <a:prstGeom prst="rect">
            <a:avLst/>
          </a:prstGeom>
          <a:noFill/>
        </p:spPr>
        <p:txBody>
          <a:bodyPr wrap="square" lIns="0" tIns="0" rIns="0" bIns="0" anchor="t">
            <a:spAutoFit/>
          </a:bodyPr>
          <a:lstStyle/>
          <a:p>
            <a:pPr algn="ctr">
              <a:spcBef>
                <a:spcPts val="0"/>
              </a:spcBef>
              <a:spcAft>
                <a:spcPts val="0"/>
              </a:spcAft>
              <a:buNone/>
              <a:defRPr sz="1300" b="0" i="0">
                <a:solidFill>
                  <a:srgbClr val="172A3A"/>
                </a:solidFill>
                <a:latin typeface="Aptos"/>
                <a:ea typeface="Aptos"/>
                <a:cs typeface="Aptos"/>
              </a:defRPr>
            </a:pPr>
            <a:r>
              <a:t>Queries link text</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to frames through time</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(ReferFormer, MUTR)</a:t>
            </a:r>
          </a:p>
        </p:txBody>
      </p:sp>
      <p:sp>
        <p:nvSpPr>
          <p:cNvPr id="22" name="Connector 21">
            <a:extLst>
              <a:ext uri="{FF2B5EF4-FFF2-40B4-BE49-F238E27FC236}">
                <a16:creationId xmlns:a16="http://schemas.microsoft.com/office/drawing/2014/main" id="{AFBDE86B-DDF7-4570-B755-E32C4BA59735}"/>
              </a:ext>
            </a:extLst>
          </p:cNvPr>
          <p:cNvSpPr>
            <a:spLocks noGrp="1"/>
          </p:cNvSpPr>
          <p:nvPr/>
        </p:nvSpPr>
        <p:spPr>
          <a:xfrm>
            <a:off x="3895344"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3" name="TextBox 22">
            <a:extLst>
              <a:ext uri="{FF2B5EF4-FFF2-40B4-BE49-F238E27FC236}">
                <a16:creationId xmlns:a16="http://schemas.microsoft.com/office/drawing/2014/main" id="{CE000E80-E332-4197-921B-E3D01AE710FC}"/>
              </a:ext>
            </a:extLst>
          </p:cNvPr>
          <p:cNvSpPr>
            <a:spLocks noGrp="1"/>
          </p:cNvSpPr>
          <p:nvPr/>
        </p:nvSpPr>
        <p:spPr>
          <a:xfrm>
            <a:off x="3794760" y="4489704"/>
            <a:ext cx="1901952" cy="438912"/>
          </a:xfrm>
          <a:prstGeom prst="rect">
            <a:avLst/>
          </a:prstGeom>
          <a:noFill/>
        </p:spPr>
        <p:txBody>
          <a:bodyPr wrap="square" lIns="0" tIns="0" rIns="0" bIns="0" anchor="t">
            <a:spAutoFit/>
          </a:bodyPr>
          <a:lstStyle/>
          <a:p>
            <a:pPr algn="ctr">
              <a:spcBef>
                <a:spcPts val="0"/>
              </a:spcBef>
              <a:spcAft>
                <a:spcPts val="0"/>
              </a:spcAft>
              <a:buNone/>
              <a:defRPr sz="1000" b="1" i="0">
                <a:solidFill>
                  <a:srgbClr val="087E78"/>
                </a:solidFill>
                <a:latin typeface="Aptos"/>
                <a:ea typeface="Aptos"/>
                <a:cs typeface="Aptos"/>
              </a:defRPr>
            </a:pPr>
            <a:r>
              <a:t>ReferFormer · MUTR</a:t>
            </a:r>
          </a:p>
        </p:txBody>
      </p:sp>
      <p:sp>
        <p:nvSpPr>
          <p:cNvPr id="24" name="Right Arrow 23">
            <a:extLst>
              <a:ext uri="{FF2B5EF4-FFF2-40B4-BE49-F238E27FC236}">
                <a16:creationId xmlns:a16="http://schemas.microsoft.com/office/drawing/2014/main" id="{37DBF720-D134-42E4-8C5D-467245C293B9}"/>
              </a:ext>
            </a:extLst>
          </p:cNvPr>
          <p:cNvSpPr>
            <a:spLocks noGrp="1"/>
          </p:cNvSpPr>
          <p:nvPr/>
        </p:nvSpPr>
        <p:spPr>
          <a:xfrm>
            <a:off x="5961888" y="3584448"/>
            <a:ext cx="338328" cy="192024"/>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Oval 24">
            <a:extLst>
              <a:ext uri="{FF2B5EF4-FFF2-40B4-BE49-F238E27FC236}">
                <a16:creationId xmlns:a16="http://schemas.microsoft.com/office/drawing/2014/main" id="{E1A4CAE1-E532-48BD-8FD8-6CB61A10EE9B}"/>
              </a:ext>
            </a:extLst>
          </p:cNvPr>
          <p:cNvSpPr>
            <a:spLocks noGrp="1"/>
          </p:cNvSpPr>
          <p:nvPr/>
        </p:nvSpPr>
        <p:spPr>
          <a:xfrm>
            <a:off x="6620255" y="2276856"/>
            <a:ext cx="310896" cy="310896"/>
          </a:xfrm>
          <a:prstGeom prst="ellipse">
            <a:avLst/>
          </a:prstGeom>
          <a:solidFill>
            <a:srgbClr val="A16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ounded Rectangle 25">
            <a:extLst>
              <a:ext uri="{FF2B5EF4-FFF2-40B4-BE49-F238E27FC236}">
                <a16:creationId xmlns:a16="http://schemas.microsoft.com/office/drawing/2014/main" id="{81369CFC-67FE-43E3-9689-0C1C33847FB0}"/>
              </a:ext>
            </a:extLst>
          </p:cNvPr>
          <p:cNvSpPr>
            <a:spLocks noGrp="1"/>
          </p:cNvSpPr>
          <p:nvPr/>
        </p:nvSpPr>
        <p:spPr>
          <a:xfrm>
            <a:off x="6528816"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ounded Rectangle 26">
            <a:extLst>
              <a:ext uri="{FF2B5EF4-FFF2-40B4-BE49-F238E27FC236}">
                <a16:creationId xmlns:a16="http://schemas.microsoft.com/office/drawing/2014/main" id="{842CA1D6-A136-48C2-92EE-693E8FC36093}"/>
              </a:ext>
            </a:extLst>
          </p:cNvPr>
          <p:cNvSpPr>
            <a:spLocks noGrp="1"/>
          </p:cNvSpPr>
          <p:nvPr/>
        </p:nvSpPr>
        <p:spPr>
          <a:xfrm>
            <a:off x="6665976" y="2926080"/>
            <a:ext cx="1938528"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B59C2D7F-5BDC-4C96-8108-613B9670B93A}"/>
              </a:ext>
            </a:extLst>
          </p:cNvPr>
          <p:cNvSpPr>
            <a:spLocks noGrp="1"/>
          </p:cNvSpPr>
          <p:nvPr/>
        </p:nvSpPr>
        <p:spPr>
          <a:xfrm>
            <a:off x="6739128" y="2948940"/>
            <a:ext cx="1792224" cy="210312"/>
          </a:xfrm>
          <a:prstGeom prst="rect">
            <a:avLst/>
          </a:prstGeom>
          <a:noFill/>
        </p:spPr>
        <p:txBody>
          <a:bodyPr wrap="square" lIns="0" tIns="0" rIns="0" bIns="0" anchor="ctr">
            <a:spAutoFit/>
          </a:bodyPr>
          <a:lstStyle/>
          <a:p>
            <a:pPr algn="ctr">
              <a:spcBef>
                <a:spcPts val="0"/>
              </a:spcBef>
              <a:spcAft>
                <a:spcPts val="0"/>
              </a:spcAft>
              <a:buNone/>
              <a:defRPr sz="740" b="1" i="0">
                <a:solidFill>
                  <a:srgbClr val="A16F00"/>
                </a:solidFill>
                <a:latin typeface="Aptos"/>
                <a:ea typeface="Aptos"/>
                <a:cs typeface="Aptos"/>
              </a:defRPr>
            </a:pPr>
            <a:r>
              <a:t>MODEL MOTION OR STREAM</a:t>
            </a:r>
          </a:p>
        </p:txBody>
      </p:sp>
      <p:sp>
        <p:nvSpPr>
          <p:cNvPr id="29" name="TextBox 28">
            <a:extLst>
              <a:ext uri="{FF2B5EF4-FFF2-40B4-BE49-F238E27FC236}">
                <a16:creationId xmlns:a16="http://schemas.microsoft.com/office/drawing/2014/main" id="{FFD20201-AC4F-40EE-AAE6-8AAA3780E451}"/>
              </a:ext>
            </a:extLst>
          </p:cNvPr>
          <p:cNvSpPr>
            <a:spLocks noGrp="1"/>
          </p:cNvSpPr>
          <p:nvPr/>
        </p:nvSpPr>
        <p:spPr>
          <a:xfrm>
            <a:off x="6684264" y="3474720"/>
            <a:ext cx="1901952" cy="594360"/>
          </a:xfrm>
          <a:prstGeom prst="rect">
            <a:avLst/>
          </a:prstGeom>
          <a:noFill/>
        </p:spPr>
        <p:txBody>
          <a:bodyPr wrap="square" lIns="0" tIns="0" rIns="0" bIns="0" anchor="t">
            <a:spAutoFit/>
          </a:bodyPr>
          <a:lstStyle/>
          <a:p>
            <a:pPr algn="ctr">
              <a:spcBef>
                <a:spcPts val="0"/>
              </a:spcBef>
              <a:spcAft>
                <a:spcPts val="0"/>
              </a:spcAft>
              <a:buNone/>
              <a:defRPr sz="1300" b="0" i="0">
                <a:solidFill>
                  <a:srgbClr val="172A3A"/>
                </a:solidFill>
                <a:latin typeface="Aptos"/>
                <a:ea typeface="Aptos"/>
                <a:cs typeface="Aptos"/>
              </a:defRPr>
            </a:pPr>
            <a:r>
              <a:t>LMPM matches words</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to object motion</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DsHmp separates cues</a:t>
            </a:r>
          </a:p>
        </p:txBody>
      </p:sp>
      <p:sp>
        <p:nvSpPr>
          <p:cNvPr id="30" name="Connector 29">
            <a:extLst>
              <a:ext uri="{FF2B5EF4-FFF2-40B4-BE49-F238E27FC236}">
                <a16:creationId xmlns:a16="http://schemas.microsoft.com/office/drawing/2014/main" id="{94A58B6F-C587-4DE9-8559-93964BA2CF94}"/>
              </a:ext>
            </a:extLst>
          </p:cNvPr>
          <p:cNvSpPr>
            <a:spLocks noGrp="1"/>
          </p:cNvSpPr>
          <p:nvPr/>
        </p:nvSpPr>
        <p:spPr>
          <a:xfrm>
            <a:off x="6784848"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1" name="TextBox 30">
            <a:extLst>
              <a:ext uri="{FF2B5EF4-FFF2-40B4-BE49-F238E27FC236}">
                <a16:creationId xmlns:a16="http://schemas.microsoft.com/office/drawing/2014/main" id="{82BB0A9C-E15B-40EC-9930-F189C1EF2E19}"/>
              </a:ext>
            </a:extLst>
          </p:cNvPr>
          <p:cNvSpPr>
            <a:spLocks noGrp="1"/>
          </p:cNvSpPr>
          <p:nvPr/>
        </p:nvSpPr>
        <p:spPr>
          <a:xfrm>
            <a:off x="6684264" y="4489704"/>
            <a:ext cx="1901952" cy="438912"/>
          </a:xfrm>
          <a:prstGeom prst="rect">
            <a:avLst/>
          </a:prstGeom>
          <a:noFill/>
        </p:spPr>
        <p:txBody>
          <a:bodyPr wrap="square" lIns="0" tIns="0" rIns="0" bIns="0" anchor="t">
            <a:spAutoFit/>
          </a:bodyPr>
          <a:lstStyle/>
          <a:p>
            <a:pPr algn="ctr">
              <a:spcBef>
                <a:spcPts val="0"/>
              </a:spcBef>
              <a:spcAft>
                <a:spcPts val="0"/>
              </a:spcAft>
              <a:buNone/>
              <a:defRPr sz="1000" b="1" i="0">
                <a:solidFill>
                  <a:srgbClr val="A16F00"/>
                </a:solidFill>
                <a:latin typeface="Aptos"/>
                <a:ea typeface="Aptos"/>
                <a:cs typeface="Aptos"/>
              </a:defRPr>
            </a:pPr>
            <a:r>
              <a:t>LMPM · DsHmp · OnlineRefer</a:t>
            </a:r>
          </a:p>
        </p:txBody>
      </p:sp>
      <p:sp>
        <p:nvSpPr>
          <p:cNvPr id="32" name="Right Arrow 31">
            <a:extLst>
              <a:ext uri="{FF2B5EF4-FFF2-40B4-BE49-F238E27FC236}">
                <a16:creationId xmlns:a16="http://schemas.microsoft.com/office/drawing/2014/main" id="{4D41DF9B-5808-41D1-9352-D07DD4FC6493}"/>
              </a:ext>
            </a:extLst>
          </p:cNvPr>
          <p:cNvSpPr>
            <a:spLocks noGrp="1"/>
          </p:cNvSpPr>
          <p:nvPr/>
        </p:nvSpPr>
        <p:spPr>
          <a:xfrm>
            <a:off x="8851392" y="3584448"/>
            <a:ext cx="338328" cy="192024"/>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Oval 32">
            <a:extLst>
              <a:ext uri="{FF2B5EF4-FFF2-40B4-BE49-F238E27FC236}">
                <a16:creationId xmlns:a16="http://schemas.microsoft.com/office/drawing/2014/main" id="{0D92E95F-DAE9-4510-BCFA-FEB489F81A67}"/>
              </a:ext>
            </a:extLst>
          </p:cNvPr>
          <p:cNvSpPr>
            <a:spLocks noGrp="1"/>
          </p:cNvSpPr>
          <p:nvPr/>
        </p:nvSpPr>
        <p:spPr>
          <a:xfrm>
            <a:off x="9509760" y="2276856"/>
            <a:ext cx="310896" cy="310896"/>
          </a:xfrm>
          <a:prstGeom prst="ellipse">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ounded Rectangle 33">
            <a:extLst>
              <a:ext uri="{FF2B5EF4-FFF2-40B4-BE49-F238E27FC236}">
                <a16:creationId xmlns:a16="http://schemas.microsoft.com/office/drawing/2014/main" id="{7203336B-A1B0-4A50-9ACB-8802A0EA29B0}"/>
              </a:ext>
            </a:extLst>
          </p:cNvPr>
          <p:cNvSpPr>
            <a:spLocks noGrp="1"/>
          </p:cNvSpPr>
          <p:nvPr/>
        </p:nvSpPr>
        <p:spPr>
          <a:xfrm>
            <a:off x="9418320" y="2761488"/>
            <a:ext cx="2212848" cy="237744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ounded Rectangle 34">
            <a:extLst>
              <a:ext uri="{FF2B5EF4-FFF2-40B4-BE49-F238E27FC236}">
                <a16:creationId xmlns:a16="http://schemas.microsoft.com/office/drawing/2014/main" id="{B6B19D06-1648-47FE-B628-D2D719C28E4B}"/>
              </a:ext>
            </a:extLst>
          </p:cNvPr>
          <p:cNvSpPr>
            <a:spLocks noGrp="1"/>
          </p:cNvSpPr>
          <p:nvPr/>
        </p:nvSpPr>
        <p:spPr>
          <a:xfrm>
            <a:off x="9555480" y="2926080"/>
            <a:ext cx="1938528"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EA060BD2-E7D3-4177-8703-94DB99E2F569}"/>
              </a:ext>
            </a:extLst>
          </p:cNvPr>
          <p:cNvSpPr>
            <a:spLocks noGrp="1"/>
          </p:cNvSpPr>
          <p:nvPr/>
        </p:nvSpPr>
        <p:spPr>
          <a:xfrm>
            <a:off x="9628632" y="2948940"/>
            <a:ext cx="1792224" cy="210312"/>
          </a:xfrm>
          <a:prstGeom prst="rect">
            <a:avLst/>
          </a:prstGeom>
          <a:noFill/>
        </p:spPr>
        <p:txBody>
          <a:bodyPr wrap="square" lIns="0" tIns="0" rIns="0" bIns="0" anchor="ctr">
            <a:spAutoFit/>
          </a:bodyPr>
          <a:lstStyle/>
          <a:p>
            <a:pPr algn="ctr">
              <a:spcBef>
                <a:spcPts val="0"/>
              </a:spcBef>
              <a:spcAft>
                <a:spcPts val="0"/>
              </a:spcAft>
              <a:buNone/>
              <a:defRPr sz="740" b="1" i="0">
                <a:solidFill>
                  <a:srgbClr val="F07167"/>
                </a:solidFill>
                <a:latin typeface="Aptos"/>
                <a:ea typeface="Aptos"/>
                <a:cs typeface="Aptos"/>
              </a:defRPr>
            </a:pPr>
            <a:r>
              <a:t>ADAPT &amp; REASON</a:t>
            </a:r>
          </a:p>
        </p:txBody>
      </p:sp>
      <p:sp>
        <p:nvSpPr>
          <p:cNvPr id="37" name="TextBox 36">
            <a:extLst>
              <a:ext uri="{FF2B5EF4-FFF2-40B4-BE49-F238E27FC236}">
                <a16:creationId xmlns:a16="http://schemas.microsoft.com/office/drawing/2014/main" id="{456FFD73-376E-4A4C-94CF-21ADDE4532E5}"/>
              </a:ext>
            </a:extLst>
          </p:cNvPr>
          <p:cNvSpPr>
            <a:spLocks noGrp="1"/>
          </p:cNvSpPr>
          <p:nvPr/>
        </p:nvSpPr>
        <p:spPr>
          <a:xfrm>
            <a:off x="9573768" y="3474720"/>
            <a:ext cx="1901952" cy="792480"/>
          </a:xfrm>
          <a:prstGeom prst="rect">
            <a:avLst/>
          </a:prstGeom>
          <a:noFill/>
        </p:spPr>
        <p:txBody>
          <a:bodyPr wrap="square" lIns="0" tIns="0" rIns="0" bIns="0" anchor="t">
            <a:spAutoFit/>
          </a:bodyPr>
          <a:lstStyle/>
          <a:p>
            <a:pPr algn="ctr">
              <a:spcBef>
                <a:spcPts val="0"/>
              </a:spcBef>
              <a:spcAft>
                <a:spcPts val="0"/>
              </a:spcAft>
              <a:buNone/>
              <a:defRPr sz="1300" b="0" i="0">
                <a:solidFill>
                  <a:srgbClr val="172A3A"/>
                </a:solidFill>
                <a:latin typeface="Aptos"/>
                <a:ea typeface="Aptos"/>
                <a:cs typeface="Aptos"/>
              </a:defRPr>
            </a:pPr>
            <a:r>
              <a:t>RefSAM adapts SAM</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SAMWISE checks memory</a:t>
            </a:r>
          </a:p>
          <a:p>
            <a:pPr algn="ctr">
              <a:spcBef>
                <a:spcPts val="0"/>
              </a:spcBef>
              <a:spcAft>
                <a:spcPts val="0"/>
              </a:spcAft>
              <a:buNone/>
              <a:defRPr sz="1300" b="0" i="0">
                <a:solidFill>
                  <a:srgbClr val="172A3A"/>
                </a:solidFill>
                <a:latin typeface="Aptos"/>
                <a:ea typeface="Aptos"/>
                <a:cs typeface="Aptos"/>
              </a:defRPr>
            </a:pPr>
            <a:r>
              <a:rPr sz="1300" b="0" i="0">
                <a:solidFill>
                  <a:srgbClr val="172A3A"/>
                </a:solidFill>
                <a:latin typeface="Aptos"/>
                <a:ea typeface="Aptos"/>
                <a:cs typeface="Aptos"/>
              </a:rPr>
              <a:t>VISA adds reasoning</a:t>
            </a:r>
          </a:p>
        </p:txBody>
      </p:sp>
      <p:sp>
        <p:nvSpPr>
          <p:cNvPr id="38" name="Connector 37">
            <a:extLst>
              <a:ext uri="{FF2B5EF4-FFF2-40B4-BE49-F238E27FC236}">
                <a16:creationId xmlns:a16="http://schemas.microsoft.com/office/drawing/2014/main" id="{8B8DE973-A809-45FD-B50B-4E6D9B2ADD64}"/>
              </a:ext>
            </a:extLst>
          </p:cNvPr>
          <p:cNvSpPr>
            <a:spLocks noGrp="1"/>
          </p:cNvSpPr>
          <p:nvPr/>
        </p:nvSpPr>
        <p:spPr>
          <a:xfrm>
            <a:off x="9674352" y="4315968"/>
            <a:ext cx="1700784"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9" name="TextBox 38">
            <a:extLst>
              <a:ext uri="{FF2B5EF4-FFF2-40B4-BE49-F238E27FC236}">
                <a16:creationId xmlns:a16="http://schemas.microsoft.com/office/drawing/2014/main" id="{C8DEA90B-9A99-4572-9436-03D4A6866BCA}"/>
              </a:ext>
            </a:extLst>
          </p:cNvPr>
          <p:cNvSpPr>
            <a:spLocks noGrp="1"/>
          </p:cNvSpPr>
          <p:nvPr/>
        </p:nvSpPr>
        <p:spPr>
          <a:xfrm>
            <a:off x="9573768" y="4489704"/>
            <a:ext cx="1901952" cy="438912"/>
          </a:xfrm>
          <a:prstGeom prst="rect">
            <a:avLst/>
          </a:prstGeom>
          <a:noFill/>
        </p:spPr>
        <p:txBody>
          <a:bodyPr wrap="square" lIns="0" tIns="0" rIns="0" bIns="0" anchor="t">
            <a:spAutoFit/>
          </a:bodyPr>
          <a:lstStyle/>
          <a:p>
            <a:pPr algn="ctr">
              <a:spcBef>
                <a:spcPts val="0"/>
              </a:spcBef>
              <a:spcAft>
                <a:spcPts val="0"/>
              </a:spcAft>
              <a:buNone/>
              <a:defRPr sz="1000" b="1" i="0">
                <a:solidFill>
                  <a:srgbClr val="F07167"/>
                </a:solidFill>
                <a:latin typeface="Aptos"/>
                <a:ea typeface="Aptos"/>
                <a:cs typeface="Aptos"/>
              </a:defRPr>
            </a:pPr>
            <a:r>
              <a:t>RefSAM · SAMWISE · VISA</a:t>
            </a:r>
          </a:p>
        </p:txBody>
      </p:sp>
      <p:sp>
        <p:nvSpPr>
          <p:cNvPr id="40" name="TextBox 39">
            <a:extLst>
              <a:ext uri="{FF2B5EF4-FFF2-40B4-BE49-F238E27FC236}">
                <a16:creationId xmlns:a16="http://schemas.microsoft.com/office/drawing/2014/main" id="{CB7F3737-961F-40BA-8DDA-CA9F4886CD45}"/>
              </a:ext>
            </a:extLst>
          </p:cNvPr>
          <p:cNvSpPr>
            <a:spLocks noGrp="1"/>
          </p:cNvSpPr>
          <p:nvPr/>
        </p:nvSpPr>
        <p:spPr>
          <a:xfrm>
            <a:off x="804672" y="5541264"/>
            <a:ext cx="10652760" cy="393192"/>
          </a:xfrm>
          <a:prstGeom prst="rect">
            <a:avLst/>
          </a:prstGeom>
          <a:noFill/>
        </p:spPr>
        <p:txBody>
          <a:bodyPr wrap="square" lIns="0" tIns="0" rIns="0" bIns="0" anchor="t">
            <a:spAutoFit/>
          </a:bodyPr>
          <a:lstStyle/>
          <a:p>
            <a:pPr algn="ctr">
              <a:spcBef>
                <a:spcPts val="0"/>
              </a:spcBef>
              <a:spcAft>
                <a:spcPts val="0"/>
              </a:spcAft>
              <a:buNone/>
              <a:defRPr sz="1300" b="1" i="0">
                <a:solidFill>
                  <a:srgbClr val="122438"/>
                </a:solidFill>
                <a:latin typeface="Aptos"/>
                <a:ea typeface="Aptos"/>
                <a:cs typeface="Aptos"/>
              </a:defRPr>
            </a:pPr>
            <a:r>
              <a:t>These paradigms overlap: each shifts where the system stores context and how it uses language over time.</a:t>
            </a:r>
          </a:p>
        </p:txBody>
      </p:sp>
    </p:spTree>
    <p:extLst>
      <p:ext uri="{BB962C8B-B14F-4D97-AF65-F5344CB8AC3E}">
        <p14:creationId xmlns:p14="http://schemas.microsoft.com/office/powerpoint/2010/main" val="1266646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F25809-723D-469A-BC50-8CD83467B88F}"/>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ANALYTICAL FRAMEWORK</a:t>
            </a:r>
          </a:p>
        </p:txBody>
      </p:sp>
      <p:sp>
        <p:nvSpPr>
          <p:cNvPr id="3" name="TextBox 2">
            <a:extLst>
              <a:ext uri="{FF2B5EF4-FFF2-40B4-BE49-F238E27FC236}">
                <a16:creationId xmlns:a16="http://schemas.microsoft.com/office/drawing/2014/main" id="{340ED2AD-786C-4E94-8D04-4EC9D4679CF8}"/>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Temporal ability comes in three levels</a:t>
            </a:r>
          </a:p>
        </p:txBody>
      </p:sp>
      <p:sp>
        <p:nvSpPr>
          <p:cNvPr id="4" name="Connector 3">
            <a:extLst>
              <a:ext uri="{FF2B5EF4-FFF2-40B4-BE49-F238E27FC236}">
                <a16:creationId xmlns:a16="http://schemas.microsoft.com/office/drawing/2014/main" id="{F1404B69-D748-409B-AA85-3565DA5FCB81}"/>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C9C90304-479D-45A2-8625-C1C4F896F024}"/>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C50009F4-3DCF-4223-AE41-69805F269E1D}"/>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VII; three-level framework proposed by this survey.</a:t>
            </a:r>
          </a:p>
        </p:txBody>
      </p:sp>
      <p:sp>
        <p:nvSpPr>
          <p:cNvPr id="8" name="Rounded Rectangle 7">
            <a:extLst>
              <a:ext uri="{FF2B5EF4-FFF2-40B4-BE49-F238E27FC236}">
                <a16:creationId xmlns:a16="http://schemas.microsoft.com/office/drawing/2014/main" id="{AB4A9844-CB1A-4D4F-AAE4-1F5600A89F4D}"/>
              </a:ext>
            </a:extLst>
          </p:cNvPr>
          <p:cNvSpPr>
            <a:spLocks noGrp="1"/>
          </p:cNvSpPr>
          <p:nvPr/>
        </p:nvSpPr>
        <p:spPr>
          <a:xfrm>
            <a:off x="768096" y="1737360"/>
            <a:ext cx="10570464" cy="11612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5509B609-9A2C-478B-AE1C-077C5DE40266}"/>
              </a:ext>
            </a:extLst>
          </p:cNvPr>
          <p:cNvSpPr>
            <a:spLocks noGrp="1"/>
          </p:cNvSpPr>
          <p:nvPr/>
        </p:nvSpPr>
        <p:spPr>
          <a:xfrm>
            <a:off x="768096" y="1737360"/>
            <a:ext cx="109728" cy="1161288"/>
          </a:xfrm>
          <a:prstGeom prst="rect">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54F5841-6321-44ED-A585-17180A49D44E}"/>
              </a:ext>
            </a:extLst>
          </p:cNvPr>
          <p:cNvSpPr>
            <a:spLocks noGrp="1"/>
          </p:cNvSpPr>
          <p:nvPr/>
        </p:nvSpPr>
        <p:spPr>
          <a:xfrm>
            <a:off x="1042415" y="1883664"/>
            <a:ext cx="1078992" cy="192024"/>
          </a:xfrm>
          <a:prstGeom prst="rect">
            <a:avLst/>
          </a:prstGeom>
          <a:noFill/>
        </p:spPr>
        <p:txBody>
          <a:bodyPr wrap="square" lIns="0" tIns="0" rIns="0" bIns="0" anchor="t">
            <a:spAutoFit/>
          </a:bodyPr>
          <a:lstStyle/>
          <a:p>
            <a:pPr algn="l">
              <a:spcBef>
                <a:spcPts val="0"/>
              </a:spcBef>
              <a:spcAft>
                <a:spcPts val="0"/>
              </a:spcAft>
              <a:buNone/>
              <a:defRPr sz="900" b="1" i="0">
                <a:solidFill>
                  <a:srgbClr val="5A8DEE"/>
                </a:solidFill>
                <a:latin typeface="Aptos"/>
                <a:ea typeface="Aptos"/>
                <a:cs typeface="Aptos"/>
              </a:defRPr>
            </a:pPr>
            <a:r>
              <a:t>LEVEL 1</a:t>
            </a:r>
          </a:p>
        </p:txBody>
      </p:sp>
      <p:sp>
        <p:nvSpPr>
          <p:cNvPr id="11" name="TextBox 10">
            <a:extLst>
              <a:ext uri="{FF2B5EF4-FFF2-40B4-BE49-F238E27FC236}">
                <a16:creationId xmlns:a16="http://schemas.microsoft.com/office/drawing/2014/main" id="{EB3AFED9-EFCC-4F77-AADD-C3C9EE3415C9}"/>
              </a:ext>
            </a:extLst>
          </p:cNvPr>
          <p:cNvSpPr>
            <a:spLocks noGrp="1"/>
          </p:cNvSpPr>
          <p:nvPr/>
        </p:nvSpPr>
        <p:spPr>
          <a:xfrm>
            <a:off x="2121408" y="1856231"/>
            <a:ext cx="2999232" cy="283464"/>
          </a:xfrm>
          <a:prstGeom prst="rect">
            <a:avLst/>
          </a:prstGeom>
          <a:noFill/>
        </p:spPr>
        <p:txBody>
          <a:bodyPr wrap="square" lIns="0" tIns="0" rIns="0" bIns="0" anchor="t">
            <a:spAutoFit/>
          </a:bodyPr>
          <a:lstStyle/>
          <a:p>
            <a:pPr algn="l">
              <a:spcBef>
                <a:spcPts val="0"/>
              </a:spcBef>
              <a:spcAft>
                <a:spcPts val="0"/>
              </a:spcAft>
              <a:buNone/>
              <a:defRPr sz="1400" b="1" i="0">
                <a:solidFill>
                  <a:srgbClr val="122438"/>
                </a:solidFill>
                <a:latin typeface="Aptos"/>
                <a:ea typeface="Aptos"/>
                <a:cs typeface="Aptos"/>
              </a:defRPr>
            </a:pPr>
            <a:r>
              <a:t>TEMPORAL CONSISTENCY</a:t>
            </a:r>
          </a:p>
        </p:txBody>
      </p:sp>
      <p:sp>
        <p:nvSpPr>
          <p:cNvPr id="12" name="TextBox 11">
            <a:extLst>
              <a:ext uri="{FF2B5EF4-FFF2-40B4-BE49-F238E27FC236}">
                <a16:creationId xmlns:a16="http://schemas.microsoft.com/office/drawing/2014/main" id="{03153784-9FAF-447C-8F15-63651AA62A8A}"/>
              </a:ext>
            </a:extLst>
          </p:cNvPr>
          <p:cNvSpPr>
            <a:spLocks noGrp="1"/>
          </p:cNvSpPr>
          <p:nvPr/>
        </p:nvSpPr>
        <p:spPr>
          <a:xfrm>
            <a:off x="2121408" y="2212848"/>
            <a:ext cx="4407408" cy="420624"/>
          </a:xfrm>
          <a:prstGeom prst="rect">
            <a:avLst/>
          </a:prstGeom>
          <a:noFill/>
        </p:spPr>
        <p:txBody>
          <a:bodyPr wrap="square" lIns="0" tIns="0" rIns="0" bIns="0" anchor="t">
            <a:spAutoFit/>
          </a:bodyPr>
          <a:lstStyle/>
          <a:p>
            <a:pPr algn="l">
              <a:spcBef>
                <a:spcPts val="0"/>
              </a:spcBef>
              <a:spcAft>
                <a:spcPts val="0"/>
              </a:spcAft>
              <a:buNone/>
              <a:defRPr sz="1150" b="0" i="0">
                <a:solidFill>
                  <a:srgbClr val="5E6D7B"/>
                </a:solidFill>
                <a:latin typeface="Aptos"/>
                <a:ea typeface="Aptos"/>
                <a:cs typeface="Aptos"/>
              </a:defRPr>
            </a:pPr>
            <a:r>
              <a:t>Keep the same object mask stable as it moves or reappears.</a:t>
            </a:r>
          </a:p>
        </p:txBody>
      </p:sp>
      <p:sp>
        <p:nvSpPr>
          <p:cNvPr id="13" name="TextBox 12">
            <a:extLst>
              <a:ext uri="{FF2B5EF4-FFF2-40B4-BE49-F238E27FC236}">
                <a16:creationId xmlns:a16="http://schemas.microsoft.com/office/drawing/2014/main" id="{D2C69F31-CE09-40FE-BB9E-76E148B363BD}"/>
              </a:ext>
            </a:extLst>
          </p:cNvPr>
          <p:cNvSpPr>
            <a:spLocks noGrp="1"/>
          </p:cNvSpPr>
          <p:nvPr/>
        </p:nvSpPr>
        <p:spPr>
          <a:xfrm>
            <a:off x="6821424" y="1874519"/>
            <a:ext cx="4169664" cy="237744"/>
          </a:xfrm>
          <a:prstGeom prst="rect">
            <a:avLst/>
          </a:prstGeom>
          <a:noFill/>
        </p:spPr>
        <p:txBody>
          <a:bodyPr wrap="square" lIns="0" tIns="0" rIns="0" bIns="0" anchor="t">
            <a:spAutoFit/>
          </a:bodyPr>
          <a:lstStyle/>
          <a:p>
            <a:pPr algn="l">
              <a:spcBef>
                <a:spcPts val="0"/>
              </a:spcBef>
              <a:spcAft>
                <a:spcPts val="0"/>
              </a:spcAft>
              <a:buNone/>
              <a:defRPr sz="1200" b="1" i="0">
                <a:solidFill>
                  <a:srgbClr val="172A3A"/>
                </a:solidFill>
                <a:latin typeface="Aptos"/>
                <a:ea typeface="Aptos"/>
                <a:cs typeface="Aptos"/>
              </a:defRPr>
            </a:pPr>
            <a:r>
              <a:t>“Where is this same object now?”</a:t>
            </a:r>
          </a:p>
        </p:txBody>
      </p:sp>
      <p:sp>
        <p:nvSpPr>
          <p:cNvPr id="14" name="TextBox 13">
            <a:extLst>
              <a:ext uri="{FF2B5EF4-FFF2-40B4-BE49-F238E27FC236}">
                <a16:creationId xmlns:a16="http://schemas.microsoft.com/office/drawing/2014/main" id="{98831ABF-2F2C-42A5-B7C8-7CD8D07B7A0A}"/>
              </a:ext>
            </a:extLst>
          </p:cNvPr>
          <p:cNvSpPr>
            <a:spLocks noGrp="1"/>
          </p:cNvSpPr>
          <p:nvPr/>
        </p:nvSpPr>
        <p:spPr>
          <a:xfrm>
            <a:off x="6821424" y="2276856"/>
            <a:ext cx="4169664" cy="228600"/>
          </a:xfrm>
          <a:prstGeom prst="rect">
            <a:avLst/>
          </a:prstGeom>
          <a:noFill/>
        </p:spPr>
        <p:txBody>
          <a:bodyPr wrap="square" lIns="0" tIns="0" rIns="0" bIns="0" anchor="t">
            <a:spAutoFit/>
          </a:bodyPr>
          <a:lstStyle/>
          <a:p>
            <a:pPr algn="l">
              <a:spcBef>
                <a:spcPts val="0"/>
              </a:spcBef>
              <a:spcAft>
                <a:spcPts val="0"/>
              </a:spcAft>
              <a:buNone/>
              <a:defRPr sz="940" b="1" i="0">
                <a:solidFill>
                  <a:srgbClr val="5A8DEE"/>
                </a:solidFill>
                <a:latin typeface="Aptos"/>
                <a:ea typeface="Aptos"/>
                <a:cs typeface="Aptos"/>
              </a:defRPr>
            </a:pPr>
            <a:r>
              <a:t>URVOS · OnlineRefer · RefSAM</a:t>
            </a:r>
          </a:p>
        </p:txBody>
      </p:sp>
      <p:sp>
        <p:nvSpPr>
          <p:cNvPr id="15" name="Rounded Rectangle 14">
            <a:extLst>
              <a:ext uri="{FF2B5EF4-FFF2-40B4-BE49-F238E27FC236}">
                <a16:creationId xmlns:a16="http://schemas.microsoft.com/office/drawing/2014/main" id="{70A935F5-59D9-4C13-916C-5CB4D83179BD}"/>
              </a:ext>
            </a:extLst>
          </p:cNvPr>
          <p:cNvSpPr>
            <a:spLocks noGrp="1"/>
          </p:cNvSpPr>
          <p:nvPr/>
        </p:nvSpPr>
        <p:spPr>
          <a:xfrm>
            <a:off x="1152144" y="3127248"/>
            <a:ext cx="9802368" cy="11612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FB9B8B88-4857-4F1D-B896-62EFF2737B6F}"/>
              </a:ext>
            </a:extLst>
          </p:cNvPr>
          <p:cNvSpPr>
            <a:spLocks noGrp="1"/>
          </p:cNvSpPr>
          <p:nvPr/>
        </p:nvSpPr>
        <p:spPr>
          <a:xfrm>
            <a:off x="1152144" y="3127248"/>
            <a:ext cx="109728" cy="1161288"/>
          </a:xfrm>
          <a:prstGeom prst="rect">
            <a:avLst/>
          </a:prstGeom>
          <a:solidFill>
            <a:srgbClr val="087E7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8FEBC8-19E4-4353-A3EB-7579B2F6294D}"/>
              </a:ext>
            </a:extLst>
          </p:cNvPr>
          <p:cNvSpPr>
            <a:spLocks noGrp="1"/>
          </p:cNvSpPr>
          <p:nvPr/>
        </p:nvSpPr>
        <p:spPr>
          <a:xfrm>
            <a:off x="1426464" y="3273552"/>
            <a:ext cx="1078992" cy="192024"/>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LEVEL 2</a:t>
            </a:r>
          </a:p>
        </p:txBody>
      </p:sp>
      <p:sp>
        <p:nvSpPr>
          <p:cNvPr id="18" name="TextBox 17">
            <a:extLst>
              <a:ext uri="{FF2B5EF4-FFF2-40B4-BE49-F238E27FC236}">
                <a16:creationId xmlns:a16="http://schemas.microsoft.com/office/drawing/2014/main" id="{9A64135F-A8C8-4AA5-BBC7-DBD7E4038F85}"/>
              </a:ext>
            </a:extLst>
          </p:cNvPr>
          <p:cNvSpPr>
            <a:spLocks noGrp="1"/>
          </p:cNvSpPr>
          <p:nvPr/>
        </p:nvSpPr>
        <p:spPr>
          <a:xfrm>
            <a:off x="2505456" y="3246120"/>
            <a:ext cx="2999232" cy="283464"/>
          </a:xfrm>
          <a:prstGeom prst="rect">
            <a:avLst/>
          </a:prstGeom>
          <a:noFill/>
        </p:spPr>
        <p:txBody>
          <a:bodyPr wrap="square" lIns="0" tIns="0" rIns="0" bIns="0" anchor="t">
            <a:spAutoFit/>
          </a:bodyPr>
          <a:lstStyle/>
          <a:p>
            <a:pPr algn="l">
              <a:spcBef>
                <a:spcPts val="0"/>
              </a:spcBef>
              <a:spcAft>
                <a:spcPts val="0"/>
              </a:spcAft>
              <a:buNone/>
              <a:defRPr sz="1400" b="1" i="0">
                <a:solidFill>
                  <a:srgbClr val="122438"/>
                </a:solidFill>
                <a:latin typeface="Aptos"/>
                <a:ea typeface="Aptos"/>
                <a:cs typeface="Aptos"/>
              </a:defRPr>
            </a:pPr>
            <a:r>
              <a:t>TEMPORAL UNDERSTANDING</a:t>
            </a:r>
          </a:p>
        </p:txBody>
      </p:sp>
      <p:sp>
        <p:nvSpPr>
          <p:cNvPr id="19" name="TextBox 18">
            <a:extLst>
              <a:ext uri="{FF2B5EF4-FFF2-40B4-BE49-F238E27FC236}">
                <a16:creationId xmlns:a16="http://schemas.microsoft.com/office/drawing/2014/main" id="{18FA6F77-74C6-4E6C-84F5-59A605EE5765}"/>
              </a:ext>
            </a:extLst>
          </p:cNvPr>
          <p:cNvSpPr>
            <a:spLocks noGrp="1"/>
          </p:cNvSpPr>
          <p:nvPr/>
        </p:nvSpPr>
        <p:spPr>
          <a:xfrm>
            <a:off x="2505456" y="3602736"/>
            <a:ext cx="4407408" cy="420624"/>
          </a:xfrm>
          <a:prstGeom prst="rect">
            <a:avLst/>
          </a:prstGeom>
          <a:noFill/>
        </p:spPr>
        <p:txBody>
          <a:bodyPr wrap="square" lIns="0" tIns="0" rIns="0" bIns="0" anchor="t">
            <a:spAutoFit/>
          </a:bodyPr>
          <a:lstStyle/>
          <a:p>
            <a:pPr algn="l">
              <a:spcBef>
                <a:spcPts val="0"/>
              </a:spcBef>
              <a:spcAft>
                <a:spcPts val="0"/>
              </a:spcAft>
              <a:buNone/>
              <a:defRPr sz="1150" b="0" i="0">
                <a:solidFill>
                  <a:srgbClr val="5E6D7B"/>
                </a:solidFill>
                <a:latin typeface="Aptos"/>
                <a:ea typeface="Aptos"/>
                <a:cs typeface="Aptos"/>
              </a:defRPr>
            </a:pPr>
            <a:r>
              <a:t>Use action and motion cues to distinguish similar instances.</a:t>
            </a:r>
          </a:p>
        </p:txBody>
      </p:sp>
      <p:sp>
        <p:nvSpPr>
          <p:cNvPr id="20" name="TextBox 19">
            <a:extLst>
              <a:ext uri="{FF2B5EF4-FFF2-40B4-BE49-F238E27FC236}">
                <a16:creationId xmlns:a16="http://schemas.microsoft.com/office/drawing/2014/main" id="{94B94AC4-7B87-46B9-9F8B-C9762338E9AC}"/>
              </a:ext>
            </a:extLst>
          </p:cNvPr>
          <p:cNvSpPr>
            <a:spLocks noGrp="1"/>
          </p:cNvSpPr>
          <p:nvPr/>
        </p:nvSpPr>
        <p:spPr>
          <a:xfrm>
            <a:off x="7205472" y="3264408"/>
            <a:ext cx="3401568" cy="237744"/>
          </a:xfrm>
          <a:prstGeom prst="rect">
            <a:avLst/>
          </a:prstGeom>
          <a:noFill/>
        </p:spPr>
        <p:txBody>
          <a:bodyPr wrap="square" lIns="0" tIns="0" rIns="0" bIns="0" anchor="t">
            <a:spAutoFit/>
          </a:bodyPr>
          <a:lstStyle/>
          <a:p>
            <a:pPr algn="l">
              <a:spcBef>
                <a:spcPts val="0"/>
              </a:spcBef>
              <a:spcAft>
                <a:spcPts val="0"/>
              </a:spcAft>
              <a:buNone/>
              <a:defRPr sz="1200" b="1" i="0">
                <a:solidFill>
                  <a:srgbClr val="172A3A"/>
                </a:solidFill>
                <a:latin typeface="Aptos"/>
                <a:ea typeface="Aptos"/>
                <a:cs typeface="Aptos"/>
              </a:defRPr>
            </a:pPr>
            <a:r>
              <a:t>“Which person is running?”</a:t>
            </a:r>
          </a:p>
        </p:txBody>
      </p:sp>
      <p:sp>
        <p:nvSpPr>
          <p:cNvPr id="21" name="TextBox 20">
            <a:extLst>
              <a:ext uri="{FF2B5EF4-FFF2-40B4-BE49-F238E27FC236}">
                <a16:creationId xmlns:a16="http://schemas.microsoft.com/office/drawing/2014/main" id="{1716F694-357B-4E82-9D51-E500A9DFABE6}"/>
              </a:ext>
            </a:extLst>
          </p:cNvPr>
          <p:cNvSpPr>
            <a:spLocks noGrp="1"/>
          </p:cNvSpPr>
          <p:nvPr/>
        </p:nvSpPr>
        <p:spPr>
          <a:xfrm>
            <a:off x="7205472" y="3666744"/>
            <a:ext cx="3401568" cy="228600"/>
          </a:xfrm>
          <a:prstGeom prst="rect">
            <a:avLst/>
          </a:prstGeom>
          <a:noFill/>
        </p:spPr>
        <p:txBody>
          <a:bodyPr wrap="square" lIns="0" tIns="0" rIns="0" bIns="0" anchor="t">
            <a:spAutoFit/>
          </a:bodyPr>
          <a:lstStyle/>
          <a:p>
            <a:pPr algn="l">
              <a:spcBef>
                <a:spcPts val="0"/>
              </a:spcBef>
              <a:spcAft>
                <a:spcPts val="0"/>
              </a:spcAft>
              <a:buNone/>
              <a:defRPr sz="940" b="1" i="0">
                <a:solidFill>
                  <a:srgbClr val="087E78"/>
                </a:solidFill>
                <a:latin typeface="Aptos"/>
                <a:ea typeface="Aptos"/>
                <a:cs typeface="Aptos"/>
              </a:defRPr>
            </a:pPr>
            <a:r>
              <a:t>MUTR · HTML · DsHmp · SAMWISE</a:t>
            </a:r>
          </a:p>
        </p:txBody>
      </p:sp>
      <p:sp>
        <p:nvSpPr>
          <p:cNvPr id="22" name="Rounded Rectangle 21">
            <a:extLst>
              <a:ext uri="{FF2B5EF4-FFF2-40B4-BE49-F238E27FC236}">
                <a16:creationId xmlns:a16="http://schemas.microsoft.com/office/drawing/2014/main" id="{93C30261-D0BB-45A3-8CBC-B9DBCB42E0F7}"/>
              </a:ext>
            </a:extLst>
          </p:cNvPr>
          <p:cNvSpPr>
            <a:spLocks noGrp="1"/>
          </p:cNvSpPr>
          <p:nvPr/>
        </p:nvSpPr>
        <p:spPr>
          <a:xfrm>
            <a:off x="1536192" y="4517136"/>
            <a:ext cx="9034272" cy="116128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0E41C497-FF2B-4B78-8556-8B915E6CE170}"/>
              </a:ext>
            </a:extLst>
          </p:cNvPr>
          <p:cNvSpPr>
            <a:spLocks noGrp="1"/>
          </p:cNvSpPr>
          <p:nvPr/>
        </p:nvSpPr>
        <p:spPr>
          <a:xfrm>
            <a:off x="1536192" y="4517136"/>
            <a:ext cx="109728" cy="1161288"/>
          </a:xfrm>
          <a:prstGeom prst="rect">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79F23826-E1EA-4270-824F-F9ED3ADE429C}"/>
              </a:ext>
            </a:extLst>
          </p:cNvPr>
          <p:cNvSpPr>
            <a:spLocks noGrp="1"/>
          </p:cNvSpPr>
          <p:nvPr/>
        </p:nvSpPr>
        <p:spPr>
          <a:xfrm>
            <a:off x="1810512" y="4663440"/>
            <a:ext cx="1078992" cy="192024"/>
          </a:xfrm>
          <a:prstGeom prst="rect">
            <a:avLst/>
          </a:prstGeom>
          <a:noFill/>
        </p:spPr>
        <p:txBody>
          <a:bodyPr wrap="square" lIns="0" tIns="0" rIns="0" bIns="0" anchor="t">
            <a:spAutoFit/>
          </a:bodyPr>
          <a:lstStyle/>
          <a:p>
            <a:pPr algn="l">
              <a:spcBef>
                <a:spcPts val="0"/>
              </a:spcBef>
              <a:spcAft>
                <a:spcPts val="0"/>
              </a:spcAft>
              <a:buNone/>
              <a:defRPr sz="900" b="1" i="0">
                <a:solidFill>
                  <a:srgbClr val="F07167"/>
                </a:solidFill>
                <a:latin typeface="Aptos"/>
                <a:ea typeface="Aptos"/>
                <a:cs typeface="Aptos"/>
              </a:defRPr>
            </a:pPr>
            <a:r>
              <a:t>LEVEL 3</a:t>
            </a:r>
          </a:p>
        </p:txBody>
      </p:sp>
      <p:sp>
        <p:nvSpPr>
          <p:cNvPr id="25" name="TextBox 24">
            <a:extLst>
              <a:ext uri="{FF2B5EF4-FFF2-40B4-BE49-F238E27FC236}">
                <a16:creationId xmlns:a16="http://schemas.microsoft.com/office/drawing/2014/main" id="{02631015-F597-40A4-AE67-E5316DE9222B}"/>
              </a:ext>
            </a:extLst>
          </p:cNvPr>
          <p:cNvSpPr>
            <a:spLocks noGrp="1"/>
          </p:cNvSpPr>
          <p:nvPr/>
        </p:nvSpPr>
        <p:spPr>
          <a:xfrm>
            <a:off x="2889504" y="4636007"/>
            <a:ext cx="2999232" cy="283464"/>
          </a:xfrm>
          <a:prstGeom prst="rect">
            <a:avLst/>
          </a:prstGeom>
          <a:noFill/>
        </p:spPr>
        <p:txBody>
          <a:bodyPr wrap="square" lIns="0" tIns="0" rIns="0" bIns="0" anchor="t">
            <a:spAutoFit/>
          </a:bodyPr>
          <a:lstStyle/>
          <a:p>
            <a:pPr algn="l">
              <a:spcBef>
                <a:spcPts val="0"/>
              </a:spcBef>
              <a:spcAft>
                <a:spcPts val="0"/>
              </a:spcAft>
              <a:buNone/>
              <a:defRPr sz="1400" b="1" i="0">
                <a:solidFill>
                  <a:srgbClr val="122438"/>
                </a:solidFill>
                <a:latin typeface="Aptos"/>
                <a:ea typeface="Aptos"/>
                <a:cs typeface="Aptos"/>
              </a:defRPr>
            </a:pPr>
            <a:r>
              <a:t>TEMPORAL REASONING</a:t>
            </a:r>
          </a:p>
        </p:txBody>
      </p:sp>
      <p:sp>
        <p:nvSpPr>
          <p:cNvPr id="26" name="TextBox 25">
            <a:extLst>
              <a:ext uri="{FF2B5EF4-FFF2-40B4-BE49-F238E27FC236}">
                <a16:creationId xmlns:a16="http://schemas.microsoft.com/office/drawing/2014/main" id="{57858CE2-F1D1-4F59-A1B6-1B7951270252}"/>
              </a:ext>
            </a:extLst>
          </p:cNvPr>
          <p:cNvSpPr>
            <a:spLocks noGrp="1"/>
          </p:cNvSpPr>
          <p:nvPr/>
        </p:nvSpPr>
        <p:spPr>
          <a:xfrm>
            <a:off x="2889504" y="4992623"/>
            <a:ext cx="4407408" cy="420624"/>
          </a:xfrm>
          <a:prstGeom prst="rect">
            <a:avLst/>
          </a:prstGeom>
          <a:noFill/>
        </p:spPr>
        <p:txBody>
          <a:bodyPr wrap="square" lIns="0" tIns="0" rIns="0" bIns="0" anchor="t">
            <a:spAutoFit/>
          </a:bodyPr>
          <a:lstStyle/>
          <a:p>
            <a:pPr algn="l">
              <a:spcBef>
                <a:spcPts val="0"/>
              </a:spcBef>
              <a:spcAft>
                <a:spcPts val="0"/>
              </a:spcAft>
              <a:buNone/>
              <a:defRPr sz="1150" b="0" i="0">
                <a:solidFill>
                  <a:srgbClr val="5E6D7B"/>
                </a:solidFill>
                <a:latin typeface="Aptos"/>
                <a:ea typeface="Aptos"/>
                <a:cs typeface="Aptos"/>
              </a:defRPr>
            </a:pPr>
            <a:r>
              <a:t>Infer a target from event meaning, role, or causal context.</a:t>
            </a:r>
          </a:p>
        </p:txBody>
      </p:sp>
      <p:sp>
        <p:nvSpPr>
          <p:cNvPr id="27" name="TextBox 26">
            <a:extLst>
              <a:ext uri="{FF2B5EF4-FFF2-40B4-BE49-F238E27FC236}">
                <a16:creationId xmlns:a16="http://schemas.microsoft.com/office/drawing/2014/main" id="{1713465B-A2B0-4252-9023-92F042C7B82B}"/>
              </a:ext>
            </a:extLst>
          </p:cNvPr>
          <p:cNvSpPr>
            <a:spLocks noGrp="1"/>
          </p:cNvSpPr>
          <p:nvPr/>
        </p:nvSpPr>
        <p:spPr>
          <a:xfrm>
            <a:off x="7589520" y="4654296"/>
            <a:ext cx="2633472" cy="237744"/>
          </a:xfrm>
          <a:prstGeom prst="rect">
            <a:avLst/>
          </a:prstGeom>
          <a:noFill/>
        </p:spPr>
        <p:txBody>
          <a:bodyPr wrap="square" lIns="0" tIns="0" rIns="0" bIns="0" anchor="t">
            <a:spAutoFit/>
          </a:bodyPr>
          <a:lstStyle/>
          <a:p>
            <a:pPr algn="l">
              <a:spcBef>
                <a:spcPts val="0"/>
              </a:spcBef>
              <a:spcAft>
                <a:spcPts val="0"/>
              </a:spcAft>
              <a:buNone/>
              <a:defRPr sz="1200" b="1" i="0">
                <a:solidFill>
                  <a:srgbClr val="172A3A"/>
                </a:solidFill>
                <a:latin typeface="Aptos"/>
                <a:ea typeface="Aptos"/>
                <a:cs typeface="Aptos"/>
              </a:defRPr>
            </a:pPr>
            <a:r>
              <a:t>“Which object caused the result?”</a:t>
            </a:r>
          </a:p>
        </p:txBody>
      </p:sp>
      <p:sp>
        <p:nvSpPr>
          <p:cNvPr id="28" name="TextBox 27">
            <a:extLst>
              <a:ext uri="{FF2B5EF4-FFF2-40B4-BE49-F238E27FC236}">
                <a16:creationId xmlns:a16="http://schemas.microsoft.com/office/drawing/2014/main" id="{EE92347E-8B20-49AF-B4F6-65F2EB550977}"/>
              </a:ext>
            </a:extLst>
          </p:cNvPr>
          <p:cNvSpPr>
            <a:spLocks noGrp="1"/>
          </p:cNvSpPr>
          <p:nvPr/>
        </p:nvSpPr>
        <p:spPr>
          <a:xfrm>
            <a:off x="7589520" y="5056631"/>
            <a:ext cx="2633472" cy="228600"/>
          </a:xfrm>
          <a:prstGeom prst="rect">
            <a:avLst/>
          </a:prstGeom>
          <a:noFill/>
        </p:spPr>
        <p:txBody>
          <a:bodyPr wrap="square" lIns="0" tIns="0" rIns="0" bIns="0" anchor="t">
            <a:spAutoFit/>
          </a:bodyPr>
          <a:lstStyle/>
          <a:p>
            <a:pPr algn="l">
              <a:spcBef>
                <a:spcPts val="0"/>
              </a:spcBef>
              <a:spcAft>
                <a:spcPts val="0"/>
              </a:spcAft>
              <a:buNone/>
              <a:defRPr sz="940" b="1" i="0">
                <a:solidFill>
                  <a:srgbClr val="F07167"/>
                </a:solidFill>
                <a:latin typeface="Aptos"/>
                <a:ea typeface="Aptos"/>
                <a:cs typeface="Aptos"/>
              </a:defRPr>
            </a:pPr>
            <a:r>
              <a:t>VISA · LISA · VideoLISA</a:t>
            </a:r>
          </a:p>
        </p:txBody>
      </p:sp>
      <p:sp>
        <p:nvSpPr>
          <p:cNvPr id="29" name="TextBox 28">
            <a:extLst>
              <a:ext uri="{FF2B5EF4-FFF2-40B4-BE49-F238E27FC236}">
                <a16:creationId xmlns:a16="http://schemas.microsoft.com/office/drawing/2014/main" id="{2334AC0D-9FF8-41E4-BAC8-04E0C84FC904}"/>
              </a:ext>
            </a:extLst>
          </p:cNvPr>
          <p:cNvSpPr>
            <a:spLocks noGrp="1"/>
          </p:cNvSpPr>
          <p:nvPr/>
        </p:nvSpPr>
        <p:spPr>
          <a:xfrm>
            <a:off x="804672" y="5998464"/>
            <a:ext cx="10515600" cy="219456"/>
          </a:xfrm>
          <a:prstGeom prst="rect">
            <a:avLst/>
          </a:prstGeom>
          <a:noFill/>
        </p:spPr>
        <p:txBody>
          <a:bodyPr wrap="square" lIns="0" tIns="0" rIns="0" bIns="0" anchor="t">
            <a:spAutoFit/>
          </a:bodyPr>
          <a:lstStyle/>
          <a:p>
            <a:pPr algn="ctr">
              <a:spcBef>
                <a:spcPts val="0"/>
              </a:spcBef>
              <a:spcAft>
                <a:spcPts val="0"/>
              </a:spcAft>
              <a:buNone/>
              <a:defRPr sz="1200" b="1" i="0">
                <a:solidFill>
                  <a:srgbClr val="087E78"/>
                </a:solidFill>
                <a:latin typeface="Aptos"/>
                <a:ea typeface="Aptos"/>
                <a:cs typeface="Aptos"/>
              </a:defRPr>
            </a:pPr>
            <a:r>
              <a:t>Progression: preserve identity  →  interpret motion  →  infer event meaning</a:t>
            </a:r>
          </a:p>
        </p:txBody>
      </p:sp>
    </p:spTree>
    <p:extLst>
      <p:ext uri="{BB962C8B-B14F-4D97-AF65-F5344CB8AC3E}">
        <p14:creationId xmlns:p14="http://schemas.microsoft.com/office/powerpoint/2010/main" val="1062975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402AC4-AF19-4DBB-829E-5BA2C62AED40}"/>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ARCHITECTURE CHOICES</a:t>
            </a:r>
          </a:p>
        </p:txBody>
      </p:sp>
      <p:sp>
        <p:nvSpPr>
          <p:cNvPr id="3" name="TextBox 2">
            <a:extLst>
              <a:ext uri="{FF2B5EF4-FFF2-40B4-BE49-F238E27FC236}">
                <a16:creationId xmlns:a16="http://schemas.microsoft.com/office/drawing/2014/main" id="{CD8D426D-8801-4CD1-8636-A0B778C3753D}"/>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Four architectural levers address different failures</a:t>
            </a:r>
          </a:p>
        </p:txBody>
      </p:sp>
      <p:sp>
        <p:nvSpPr>
          <p:cNvPr id="4" name="Connector 3">
            <a:extLst>
              <a:ext uri="{FF2B5EF4-FFF2-40B4-BE49-F238E27FC236}">
                <a16:creationId xmlns:a16="http://schemas.microsoft.com/office/drawing/2014/main" id="{2B7E2ADE-6215-461B-A50F-766F2EDBB2BC}"/>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0A5A34CE-BB5F-4B5D-8A47-8AAA4673B543}"/>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CD78FAC6-FBAF-4299-99E6-D0135A9134D2}"/>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Sections V, VII–VIII; Table II.</a:t>
            </a:r>
          </a:p>
        </p:txBody>
      </p:sp>
      <p:sp>
        <p:nvSpPr>
          <p:cNvPr id="8" name="Rounded Rectangle 7">
            <a:extLst>
              <a:ext uri="{FF2B5EF4-FFF2-40B4-BE49-F238E27FC236}">
                <a16:creationId xmlns:a16="http://schemas.microsoft.com/office/drawing/2014/main" id="{B64070C9-B537-42D4-9FA4-5F8B41508DB4}"/>
              </a:ext>
            </a:extLst>
          </p:cNvPr>
          <p:cNvSpPr>
            <a:spLocks noGrp="1"/>
          </p:cNvSpPr>
          <p:nvPr/>
        </p:nvSpPr>
        <p:spPr>
          <a:xfrm>
            <a:off x="731520" y="1700784"/>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556CAFA7-BEE5-4388-B817-4B86B7DEEB24}"/>
              </a:ext>
            </a:extLst>
          </p:cNvPr>
          <p:cNvSpPr>
            <a:spLocks noGrp="1"/>
          </p:cNvSpPr>
          <p:nvPr/>
        </p:nvSpPr>
        <p:spPr>
          <a:xfrm>
            <a:off x="932688" y="1883664"/>
            <a:ext cx="2331720"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88D8038-ECD9-46A9-A562-D2CBAD6D3120}"/>
              </a:ext>
            </a:extLst>
          </p:cNvPr>
          <p:cNvSpPr>
            <a:spLocks noGrp="1"/>
          </p:cNvSpPr>
          <p:nvPr/>
        </p:nvSpPr>
        <p:spPr>
          <a:xfrm>
            <a:off x="1005840" y="1906524"/>
            <a:ext cx="2185415" cy="210312"/>
          </a:xfrm>
          <a:prstGeom prst="rect">
            <a:avLst/>
          </a:prstGeom>
          <a:noFill/>
        </p:spPr>
        <p:txBody>
          <a:bodyPr wrap="square" lIns="0" tIns="0" rIns="0" bIns="0" anchor="ctr">
            <a:spAutoFit/>
          </a:bodyPr>
          <a:lstStyle/>
          <a:p>
            <a:pPr algn="ctr">
              <a:spcBef>
                <a:spcPts val="0"/>
              </a:spcBef>
              <a:spcAft>
                <a:spcPts val="0"/>
              </a:spcAft>
              <a:buNone/>
              <a:defRPr sz="800" b="1" i="0">
                <a:solidFill>
                  <a:srgbClr val="5A8DEE"/>
                </a:solidFill>
                <a:latin typeface="Aptos"/>
                <a:ea typeface="Aptos"/>
                <a:cs typeface="Aptos"/>
              </a:defRPr>
            </a:pPr>
            <a:r>
              <a:t>QUERY PROPAGATION</a:t>
            </a:r>
          </a:p>
        </p:txBody>
      </p:sp>
      <p:sp>
        <p:nvSpPr>
          <p:cNvPr id="11" name="TextBox 10">
            <a:extLst>
              <a:ext uri="{FF2B5EF4-FFF2-40B4-BE49-F238E27FC236}">
                <a16:creationId xmlns:a16="http://schemas.microsoft.com/office/drawing/2014/main" id="{307990FB-7192-41AD-8F4B-0F2F645C702E}"/>
              </a:ext>
            </a:extLst>
          </p:cNvPr>
          <p:cNvSpPr>
            <a:spLocks noGrp="1"/>
          </p:cNvSpPr>
          <p:nvPr/>
        </p:nvSpPr>
        <p:spPr>
          <a:xfrm>
            <a:off x="960120" y="2340864"/>
            <a:ext cx="4828032" cy="438912"/>
          </a:xfrm>
          <a:prstGeom prst="rect">
            <a:avLst/>
          </a:prstGeom>
          <a:noFill/>
        </p:spPr>
        <p:txBody>
          <a:bodyPr wrap="square" lIns="0" tIns="0" rIns="0" bIns="0" anchor="t">
            <a:spAutoFit/>
          </a:bodyPr>
          <a:lstStyle/>
          <a:p>
            <a:pPr algn="l">
              <a:spcBef>
                <a:spcPts val="0"/>
              </a:spcBef>
              <a:spcAft>
                <a:spcPts val="0"/>
              </a:spcAft>
              <a:buNone/>
              <a:defRPr sz="1300" b="1" i="0">
                <a:solidFill>
                  <a:srgbClr val="172A3A"/>
                </a:solidFill>
                <a:latin typeface="Aptos"/>
                <a:ea typeface="Aptos"/>
                <a:cs typeface="Aptos"/>
              </a:defRPr>
            </a:pPr>
            <a:r>
              <a:t>Carry compact object queries frame to frame.</a:t>
            </a:r>
          </a:p>
        </p:txBody>
      </p:sp>
      <p:sp>
        <p:nvSpPr>
          <p:cNvPr id="12" name="TextBox 11">
            <a:extLst>
              <a:ext uri="{FF2B5EF4-FFF2-40B4-BE49-F238E27FC236}">
                <a16:creationId xmlns:a16="http://schemas.microsoft.com/office/drawing/2014/main" id="{6AA75335-DA3A-4F82-9FCA-1B372A617038}"/>
              </a:ext>
            </a:extLst>
          </p:cNvPr>
          <p:cNvSpPr>
            <a:spLocks noGrp="1"/>
          </p:cNvSpPr>
          <p:nvPr/>
        </p:nvSpPr>
        <p:spPr>
          <a:xfrm>
            <a:off x="960120" y="2807208"/>
            <a:ext cx="4828032" cy="329184"/>
          </a:xfrm>
          <a:prstGeom prst="rect">
            <a:avLst/>
          </a:prstGeom>
          <a:noFill/>
        </p:spPr>
        <p:txBody>
          <a:bodyPr wrap="square" lIns="0" tIns="0" rIns="0" bIns="0" anchor="t">
            <a:spAutoFit/>
          </a:bodyPr>
          <a:lstStyle/>
          <a:p>
            <a:pPr algn="l">
              <a:spcBef>
                <a:spcPts val="0"/>
              </a:spcBef>
              <a:spcAft>
                <a:spcPts val="0"/>
              </a:spcAft>
              <a:buNone/>
              <a:defRPr sz="1060" b="0" i="0">
                <a:solidFill>
                  <a:srgbClr val="5E6D7B"/>
                </a:solidFill>
                <a:latin typeface="Aptos"/>
                <a:ea typeface="Aptos"/>
                <a:cs typeface="Aptos"/>
              </a:defRPr>
            </a:pPr>
            <a:r>
              <a:t>Lightweight identity state; can lose rich context.</a:t>
            </a:r>
          </a:p>
        </p:txBody>
      </p:sp>
      <p:sp>
        <p:nvSpPr>
          <p:cNvPr id="13" name="TextBox 12">
            <a:extLst>
              <a:ext uri="{FF2B5EF4-FFF2-40B4-BE49-F238E27FC236}">
                <a16:creationId xmlns:a16="http://schemas.microsoft.com/office/drawing/2014/main" id="{B67EDCC1-56A6-4D35-A00A-E7A2DA768663}"/>
              </a:ext>
            </a:extLst>
          </p:cNvPr>
          <p:cNvSpPr>
            <a:spLocks noGrp="1"/>
          </p:cNvSpPr>
          <p:nvPr/>
        </p:nvSpPr>
        <p:spPr>
          <a:xfrm>
            <a:off x="960120" y="3255264"/>
            <a:ext cx="4828032" cy="137160"/>
          </a:xfrm>
          <a:prstGeom prst="rect">
            <a:avLst/>
          </a:prstGeom>
          <a:noFill/>
        </p:spPr>
        <p:txBody>
          <a:bodyPr wrap="square" lIns="0" tIns="0" rIns="0" bIns="0" anchor="t">
            <a:spAutoFit/>
          </a:bodyPr>
          <a:lstStyle/>
          <a:p>
            <a:pPr algn="l">
              <a:spcBef>
                <a:spcPts val="0"/>
              </a:spcBef>
              <a:spcAft>
                <a:spcPts val="0"/>
              </a:spcAft>
              <a:buNone/>
              <a:defRPr sz="900" b="1" i="0">
                <a:solidFill>
                  <a:srgbClr val="5A8DEE"/>
                </a:solidFill>
                <a:latin typeface="Aptos"/>
                <a:ea typeface="Aptos"/>
                <a:cs typeface="Aptos"/>
              </a:defRPr>
            </a:pPr>
            <a:r>
              <a:t>ReferFormer: query propagation · OnlineRefer: causal updates</a:t>
            </a:r>
          </a:p>
        </p:txBody>
      </p:sp>
      <p:sp>
        <p:nvSpPr>
          <p:cNvPr id="14" name="Rounded Rectangle 13">
            <a:extLst>
              <a:ext uri="{FF2B5EF4-FFF2-40B4-BE49-F238E27FC236}">
                <a16:creationId xmlns:a16="http://schemas.microsoft.com/office/drawing/2014/main" id="{0C5423F3-0123-4E62-9B64-BF9EDE93F9DA}"/>
              </a:ext>
            </a:extLst>
          </p:cNvPr>
          <p:cNvSpPr>
            <a:spLocks noGrp="1"/>
          </p:cNvSpPr>
          <p:nvPr/>
        </p:nvSpPr>
        <p:spPr>
          <a:xfrm>
            <a:off x="6181344" y="1700784"/>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ounded Rectangle 14">
            <a:extLst>
              <a:ext uri="{FF2B5EF4-FFF2-40B4-BE49-F238E27FC236}">
                <a16:creationId xmlns:a16="http://schemas.microsoft.com/office/drawing/2014/main" id="{7C42F9E3-A8A5-4FE4-9C3D-01C8EEC0D17D}"/>
              </a:ext>
            </a:extLst>
          </p:cNvPr>
          <p:cNvSpPr>
            <a:spLocks noGrp="1"/>
          </p:cNvSpPr>
          <p:nvPr/>
        </p:nvSpPr>
        <p:spPr>
          <a:xfrm>
            <a:off x="6382512" y="1883664"/>
            <a:ext cx="2331720"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1427893-58FD-41B4-9CAB-B134D9842EB2}"/>
              </a:ext>
            </a:extLst>
          </p:cNvPr>
          <p:cNvSpPr>
            <a:spLocks noGrp="1"/>
          </p:cNvSpPr>
          <p:nvPr/>
        </p:nvSpPr>
        <p:spPr>
          <a:xfrm>
            <a:off x="6455664" y="1906524"/>
            <a:ext cx="2185415" cy="210312"/>
          </a:xfrm>
          <a:prstGeom prst="rect">
            <a:avLst/>
          </a:prstGeom>
          <a:noFill/>
        </p:spPr>
        <p:txBody>
          <a:bodyPr wrap="square" lIns="0" tIns="0" rIns="0" bIns="0" anchor="ctr">
            <a:spAutoFit/>
          </a:bodyPr>
          <a:lstStyle/>
          <a:p>
            <a:pPr algn="ctr">
              <a:spcBef>
                <a:spcPts val="0"/>
              </a:spcBef>
              <a:spcAft>
                <a:spcPts val="0"/>
              </a:spcAft>
              <a:buNone/>
              <a:defRPr sz="800" b="1" i="0">
                <a:solidFill>
                  <a:srgbClr val="087E78"/>
                </a:solidFill>
                <a:latin typeface="Aptos"/>
                <a:ea typeface="Aptos"/>
                <a:cs typeface="Aptos"/>
              </a:defRPr>
            </a:pPr>
            <a:r>
              <a:t>EXPLICIT MEMORY</a:t>
            </a:r>
          </a:p>
        </p:txBody>
      </p:sp>
      <p:sp>
        <p:nvSpPr>
          <p:cNvPr id="17" name="TextBox 16">
            <a:extLst>
              <a:ext uri="{FF2B5EF4-FFF2-40B4-BE49-F238E27FC236}">
                <a16:creationId xmlns:a16="http://schemas.microsoft.com/office/drawing/2014/main" id="{3411BD63-9135-4E3C-B1A1-506A7AE50DFB}"/>
              </a:ext>
            </a:extLst>
          </p:cNvPr>
          <p:cNvSpPr>
            <a:spLocks noGrp="1"/>
          </p:cNvSpPr>
          <p:nvPr/>
        </p:nvSpPr>
        <p:spPr>
          <a:xfrm>
            <a:off x="6409944" y="2340864"/>
            <a:ext cx="4828032" cy="438912"/>
          </a:xfrm>
          <a:prstGeom prst="rect">
            <a:avLst/>
          </a:prstGeom>
          <a:noFill/>
        </p:spPr>
        <p:txBody>
          <a:bodyPr wrap="square" lIns="0" tIns="0" rIns="0" bIns="0" anchor="t">
            <a:spAutoFit/>
          </a:bodyPr>
          <a:lstStyle/>
          <a:p>
            <a:pPr algn="l">
              <a:spcBef>
                <a:spcPts val="0"/>
              </a:spcBef>
              <a:spcAft>
                <a:spcPts val="0"/>
              </a:spcAft>
              <a:buNone/>
              <a:defRPr sz="1300" b="1" i="0">
                <a:solidFill>
                  <a:srgbClr val="172A3A"/>
                </a:solidFill>
                <a:latin typeface="Aptos"/>
                <a:ea typeface="Aptos"/>
                <a:cs typeface="Aptos"/>
              </a:defRPr>
            </a:pPr>
            <a:r>
              <a:t>Store past visual features or mask evidence.</a:t>
            </a:r>
          </a:p>
        </p:txBody>
      </p:sp>
      <p:sp>
        <p:nvSpPr>
          <p:cNvPr id="18" name="TextBox 17">
            <a:extLst>
              <a:ext uri="{FF2B5EF4-FFF2-40B4-BE49-F238E27FC236}">
                <a16:creationId xmlns:a16="http://schemas.microsoft.com/office/drawing/2014/main" id="{ABFE20E9-29E4-4BFE-A7D3-A253C6F3745C}"/>
              </a:ext>
            </a:extLst>
          </p:cNvPr>
          <p:cNvSpPr>
            <a:spLocks noGrp="1"/>
          </p:cNvSpPr>
          <p:nvPr/>
        </p:nvSpPr>
        <p:spPr>
          <a:xfrm>
            <a:off x="6409944" y="2807208"/>
            <a:ext cx="4828032" cy="329184"/>
          </a:xfrm>
          <a:prstGeom prst="rect">
            <a:avLst/>
          </a:prstGeom>
          <a:noFill/>
        </p:spPr>
        <p:txBody>
          <a:bodyPr wrap="square" lIns="0" tIns="0" rIns="0" bIns="0" anchor="t">
            <a:spAutoFit/>
          </a:bodyPr>
          <a:lstStyle/>
          <a:p>
            <a:pPr algn="l">
              <a:spcBef>
                <a:spcPts val="0"/>
              </a:spcBef>
              <a:spcAft>
                <a:spcPts val="0"/>
              </a:spcAft>
              <a:buNone/>
              <a:defRPr sz="1060" b="0" i="0">
                <a:solidFill>
                  <a:srgbClr val="5E6D7B"/>
                </a:solidFill>
                <a:latin typeface="Aptos"/>
                <a:ea typeface="Aptos"/>
                <a:cs typeface="Aptos"/>
              </a:defRPr>
            </a:pPr>
            <a:r>
              <a:t>Helps reappearance; stale memory can lock onto the wrong target.</a:t>
            </a:r>
          </a:p>
        </p:txBody>
      </p:sp>
      <p:sp>
        <p:nvSpPr>
          <p:cNvPr id="19" name="TextBox 18">
            <a:extLst>
              <a:ext uri="{FF2B5EF4-FFF2-40B4-BE49-F238E27FC236}">
                <a16:creationId xmlns:a16="http://schemas.microsoft.com/office/drawing/2014/main" id="{2B2EC156-E728-4225-970E-8FB700DD5816}"/>
              </a:ext>
            </a:extLst>
          </p:cNvPr>
          <p:cNvSpPr>
            <a:spLocks noGrp="1"/>
          </p:cNvSpPr>
          <p:nvPr/>
        </p:nvSpPr>
        <p:spPr>
          <a:xfrm>
            <a:off x="6409944" y="3255264"/>
            <a:ext cx="4828032" cy="137160"/>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SAM 2: key-value memory · SAMWISE: language checks · RefSAM: tracking tokens</a:t>
            </a:r>
          </a:p>
        </p:txBody>
      </p:sp>
      <p:sp>
        <p:nvSpPr>
          <p:cNvPr id="20" name="Rounded Rectangle 19">
            <a:extLst>
              <a:ext uri="{FF2B5EF4-FFF2-40B4-BE49-F238E27FC236}">
                <a16:creationId xmlns:a16="http://schemas.microsoft.com/office/drawing/2014/main" id="{0115343C-D6FC-4910-840E-867B88AF9109}"/>
              </a:ext>
            </a:extLst>
          </p:cNvPr>
          <p:cNvSpPr>
            <a:spLocks noGrp="1"/>
          </p:cNvSpPr>
          <p:nvPr/>
        </p:nvSpPr>
        <p:spPr>
          <a:xfrm>
            <a:off x="731520" y="3822191"/>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ounded Rectangle 20">
            <a:extLst>
              <a:ext uri="{FF2B5EF4-FFF2-40B4-BE49-F238E27FC236}">
                <a16:creationId xmlns:a16="http://schemas.microsoft.com/office/drawing/2014/main" id="{9A65936C-7F14-4468-B3DE-B16C6BA90A43}"/>
              </a:ext>
            </a:extLst>
          </p:cNvPr>
          <p:cNvSpPr>
            <a:spLocks noGrp="1"/>
          </p:cNvSpPr>
          <p:nvPr/>
        </p:nvSpPr>
        <p:spPr>
          <a:xfrm>
            <a:off x="932688" y="4005072"/>
            <a:ext cx="2331720"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BC7EF4E-586B-4C0C-8B81-5B5BAA4C820E}"/>
              </a:ext>
            </a:extLst>
          </p:cNvPr>
          <p:cNvSpPr>
            <a:spLocks noGrp="1"/>
          </p:cNvSpPr>
          <p:nvPr/>
        </p:nvSpPr>
        <p:spPr>
          <a:xfrm>
            <a:off x="1005840" y="4027932"/>
            <a:ext cx="2185415" cy="210312"/>
          </a:xfrm>
          <a:prstGeom prst="rect">
            <a:avLst/>
          </a:prstGeom>
          <a:noFill/>
        </p:spPr>
        <p:txBody>
          <a:bodyPr wrap="square" lIns="0" tIns="0" rIns="0" bIns="0" anchor="ctr">
            <a:spAutoFit/>
          </a:bodyPr>
          <a:lstStyle/>
          <a:p>
            <a:pPr algn="ctr">
              <a:spcBef>
                <a:spcPts val="0"/>
              </a:spcBef>
              <a:spcAft>
                <a:spcPts val="0"/>
              </a:spcAft>
              <a:buNone/>
              <a:defRPr sz="800" b="1" i="0">
                <a:solidFill>
                  <a:srgbClr val="A16F00"/>
                </a:solidFill>
                <a:latin typeface="Aptos"/>
                <a:ea typeface="Aptos"/>
                <a:cs typeface="Aptos"/>
              </a:defRPr>
            </a:pPr>
            <a:r>
              <a:t>MOTION-AWARE GROUNDING</a:t>
            </a:r>
          </a:p>
        </p:txBody>
      </p:sp>
      <p:sp>
        <p:nvSpPr>
          <p:cNvPr id="23" name="TextBox 22">
            <a:extLst>
              <a:ext uri="{FF2B5EF4-FFF2-40B4-BE49-F238E27FC236}">
                <a16:creationId xmlns:a16="http://schemas.microsoft.com/office/drawing/2014/main" id="{E8C527A4-A41C-4398-8CAC-5710FD93A552}"/>
              </a:ext>
            </a:extLst>
          </p:cNvPr>
          <p:cNvSpPr>
            <a:spLocks noGrp="1"/>
          </p:cNvSpPr>
          <p:nvPr/>
        </p:nvSpPr>
        <p:spPr>
          <a:xfrm>
            <a:off x="960120" y="4462272"/>
            <a:ext cx="4828032" cy="438912"/>
          </a:xfrm>
          <a:prstGeom prst="rect">
            <a:avLst/>
          </a:prstGeom>
          <a:noFill/>
        </p:spPr>
        <p:txBody>
          <a:bodyPr wrap="square" lIns="0" tIns="0" rIns="0" bIns="0" anchor="t">
            <a:spAutoFit/>
          </a:bodyPr>
          <a:lstStyle/>
          <a:p>
            <a:pPr algn="l">
              <a:spcBef>
                <a:spcPts val="0"/>
              </a:spcBef>
              <a:spcAft>
                <a:spcPts val="0"/>
              </a:spcAft>
              <a:buNone/>
              <a:defRPr sz="1300" b="1" i="0">
                <a:solidFill>
                  <a:srgbClr val="172A3A"/>
                </a:solidFill>
                <a:latin typeface="Aptos"/>
                <a:ea typeface="Aptos"/>
                <a:cs typeface="Aptos"/>
              </a:defRPr>
            </a:pPr>
            <a:r>
              <a:t>Separate or align verbs, trajectories, and multi-scale motion.</a:t>
            </a:r>
          </a:p>
        </p:txBody>
      </p:sp>
      <p:sp>
        <p:nvSpPr>
          <p:cNvPr id="24" name="TextBox 23">
            <a:extLst>
              <a:ext uri="{FF2B5EF4-FFF2-40B4-BE49-F238E27FC236}">
                <a16:creationId xmlns:a16="http://schemas.microsoft.com/office/drawing/2014/main" id="{3D40DEC7-7472-4CA0-8726-DC634AB58D44}"/>
              </a:ext>
            </a:extLst>
          </p:cNvPr>
          <p:cNvSpPr>
            <a:spLocks noGrp="1"/>
          </p:cNvSpPr>
          <p:nvPr/>
        </p:nvSpPr>
        <p:spPr>
          <a:xfrm>
            <a:off x="960120" y="4928616"/>
            <a:ext cx="4828032" cy="329184"/>
          </a:xfrm>
          <a:prstGeom prst="rect">
            <a:avLst/>
          </a:prstGeom>
          <a:noFill/>
        </p:spPr>
        <p:txBody>
          <a:bodyPr wrap="square" lIns="0" tIns="0" rIns="0" bIns="0" anchor="t">
            <a:spAutoFit/>
          </a:bodyPr>
          <a:lstStyle/>
          <a:p>
            <a:pPr algn="l">
              <a:spcBef>
                <a:spcPts val="0"/>
              </a:spcBef>
              <a:spcAft>
                <a:spcPts val="0"/>
              </a:spcAft>
              <a:buNone/>
              <a:defRPr sz="1060" b="0" i="0">
                <a:solidFill>
                  <a:srgbClr val="5E6D7B"/>
                </a:solidFill>
                <a:latin typeface="Aptos"/>
                <a:ea typeface="Aptos"/>
                <a:cs typeface="Aptos"/>
              </a:defRPr>
            </a:pPr>
            <a:r>
              <a:t>Targets action-dependent expressions; subtle motion remains hard.</a:t>
            </a:r>
          </a:p>
        </p:txBody>
      </p:sp>
      <p:sp>
        <p:nvSpPr>
          <p:cNvPr id="25" name="TextBox 24">
            <a:extLst>
              <a:ext uri="{FF2B5EF4-FFF2-40B4-BE49-F238E27FC236}">
                <a16:creationId xmlns:a16="http://schemas.microsoft.com/office/drawing/2014/main" id="{30E2606E-0471-4ED6-87D3-542B790BECE4}"/>
              </a:ext>
            </a:extLst>
          </p:cNvPr>
          <p:cNvSpPr>
            <a:spLocks noGrp="1"/>
          </p:cNvSpPr>
          <p:nvPr/>
        </p:nvSpPr>
        <p:spPr>
          <a:xfrm>
            <a:off x="960120" y="5376672"/>
            <a:ext cx="4828032" cy="137160"/>
          </a:xfrm>
          <a:prstGeom prst="rect">
            <a:avLst/>
          </a:prstGeom>
          <a:noFill/>
        </p:spPr>
        <p:txBody>
          <a:bodyPr wrap="square" lIns="0" tIns="0" rIns="0" bIns="0" anchor="t">
            <a:spAutoFit/>
          </a:bodyPr>
          <a:lstStyle/>
          <a:p>
            <a:pPr algn="l">
              <a:spcBef>
                <a:spcPts val="0"/>
              </a:spcBef>
              <a:spcAft>
                <a:spcPts val="0"/>
              </a:spcAft>
              <a:buNone/>
              <a:defRPr sz="900" b="1" i="0">
                <a:solidFill>
                  <a:srgbClr val="A16F00"/>
                </a:solidFill>
                <a:latin typeface="Aptos"/>
                <a:ea typeface="Aptos"/>
                <a:cs typeface="Aptos"/>
              </a:defRPr>
            </a:pPr>
            <a:r>
              <a:t>LMPM: match motion to language · DsHmp: split static and motion cues</a:t>
            </a:r>
          </a:p>
        </p:txBody>
      </p:sp>
      <p:sp>
        <p:nvSpPr>
          <p:cNvPr id="26" name="Rounded Rectangle 25">
            <a:extLst>
              <a:ext uri="{FF2B5EF4-FFF2-40B4-BE49-F238E27FC236}">
                <a16:creationId xmlns:a16="http://schemas.microsoft.com/office/drawing/2014/main" id="{072DA236-240E-4A79-BA79-F792719259AF}"/>
              </a:ext>
            </a:extLst>
          </p:cNvPr>
          <p:cNvSpPr>
            <a:spLocks noGrp="1"/>
          </p:cNvSpPr>
          <p:nvPr/>
        </p:nvSpPr>
        <p:spPr>
          <a:xfrm>
            <a:off x="6181344" y="3822191"/>
            <a:ext cx="5285232" cy="1938528"/>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ounded Rectangle 26">
            <a:extLst>
              <a:ext uri="{FF2B5EF4-FFF2-40B4-BE49-F238E27FC236}">
                <a16:creationId xmlns:a16="http://schemas.microsoft.com/office/drawing/2014/main" id="{ADA844C6-E818-48C5-9131-6F50A366655D}"/>
              </a:ext>
            </a:extLst>
          </p:cNvPr>
          <p:cNvSpPr>
            <a:spLocks noGrp="1"/>
          </p:cNvSpPr>
          <p:nvPr/>
        </p:nvSpPr>
        <p:spPr>
          <a:xfrm>
            <a:off x="6382512" y="4005072"/>
            <a:ext cx="2331720"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91AA190C-F53E-473C-A591-D773BB449B70}"/>
              </a:ext>
            </a:extLst>
          </p:cNvPr>
          <p:cNvSpPr>
            <a:spLocks noGrp="1"/>
          </p:cNvSpPr>
          <p:nvPr/>
        </p:nvSpPr>
        <p:spPr>
          <a:xfrm>
            <a:off x="6455664" y="4027932"/>
            <a:ext cx="2185415" cy="210312"/>
          </a:xfrm>
          <a:prstGeom prst="rect">
            <a:avLst/>
          </a:prstGeom>
          <a:noFill/>
        </p:spPr>
        <p:txBody>
          <a:bodyPr wrap="square" lIns="0" tIns="0" rIns="0" bIns="0" anchor="ctr">
            <a:spAutoFit/>
          </a:bodyPr>
          <a:lstStyle/>
          <a:p>
            <a:pPr algn="ctr">
              <a:spcBef>
                <a:spcPts val="0"/>
              </a:spcBef>
              <a:spcAft>
                <a:spcPts val="0"/>
              </a:spcAft>
              <a:buNone/>
              <a:defRPr sz="800" b="1" i="0">
                <a:solidFill>
                  <a:srgbClr val="F07167"/>
                </a:solidFill>
                <a:latin typeface="Aptos"/>
                <a:ea typeface="Aptos"/>
                <a:cs typeface="Aptos"/>
              </a:defRPr>
            </a:pPr>
            <a:r>
              <a:t>MLLM-BASED REASONING</a:t>
            </a:r>
          </a:p>
        </p:txBody>
      </p:sp>
      <p:sp>
        <p:nvSpPr>
          <p:cNvPr id="29" name="TextBox 28">
            <a:extLst>
              <a:ext uri="{FF2B5EF4-FFF2-40B4-BE49-F238E27FC236}">
                <a16:creationId xmlns:a16="http://schemas.microsoft.com/office/drawing/2014/main" id="{D693D5CE-1EE2-4DA3-903F-49A8F75B1F07}"/>
              </a:ext>
            </a:extLst>
          </p:cNvPr>
          <p:cNvSpPr>
            <a:spLocks noGrp="1"/>
          </p:cNvSpPr>
          <p:nvPr/>
        </p:nvSpPr>
        <p:spPr>
          <a:xfrm>
            <a:off x="6409944" y="4462272"/>
            <a:ext cx="4828032" cy="438912"/>
          </a:xfrm>
          <a:prstGeom prst="rect">
            <a:avLst/>
          </a:prstGeom>
          <a:noFill/>
        </p:spPr>
        <p:txBody>
          <a:bodyPr wrap="square" lIns="0" tIns="0" rIns="0" bIns="0" anchor="t">
            <a:spAutoFit/>
          </a:bodyPr>
          <a:lstStyle/>
          <a:p>
            <a:pPr algn="l">
              <a:spcBef>
                <a:spcPts val="0"/>
              </a:spcBef>
              <a:spcAft>
                <a:spcPts val="0"/>
              </a:spcAft>
              <a:buNone/>
              <a:defRPr sz="1300" b="1" i="0">
                <a:solidFill>
                  <a:srgbClr val="172A3A"/>
                </a:solidFill>
                <a:latin typeface="Aptos"/>
                <a:ea typeface="Aptos"/>
                <a:cs typeface="Aptos"/>
              </a:defRPr>
            </a:pPr>
            <a:r>
              <a:t>Use broad semantic knowledge to interpret implicit queries.</a:t>
            </a:r>
          </a:p>
        </p:txBody>
      </p:sp>
      <p:sp>
        <p:nvSpPr>
          <p:cNvPr id="30" name="TextBox 29">
            <a:extLst>
              <a:ext uri="{FF2B5EF4-FFF2-40B4-BE49-F238E27FC236}">
                <a16:creationId xmlns:a16="http://schemas.microsoft.com/office/drawing/2014/main" id="{A000850A-F37C-4CE4-B115-D86BFF1F5ACA}"/>
              </a:ext>
            </a:extLst>
          </p:cNvPr>
          <p:cNvSpPr>
            <a:spLocks noGrp="1"/>
          </p:cNvSpPr>
          <p:nvPr/>
        </p:nvSpPr>
        <p:spPr>
          <a:xfrm>
            <a:off x="6409944" y="4928616"/>
            <a:ext cx="4828032" cy="329184"/>
          </a:xfrm>
          <a:prstGeom prst="rect">
            <a:avLst/>
          </a:prstGeom>
          <a:noFill/>
        </p:spPr>
        <p:txBody>
          <a:bodyPr wrap="square" lIns="0" tIns="0" rIns="0" bIns="0" anchor="t">
            <a:spAutoFit/>
          </a:bodyPr>
          <a:lstStyle/>
          <a:p>
            <a:pPr algn="l">
              <a:spcBef>
                <a:spcPts val="0"/>
              </a:spcBef>
              <a:spcAft>
                <a:spcPts val="0"/>
              </a:spcAft>
              <a:buNone/>
              <a:defRPr sz="1060" b="0" i="0">
                <a:solidFill>
                  <a:srgbClr val="5E6D7B"/>
                </a:solidFill>
                <a:latin typeface="Aptos"/>
                <a:ea typeface="Aptos"/>
                <a:cs typeface="Aptos"/>
              </a:defRPr>
            </a:pPr>
            <a:r>
              <a:t>Can resolve nonvisual wording; adds latency and compute.</a:t>
            </a:r>
          </a:p>
        </p:txBody>
      </p:sp>
      <p:sp>
        <p:nvSpPr>
          <p:cNvPr id="31" name="TextBox 30">
            <a:extLst>
              <a:ext uri="{FF2B5EF4-FFF2-40B4-BE49-F238E27FC236}">
                <a16:creationId xmlns:a16="http://schemas.microsoft.com/office/drawing/2014/main" id="{1A7D9BF3-FCA5-4662-984D-04835135F856}"/>
              </a:ext>
            </a:extLst>
          </p:cNvPr>
          <p:cNvSpPr>
            <a:spLocks noGrp="1"/>
          </p:cNvSpPr>
          <p:nvPr/>
        </p:nvSpPr>
        <p:spPr>
          <a:xfrm>
            <a:off x="6409944" y="5376672"/>
            <a:ext cx="4828032" cy="137160"/>
          </a:xfrm>
          <a:prstGeom prst="rect">
            <a:avLst/>
          </a:prstGeom>
          <a:noFill/>
        </p:spPr>
        <p:txBody>
          <a:bodyPr wrap="square" lIns="0" tIns="0" rIns="0" bIns="0" anchor="t">
            <a:spAutoFit/>
          </a:bodyPr>
          <a:lstStyle/>
          <a:p>
            <a:pPr algn="l">
              <a:spcBef>
                <a:spcPts val="0"/>
              </a:spcBef>
              <a:spcAft>
                <a:spcPts val="0"/>
              </a:spcAft>
              <a:buNone/>
              <a:defRPr sz="900" b="1" i="0">
                <a:solidFill>
                  <a:srgbClr val="F07167"/>
                </a:solidFill>
                <a:latin typeface="Aptos"/>
                <a:ea typeface="Aptos"/>
                <a:cs typeface="Aptos"/>
              </a:defRPr>
            </a:pPr>
            <a:r>
              <a:t>VISA/LISA: infer implicit targets before mask prediction</a:t>
            </a:r>
          </a:p>
        </p:txBody>
      </p:sp>
    </p:spTree>
    <p:extLst>
      <p:ext uri="{BB962C8B-B14F-4D97-AF65-F5344CB8AC3E}">
        <p14:creationId xmlns:p14="http://schemas.microsoft.com/office/powerpoint/2010/main" val="800419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D7BC2F-D56B-46EF-809E-C7ED9AB2E7E9}"/>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EVALUATION</a:t>
            </a:r>
          </a:p>
        </p:txBody>
      </p:sp>
      <p:sp>
        <p:nvSpPr>
          <p:cNvPr id="3" name="TextBox 2">
            <a:extLst>
              <a:ext uri="{FF2B5EF4-FFF2-40B4-BE49-F238E27FC236}">
                <a16:creationId xmlns:a16="http://schemas.microsoft.com/office/drawing/2014/main" id="{A25C0370-56EA-40CF-821D-83EA27EC229A}"/>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Benchmarks test different capabilities</a:t>
            </a:r>
          </a:p>
        </p:txBody>
      </p:sp>
      <p:sp>
        <p:nvSpPr>
          <p:cNvPr id="4" name="Connector 3">
            <a:extLst>
              <a:ext uri="{FF2B5EF4-FFF2-40B4-BE49-F238E27FC236}">
                <a16:creationId xmlns:a16="http://schemas.microsoft.com/office/drawing/2014/main" id="{91F670EC-631B-44F3-9AB1-0F92DDD34DA1}"/>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1B50B607-1669-4452-BE04-1DCCDF8E60EE}"/>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C6072C71-A710-4E41-8365-291A11F4B1FB}"/>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III; Tables III–IV.</a:t>
            </a:r>
          </a:p>
        </p:txBody>
      </p:sp>
      <p:sp>
        <p:nvSpPr>
          <p:cNvPr id="8" name="Rounded Rectangle 7">
            <a:extLst>
              <a:ext uri="{FF2B5EF4-FFF2-40B4-BE49-F238E27FC236}">
                <a16:creationId xmlns:a16="http://schemas.microsoft.com/office/drawing/2014/main" id="{475D8B07-44BB-4578-9762-516A84238AEE}"/>
              </a:ext>
            </a:extLst>
          </p:cNvPr>
          <p:cNvSpPr>
            <a:spLocks noGrp="1"/>
          </p:cNvSpPr>
          <p:nvPr/>
        </p:nvSpPr>
        <p:spPr>
          <a:xfrm>
            <a:off x="731520" y="175564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8AAA9011-5D92-4236-AD5B-D04EBC215C52}"/>
              </a:ext>
            </a:extLst>
          </p:cNvPr>
          <p:cNvSpPr>
            <a:spLocks noGrp="1"/>
          </p:cNvSpPr>
          <p:nvPr/>
        </p:nvSpPr>
        <p:spPr>
          <a:xfrm>
            <a:off x="896112" y="1901952"/>
            <a:ext cx="1883664"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4474C817-B131-4BFE-821C-D11E2C639FE4}"/>
              </a:ext>
            </a:extLst>
          </p:cNvPr>
          <p:cNvSpPr>
            <a:spLocks noGrp="1"/>
          </p:cNvSpPr>
          <p:nvPr/>
        </p:nvSpPr>
        <p:spPr>
          <a:xfrm>
            <a:off x="969264" y="1924812"/>
            <a:ext cx="1737360" cy="210312"/>
          </a:xfrm>
          <a:prstGeom prst="rect">
            <a:avLst/>
          </a:prstGeom>
          <a:noFill/>
        </p:spPr>
        <p:txBody>
          <a:bodyPr wrap="square" lIns="0" tIns="0" rIns="0" bIns="0" anchor="ctr">
            <a:spAutoFit/>
          </a:bodyPr>
          <a:lstStyle/>
          <a:p>
            <a:pPr algn="ctr">
              <a:spcBef>
                <a:spcPts val="0"/>
              </a:spcBef>
              <a:spcAft>
                <a:spcPts val="0"/>
              </a:spcAft>
              <a:buNone/>
              <a:defRPr sz="750" b="1" i="0">
                <a:solidFill>
                  <a:srgbClr val="5A8DEE"/>
                </a:solidFill>
                <a:latin typeface="Aptos"/>
                <a:ea typeface="Aptos"/>
                <a:cs typeface="Aptos"/>
              </a:defRPr>
            </a:pPr>
            <a:r>
              <a:t>GENERAL REFERRING VIDEO</a:t>
            </a:r>
          </a:p>
        </p:txBody>
      </p:sp>
      <p:sp>
        <p:nvSpPr>
          <p:cNvPr id="11" name="TextBox 10">
            <a:extLst>
              <a:ext uri="{FF2B5EF4-FFF2-40B4-BE49-F238E27FC236}">
                <a16:creationId xmlns:a16="http://schemas.microsoft.com/office/drawing/2014/main" id="{47C81661-BEC2-4821-A53C-3FCB6F5788C2}"/>
              </a:ext>
            </a:extLst>
          </p:cNvPr>
          <p:cNvSpPr>
            <a:spLocks noGrp="1"/>
          </p:cNvSpPr>
          <p:nvPr/>
        </p:nvSpPr>
        <p:spPr>
          <a:xfrm>
            <a:off x="932688" y="2286000"/>
            <a:ext cx="4828031" cy="256032"/>
          </a:xfrm>
          <a:prstGeom prst="rect">
            <a:avLst/>
          </a:prstGeom>
          <a:noFill/>
        </p:spPr>
        <p:txBody>
          <a:bodyPr wrap="square" lIns="0" tIns="0" rIns="0" bIns="0" anchor="t">
            <a:spAutoFit/>
          </a:bodyPr>
          <a:lstStyle/>
          <a:p>
            <a:pPr algn="l">
              <a:spcBef>
                <a:spcPts val="0"/>
              </a:spcBef>
              <a:spcAft>
                <a:spcPts val="0"/>
              </a:spcAft>
              <a:buNone/>
              <a:defRPr sz="1400" b="1" i="0">
                <a:solidFill>
                  <a:srgbClr val="122438"/>
                </a:solidFill>
                <a:latin typeface="Aptos"/>
                <a:ea typeface="Aptos"/>
                <a:cs typeface="Aptos"/>
              </a:defRPr>
            </a:pPr>
            <a:r>
              <a:t>Ref-YouTube-VOS  ·  Ref-DAVIS17</a:t>
            </a:r>
          </a:p>
        </p:txBody>
      </p:sp>
      <p:sp>
        <p:nvSpPr>
          <p:cNvPr id="12" name="TextBox 11">
            <a:extLst>
              <a:ext uri="{FF2B5EF4-FFF2-40B4-BE49-F238E27FC236}">
                <a16:creationId xmlns:a16="http://schemas.microsoft.com/office/drawing/2014/main" id="{0492758D-5EFD-41A3-B572-C174D85BE5BC}"/>
              </a:ext>
            </a:extLst>
          </p:cNvPr>
          <p:cNvSpPr>
            <a:spLocks noGrp="1"/>
          </p:cNvSpPr>
          <p:nvPr/>
        </p:nvSpPr>
        <p:spPr>
          <a:xfrm>
            <a:off x="932688" y="2651760"/>
            <a:ext cx="4828031" cy="365760"/>
          </a:xfrm>
          <a:prstGeom prst="rect">
            <a:avLst/>
          </a:prstGeom>
          <a:noFill/>
        </p:spPr>
        <p:txBody>
          <a:bodyPr wrap="square" lIns="0" tIns="0" rIns="0" bIns="0" anchor="t">
            <a:spAutoFit/>
          </a:bodyPr>
          <a:lstStyle/>
          <a:p>
            <a:pPr algn="l">
              <a:spcBef>
                <a:spcPts val="0"/>
              </a:spcBef>
              <a:spcAft>
                <a:spcPts val="0"/>
              </a:spcAft>
              <a:buNone/>
              <a:defRPr sz="1050" b="0" i="0">
                <a:solidFill>
                  <a:srgbClr val="5E6D7B"/>
                </a:solidFill>
                <a:latin typeface="Aptos"/>
                <a:ea typeface="Aptos"/>
                <a:cs typeface="Aptos"/>
              </a:defRPr>
            </a:pPr>
            <a:r>
              <a:t>Ground a described object and preserve its mask over time.</a:t>
            </a:r>
          </a:p>
        </p:txBody>
      </p:sp>
      <p:sp>
        <p:nvSpPr>
          <p:cNvPr id="13" name="Rounded Rectangle 12">
            <a:extLst>
              <a:ext uri="{FF2B5EF4-FFF2-40B4-BE49-F238E27FC236}">
                <a16:creationId xmlns:a16="http://schemas.microsoft.com/office/drawing/2014/main" id="{31B36E11-5932-457D-8883-E5BB3F960210}"/>
              </a:ext>
            </a:extLst>
          </p:cNvPr>
          <p:cNvSpPr>
            <a:spLocks noGrp="1"/>
          </p:cNvSpPr>
          <p:nvPr/>
        </p:nvSpPr>
        <p:spPr>
          <a:xfrm>
            <a:off x="6199632" y="175564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ounded Rectangle 13">
            <a:extLst>
              <a:ext uri="{FF2B5EF4-FFF2-40B4-BE49-F238E27FC236}">
                <a16:creationId xmlns:a16="http://schemas.microsoft.com/office/drawing/2014/main" id="{5753459A-12E8-4559-99D7-BE317A268BB0}"/>
              </a:ext>
            </a:extLst>
          </p:cNvPr>
          <p:cNvSpPr>
            <a:spLocks noGrp="1"/>
          </p:cNvSpPr>
          <p:nvPr/>
        </p:nvSpPr>
        <p:spPr>
          <a:xfrm>
            <a:off x="6364224" y="1901952"/>
            <a:ext cx="1883664"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6288CDD-C58E-4483-8C17-E6BC05B4BF68}"/>
              </a:ext>
            </a:extLst>
          </p:cNvPr>
          <p:cNvSpPr>
            <a:spLocks noGrp="1"/>
          </p:cNvSpPr>
          <p:nvPr/>
        </p:nvSpPr>
        <p:spPr>
          <a:xfrm>
            <a:off x="6437376" y="1924812"/>
            <a:ext cx="1737360" cy="210312"/>
          </a:xfrm>
          <a:prstGeom prst="rect">
            <a:avLst/>
          </a:prstGeom>
          <a:noFill/>
        </p:spPr>
        <p:txBody>
          <a:bodyPr wrap="square" lIns="0" tIns="0" rIns="0" bIns="0" anchor="ctr">
            <a:spAutoFit/>
          </a:bodyPr>
          <a:lstStyle/>
          <a:p>
            <a:pPr algn="ctr">
              <a:spcBef>
                <a:spcPts val="0"/>
              </a:spcBef>
              <a:spcAft>
                <a:spcPts val="0"/>
              </a:spcAft>
              <a:buNone/>
              <a:defRPr sz="750" b="1" i="0">
                <a:solidFill>
                  <a:srgbClr val="087E78"/>
                </a:solidFill>
                <a:latin typeface="Aptos"/>
                <a:ea typeface="Aptos"/>
                <a:cs typeface="Aptos"/>
              </a:defRPr>
            </a:pPr>
            <a:r>
              <a:t>MOTION-CENTRIC</a:t>
            </a:r>
          </a:p>
        </p:txBody>
      </p:sp>
      <p:sp>
        <p:nvSpPr>
          <p:cNvPr id="16" name="TextBox 15">
            <a:extLst>
              <a:ext uri="{FF2B5EF4-FFF2-40B4-BE49-F238E27FC236}">
                <a16:creationId xmlns:a16="http://schemas.microsoft.com/office/drawing/2014/main" id="{7654A9A8-9076-404A-9C02-38FB6C9CB131}"/>
              </a:ext>
            </a:extLst>
          </p:cNvPr>
          <p:cNvSpPr>
            <a:spLocks noGrp="1"/>
          </p:cNvSpPr>
          <p:nvPr/>
        </p:nvSpPr>
        <p:spPr>
          <a:xfrm>
            <a:off x="6400800" y="2286000"/>
            <a:ext cx="4828031" cy="256032"/>
          </a:xfrm>
          <a:prstGeom prst="rect">
            <a:avLst/>
          </a:prstGeom>
          <a:noFill/>
        </p:spPr>
        <p:txBody>
          <a:bodyPr wrap="square" lIns="0" tIns="0" rIns="0" bIns="0" anchor="t">
            <a:spAutoFit/>
          </a:bodyPr>
          <a:lstStyle/>
          <a:p>
            <a:pPr algn="l">
              <a:spcBef>
                <a:spcPts val="0"/>
              </a:spcBef>
              <a:spcAft>
                <a:spcPts val="0"/>
              </a:spcAft>
              <a:buNone/>
              <a:defRPr sz="1400" b="1" i="0">
                <a:solidFill>
                  <a:srgbClr val="122438"/>
                </a:solidFill>
                <a:latin typeface="Aptos"/>
                <a:ea typeface="Aptos"/>
                <a:cs typeface="Aptos"/>
              </a:defRPr>
            </a:pPr>
            <a:r>
              <a:t>MeViS</a:t>
            </a:r>
          </a:p>
        </p:txBody>
      </p:sp>
      <p:sp>
        <p:nvSpPr>
          <p:cNvPr id="17" name="TextBox 16">
            <a:extLst>
              <a:ext uri="{FF2B5EF4-FFF2-40B4-BE49-F238E27FC236}">
                <a16:creationId xmlns:a16="http://schemas.microsoft.com/office/drawing/2014/main" id="{FDA96476-8C26-45AB-81DC-7C8728BC3C8E}"/>
              </a:ext>
            </a:extLst>
          </p:cNvPr>
          <p:cNvSpPr>
            <a:spLocks noGrp="1"/>
          </p:cNvSpPr>
          <p:nvPr/>
        </p:nvSpPr>
        <p:spPr>
          <a:xfrm>
            <a:off x="6400800" y="2651760"/>
            <a:ext cx="4828031" cy="365760"/>
          </a:xfrm>
          <a:prstGeom prst="rect">
            <a:avLst/>
          </a:prstGeom>
          <a:noFill/>
        </p:spPr>
        <p:txBody>
          <a:bodyPr wrap="square" lIns="0" tIns="0" rIns="0" bIns="0" anchor="t">
            <a:spAutoFit/>
          </a:bodyPr>
          <a:lstStyle/>
          <a:p>
            <a:pPr algn="l">
              <a:spcBef>
                <a:spcPts val="0"/>
              </a:spcBef>
              <a:spcAft>
                <a:spcPts val="0"/>
              </a:spcAft>
              <a:buNone/>
              <a:defRPr sz="1050" b="0" i="0">
                <a:solidFill>
                  <a:srgbClr val="5E6D7B"/>
                </a:solidFill>
                <a:latin typeface="Aptos"/>
                <a:ea typeface="Aptos"/>
                <a:cs typeface="Aptos"/>
              </a:defRPr>
            </a:pPr>
            <a:r>
              <a:t>Use movement to distinguish targets that look similar.</a:t>
            </a:r>
          </a:p>
        </p:txBody>
      </p:sp>
      <p:sp>
        <p:nvSpPr>
          <p:cNvPr id="18" name="Rounded Rectangle 17">
            <a:extLst>
              <a:ext uri="{FF2B5EF4-FFF2-40B4-BE49-F238E27FC236}">
                <a16:creationId xmlns:a16="http://schemas.microsoft.com/office/drawing/2014/main" id="{A53F4FA6-B2B0-4466-9754-2BF5221BCAA5}"/>
              </a:ext>
            </a:extLst>
          </p:cNvPr>
          <p:cNvSpPr>
            <a:spLocks noGrp="1"/>
          </p:cNvSpPr>
          <p:nvPr/>
        </p:nvSpPr>
        <p:spPr>
          <a:xfrm>
            <a:off x="731520" y="340156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ounded Rectangle 18">
            <a:extLst>
              <a:ext uri="{FF2B5EF4-FFF2-40B4-BE49-F238E27FC236}">
                <a16:creationId xmlns:a16="http://schemas.microsoft.com/office/drawing/2014/main" id="{B943DAB8-E26C-40D0-B959-F9792E8ED1C2}"/>
              </a:ext>
            </a:extLst>
          </p:cNvPr>
          <p:cNvSpPr>
            <a:spLocks noGrp="1"/>
          </p:cNvSpPr>
          <p:nvPr/>
        </p:nvSpPr>
        <p:spPr>
          <a:xfrm>
            <a:off x="896112" y="3547872"/>
            <a:ext cx="1883664"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C081AEC-4F0B-4AC9-B770-EFA313EA90FA}"/>
              </a:ext>
            </a:extLst>
          </p:cNvPr>
          <p:cNvSpPr>
            <a:spLocks noGrp="1"/>
          </p:cNvSpPr>
          <p:nvPr/>
        </p:nvSpPr>
        <p:spPr>
          <a:xfrm>
            <a:off x="969264" y="3570732"/>
            <a:ext cx="1737360" cy="210312"/>
          </a:xfrm>
          <a:prstGeom prst="rect">
            <a:avLst/>
          </a:prstGeom>
          <a:noFill/>
        </p:spPr>
        <p:txBody>
          <a:bodyPr wrap="square" lIns="0" tIns="0" rIns="0" bIns="0" anchor="ctr">
            <a:spAutoFit/>
          </a:bodyPr>
          <a:lstStyle/>
          <a:p>
            <a:pPr algn="ctr">
              <a:spcBef>
                <a:spcPts val="0"/>
              </a:spcBef>
              <a:spcAft>
                <a:spcPts val="0"/>
              </a:spcAft>
              <a:buNone/>
              <a:defRPr sz="750" b="1" i="0">
                <a:solidFill>
                  <a:srgbClr val="A16F00"/>
                </a:solidFill>
                <a:latin typeface="Aptos"/>
                <a:ea typeface="Aptos"/>
                <a:cs typeface="Aptos"/>
              </a:defRPr>
            </a:pPr>
            <a:r>
              <a:t>ACTION-CENTRIC</a:t>
            </a:r>
          </a:p>
        </p:txBody>
      </p:sp>
      <p:sp>
        <p:nvSpPr>
          <p:cNvPr id="21" name="TextBox 20">
            <a:extLst>
              <a:ext uri="{FF2B5EF4-FFF2-40B4-BE49-F238E27FC236}">
                <a16:creationId xmlns:a16="http://schemas.microsoft.com/office/drawing/2014/main" id="{13B499E0-0DD5-4843-A26C-030BD8379287}"/>
              </a:ext>
            </a:extLst>
          </p:cNvPr>
          <p:cNvSpPr>
            <a:spLocks noGrp="1"/>
          </p:cNvSpPr>
          <p:nvPr/>
        </p:nvSpPr>
        <p:spPr>
          <a:xfrm>
            <a:off x="932688" y="3931920"/>
            <a:ext cx="4828031" cy="256032"/>
          </a:xfrm>
          <a:prstGeom prst="rect">
            <a:avLst/>
          </a:prstGeom>
          <a:noFill/>
        </p:spPr>
        <p:txBody>
          <a:bodyPr wrap="square" lIns="0" tIns="0" rIns="0" bIns="0" anchor="t">
            <a:spAutoFit/>
          </a:bodyPr>
          <a:lstStyle/>
          <a:p>
            <a:pPr algn="l">
              <a:spcBef>
                <a:spcPts val="0"/>
              </a:spcBef>
              <a:spcAft>
                <a:spcPts val="0"/>
              </a:spcAft>
              <a:buNone/>
              <a:defRPr sz="1400" b="1" i="0">
                <a:solidFill>
                  <a:srgbClr val="122438"/>
                </a:solidFill>
                <a:latin typeface="Aptos"/>
                <a:ea typeface="Aptos"/>
                <a:cs typeface="Aptos"/>
              </a:defRPr>
            </a:pPr>
            <a:r>
              <a:t>A2D-Sentences  ·  JHMDB-Sentences</a:t>
            </a:r>
          </a:p>
        </p:txBody>
      </p:sp>
      <p:sp>
        <p:nvSpPr>
          <p:cNvPr id="22" name="TextBox 21">
            <a:extLst>
              <a:ext uri="{FF2B5EF4-FFF2-40B4-BE49-F238E27FC236}">
                <a16:creationId xmlns:a16="http://schemas.microsoft.com/office/drawing/2014/main" id="{92604927-EA92-4D8A-AD0E-97ACA8262906}"/>
              </a:ext>
            </a:extLst>
          </p:cNvPr>
          <p:cNvSpPr>
            <a:spLocks noGrp="1"/>
          </p:cNvSpPr>
          <p:nvPr/>
        </p:nvSpPr>
        <p:spPr>
          <a:xfrm>
            <a:off x="932688" y="4297680"/>
            <a:ext cx="4828031" cy="365760"/>
          </a:xfrm>
          <a:prstGeom prst="rect">
            <a:avLst/>
          </a:prstGeom>
          <a:noFill/>
        </p:spPr>
        <p:txBody>
          <a:bodyPr wrap="square" lIns="0" tIns="0" rIns="0" bIns="0" anchor="t">
            <a:spAutoFit/>
          </a:bodyPr>
          <a:lstStyle/>
          <a:p>
            <a:pPr algn="l">
              <a:spcBef>
                <a:spcPts val="0"/>
              </a:spcBef>
              <a:spcAft>
                <a:spcPts val="0"/>
              </a:spcAft>
              <a:buNone/>
              <a:defRPr sz="1050" b="0" i="0">
                <a:solidFill>
                  <a:srgbClr val="5E6D7B"/>
                </a:solidFill>
                <a:latin typeface="Aptos"/>
                <a:ea typeface="Aptos"/>
                <a:cs typeface="Aptos"/>
              </a:defRPr>
            </a:pPr>
            <a:r>
              <a:t>Evaluate language-guided segmentation in action scenes.</a:t>
            </a:r>
          </a:p>
        </p:txBody>
      </p:sp>
      <p:sp>
        <p:nvSpPr>
          <p:cNvPr id="23" name="Rounded Rectangle 22">
            <a:extLst>
              <a:ext uri="{FF2B5EF4-FFF2-40B4-BE49-F238E27FC236}">
                <a16:creationId xmlns:a16="http://schemas.microsoft.com/office/drawing/2014/main" id="{7387A0B3-1A7B-4D48-B0CF-94FC38A4939A}"/>
              </a:ext>
            </a:extLst>
          </p:cNvPr>
          <p:cNvSpPr>
            <a:spLocks noGrp="1"/>
          </p:cNvSpPr>
          <p:nvPr/>
        </p:nvSpPr>
        <p:spPr>
          <a:xfrm>
            <a:off x="6199632" y="3401568"/>
            <a:ext cx="5230368" cy="14081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ounded Rectangle 23">
            <a:extLst>
              <a:ext uri="{FF2B5EF4-FFF2-40B4-BE49-F238E27FC236}">
                <a16:creationId xmlns:a16="http://schemas.microsoft.com/office/drawing/2014/main" id="{4151F542-26D7-4273-8243-707666975E3A}"/>
              </a:ext>
            </a:extLst>
          </p:cNvPr>
          <p:cNvSpPr>
            <a:spLocks noGrp="1"/>
          </p:cNvSpPr>
          <p:nvPr/>
        </p:nvSpPr>
        <p:spPr>
          <a:xfrm>
            <a:off x="6364224" y="3547872"/>
            <a:ext cx="1883664"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F7506DE-DE0B-4C66-AE9B-F266499F3E34}"/>
              </a:ext>
            </a:extLst>
          </p:cNvPr>
          <p:cNvSpPr>
            <a:spLocks noGrp="1"/>
          </p:cNvSpPr>
          <p:nvPr/>
        </p:nvSpPr>
        <p:spPr>
          <a:xfrm>
            <a:off x="6437376" y="3570732"/>
            <a:ext cx="1737360" cy="210312"/>
          </a:xfrm>
          <a:prstGeom prst="rect">
            <a:avLst/>
          </a:prstGeom>
          <a:noFill/>
        </p:spPr>
        <p:txBody>
          <a:bodyPr wrap="square" lIns="0" tIns="0" rIns="0" bIns="0" anchor="ctr">
            <a:spAutoFit/>
          </a:bodyPr>
          <a:lstStyle/>
          <a:p>
            <a:pPr algn="ctr">
              <a:spcBef>
                <a:spcPts val="0"/>
              </a:spcBef>
              <a:spcAft>
                <a:spcPts val="0"/>
              </a:spcAft>
              <a:buNone/>
              <a:defRPr sz="750" b="1" i="0">
                <a:solidFill>
                  <a:srgbClr val="F07167"/>
                </a:solidFill>
                <a:latin typeface="Aptos"/>
                <a:ea typeface="Aptos"/>
                <a:cs typeface="Aptos"/>
              </a:defRPr>
            </a:pPr>
            <a:r>
              <a:t>REASONING-ORIENTED</a:t>
            </a:r>
          </a:p>
        </p:txBody>
      </p:sp>
      <p:sp>
        <p:nvSpPr>
          <p:cNvPr id="26" name="TextBox 25">
            <a:extLst>
              <a:ext uri="{FF2B5EF4-FFF2-40B4-BE49-F238E27FC236}">
                <a16:creationId xmlns:a16="http://schemas.microsoft.com/office/drawing/2014/main" id="{8E92B85F-3E27-46AA-93C0-6924C2F72BE9}"/>
              </a:ext>
            </a:extLst>
          </p:cNvPr>
          <p:cNvSpPr>
            <a:spLocks noGrp="1"/>
          </p:cNvSpPr>
          <p:nvPr/>
        </p:nvSpPr>
        <p:spPr>
          <a:xfrm>
            <a:off x="6400800" y="3931920"/>
            <a:ext cx="4828031" cy="256032"/>
          </a:xfrm>
          <a:prstGeom prst="rect">
            <a:avLst/>
          </a:prstGeom>
          <a:noFill/>
        </p:spPr>
        <p:txBody>
          <a:bodyPr wrap="square" lIns="0" tIns="0" rIns="0" bIns="0" anchor="t">
            <a:spAutoFit/>
          </a:bodyPr>
          <a:lstStyle/>
          <a:p>
            <a:pPr algn="l">
              <a:spcBef>
                <a:spcPts val="0"/>
              </a:spcBef>
              <a:spcAft>
                <a:spcPts val="0"/>
              </a:spcAft>
              <a:buNone/>
              <a:defRPr sz="1400" b="1" i="0">
                <a:solidFill>
                  <a:srgbClr val="122438"/>
                </a:solidFill>
                <a:latin typeface="Aptos"/>
                <a:ea typeface="Aptos"/>
                <a:cs typeface="Aptos"/>
              </a:defRPr>
            </a:pPr>
            <a:r>
              <a:t>ReVOS</a:t>
            </a:r>
          </a:p>
        </p:txBody>
      </p:sp>
      <p:sp>
        <p:nvSpPr>
          <p:cNvPr id="27" name="TextBox 26">
            <a:extLst>
              <a:ext uri="{FF2B5EF4-FFF2-40B4-BE49-F238E27FC236}">
                <a16:creationId xmlns:a16="http://schemas.microsoft.com/office/drawing/2014/main" id="{7FD43317-38C2-473A-BCFE-0F414A0CDECB}"/>
              </a:ext>
            </a:extLst>
          </p:cNvPr>
          <p:cNvSpPr>
            <a:spLocks noGrp="1"/>
          </p:cNvSpPr>
          <p:nvPr/>
        </p:nvSpPr>
        <p:spPr>
          <a:xfrm>
            <a:off x="6400800" y="4297680"/>
            <a:ext cx="4828031" cy="365760"/>
          </a:xfrm>
          <a:prstGeom prst="rect">
            <a:avLst/>
          </a:prstGeom>
          <a:noFill/>
        </p:spPr>
        <p:txBody>
          <a:bodyPr wrap="square" lIns="0" tIns="0" rIns="0" bIns="0" anchor="t">
            <a:spAutoFit/>
          </a:bodyPr>
          <a:lstStyle/>
          <a:p>
            <a:pPr algn="l">
              <a:spcBef>
                <a:spcPts val="0"/>
              </a:spcBef>
              <a:spcAft>
                <a:spcPts val="0"/>
              </a:spcAft>
              <a:buNone/>
              <a:defRPr sz="1050" b="0" i="0">
                <a:solidFill>
                  <a:srgbClr val="5E6D7B"/>
                </a:solidFill>
                <a:latin typeface="Aptos"/>
                <a:ea typeface="Aptos"/>
                <a:cs typeface="Aptos"/>
              </a:defRPr>
            </a:pPr>
            <a:r>
              <a:t>Test expressions that require event or semantic inference.</a:t>
            </a:r>
          </a:p>
        </p:txBody>
      </p:sp>
      <p:sp>
        <p:nvSpPr>
          <p:cNvPr id="28" name="Rounded Rectangle 27">
            <a:extLst>
              <a:ext uri="{FF2B5EF4-FFF2-40B4-BE49-F238E27FC236}">
                <a16:creationId xmlns:a16="http://schemas.microsoft.com/office/drawing/2014/main" id="{DC353C2F-D3C1-4DEF-B8D3-1ABC4ACA4B14}"/>
              </a:ext>
            </a:extLst>
          </p:cNvPr>
          <p:cNvSpPr>
            <a:spLocks noGrp="1"/>
          </p:cNvSpPr>
          <p:nvPr/>
        </p:nvSpPr>
        <p:spPr>
          <a:xfrm>
            <a:off x="749808" y="5175504"/>
            <a:ext cx="10652760" cy="740664"/>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789106CE-6138-4B43-B81B-08CA66D12F90}"/>
              </a:ext>
            </a:extLst>
          </p:cNvPr>
          <p:cNvSpPr>
            <a:spLocks noGrp="1"/>
          </p:cNvSpPr>
          <p:nvPr/>
        </p:nvSpPr>
        <p:spPr>
          <a:xfrm>
            <a:off x="960120" y="5330952"/>
            <a:ext cx="2084831" cy="219456"/>
          </a:xfrm>
          <a:prstGeom prst="rect">
            <a:avLst/>
          </a:prstGeom>
          <a:noFill/>
        </p:spPr>
        <p:txBody>
          <a:bodyPr wrap="square" lIns="0" tIns="0" rIns="0" bIns="0" anchor="t">
            <a:spAutoFit/>
          </a:bodyPr>
          <a:lstStyle/>
          <a:p>
            <a:pPr algn="l">
              <a:spcBef>
                <a:spcPts val="0"/>
              </a:spcBef>
              <a:spcAft>
                <a:spcPts val="0"/>
              </a:spcAft>
              <a:buNone/>
              <a:defRPr sz="900" b="1" i="0">
                <a:solidFill>
                  <a:srgbClr val="65D5CC"/>
                </a:solidFill>
                <a:latin typeface="Aptos"/>
                <a:ea typeface="Aptos"/>
                <a:cs typeface="Aptos"/>
              </a:defRPr>
            </a:pPr>
            <a:r>
              <a:t>COMMON METRICS</a:t>
            </a:r>
          </a:p>
        </p:txBody>
      </p:sp>
      <p:sp>
        <p:nvSpPr>
          <p:cNvPr id="30" name="TextBox 29">
            <a:extLst>
              <a:ext uri="{FF2B5EF4-FFF2-40B4-BE49-F238E27FC236}">
                <a16:creationId xmlns:a16="http://schemas.microsoft.com/office/drawing/2014/main" id="{31A8319B-4B0E-4336-95D5-7BBAEF352981}"/>
              </a:ext>
            </a:extLst>
          </p:cNvPr>
          <p:cNvSpPr>
            <a:spLocks noGrp="1"/>
          </p:cNvSpPr>
          <p:nvPr/>
        </p:nvSpPr>
        <p:spPr>
          <a:xfrm>
            <a:off x="2788920" y="5285232"/>
            <a:ext cx="3383280" cy="384048"/>
          </a:xfrm>
          <a:prstGeom prst="rect">
            <a:avLst/>
          </a:prstGeom>
          <a:noFill/>
        </p:spPr>
        <p:txBody>
          <a:bodyPr wrap="square" lIns="0" tIns="0" rIns="0" bIns="0" anchor="t">
            <a:spAutoFit/>
          </a:bodyPr>
          <a:lstStyle/>
          <a:p>
            <a:pPr algn="l">
              <a:spcBef>
                <a:spcPts val="0"/>
              </a:spcBef>
              <a:spcAft>
                <a:spcPts val="0"/>
              </a:spcAft>
              <a:buNone/>
              <a:defRPr sz="1100" b="1" i="0">
                <a:solidFill>
                  <a:srgbClr val="FFFFFF"/>
                </a:solidFill>
                <a:latin typeface="Aptos"/>
                <a:ea typeface="Aptos"/>
                <a:cs typeface="Aptos"/>
              </a:defRPr>
            </a:pPr>
            <a:r>
              <a:t>J&amp;F  ·  region overlap + boundary quality</a:t>
            </a:r>
          </a:p>
        </p:txBody>
      </p:sp>
      <p:sp>
        <p:nvSpPr>
          <p:cNvPr id="31" name="Connector 30">
            <a:extLst>
              <a:ext uri="{FF2B5EF4-FFF2-40B4-BE49-F238E27FC236}">
                <a16:creationId xmlns:a16="http://schemas.microsoft.com/office/drawing/2014/main" id="{B464D7A1-5CCD-4BFF-B373-DA1655541021}"/>
              </a:ext>
            </a:extLst>
          </p:cNvPr>
          <p:cNvSpPr>
            <a:spLocks noGrp="1"/>
          </p:cNvSpPr>
          <p:nvPr/>
        </p:nvSpPr>
        <p:spPr>
          <a:xfrm>
            <a:off x="6172200" y="5303520"/>
            <a:ext cx="0" cy="484632"/>
          </a:xfrm>
          <a:prstGeom prst="line">
            <a:avLst/>
          </a:prstGeom>
          <a:ln w="12700">
            <a:solidFill>
              <a:srgbClr val="486074"/>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2" name="TextBox 31">
            <a:extLst>
              <a:ext uri="{FF2B5EF4-FFF2-40B4-BE49-F238E27FC236}">
                <a16:creationId xmlns:a16="http://schemas.microsoft.com/office/drawing/2014/main" id="{C0AFCD12-52B5-4082-869B-3EA51AC21537}"/>
              </a:ext>
            </a:extLst>
          </p:cNvPr>
          <p:cNvSpPr>
            <a:spLocks noGrp="1"/>
          </p:cNvSpPr>
          <p:nvPr/>
        </p:nvSpPr>
        <p:spPr>
          <a:xfrm>
            <a:off x="6428232" y="5285232"/>
            <a:ext cx="4617720" cy="384048"/>
          </a:xfrm>
          <a:prstGeom prst="rect">
            <a:avLst/>
          </a:prstGeom>
          <a:noFill/>
        </p:spPr>
        <p:txBody>
          <a:bodyPr wrap="square" lIns="0" tIns="0" rIns="0" bIns="0" anchor="t">
            <a:spAutoFit/>
          </a:bodyPr>
          <a:lstStyle/>
          <a:p>
            <a:pPr algn="l">
              <a:spcBef>
                <a:spcPts val="0"/>
              </a:spcBef>
              <a:spcAft>
                <a:spcPts val="0"/>
              </a:spcAft>
              <a:buNone/>
              <a:defRPr sz="1100" b="1" i="0">
                <a:solidFill>
                  <a:srgbClr val="FFFFFF"/>
                </a:solidFill>
                <a:latin typeface="Aptos"/>
                <a:ea typeface="Aptos"/>
                <a:cs typeface="Aptos"/>
              </a:defRPr>
            </a:pPr>
            <a:r>
              <a:t>mAP / IoU  ·  action-centric evaluations</a:t>
            </a:r>
          </a:p>
        </p:txBody>
      </p:sp>
    </p:spTree>
    <p:extLst>
      <p:ext uri="{BB962C8B-B14F-4D97-AF65-F5344CB8AC3E}">
        <p14:creationId xmlns:p14="http://schemas.microsoft.com/office/powerpoint/2010/main" val="295785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F71CE4-0FCC-432A-A60B-88916A185651}"/>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EVIDENCE FROM REPORTED SCORES</a:t>
            </a:r>
          </a:p>
        </p:txBody>
      </p:sp>
      <p:sp>
        <p:nvSpPr>
          <p:cNvPr id="3" name="TextBox 2">
            <a:extLst>
              <a:ext uri="{FF2B5EF4-FFF2-40B4-BE49-F238E27FC236}">
                <a16:creationId xmlns:a16="http://schemas.microsoft.com/office/drawing/2014/main" id="{5AAF6649-3B7D-44EC-B72E-588113BCAFDB}"/>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Motion benchmarks reveal the appearance gap</a:t>
            </a:r>
          </a:p>
        </p:txBody>
      </p:sp>
      <p:sp>
        <p:nvSpPr>
          <p:cNvPr id="4" name="Connector 3">
            <a:extLst>
              <a:ext uri="{FF2B5EF4-FFF2-40B4-BE49-F238E27FC236}">
                <a16:creationId xmlns:a16="http://schemas.microsoft.com/office/drawing/2014/main" id="{49AEF499-5444-4F8A-9576-88895E9C25A4}"/>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014A0F70-85A1-4930-884F-6E2B5F9AFFCD}"/>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D1FE2DC4-E4AC-4FCC-9B50-D9BEE906ACB1}"/>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Table III. Published scores compiled from original papers; not independently reproduced.</a:t>
            </a:r>
          </a:p>
        </p:txBody>
      </p:sp>
      <p:sp>
        <p:nvSpPr>
          <p:cNvPr id="8" name="TextBox 7">
            <a:extLst>
              <a:ext uri="{FF2B5EF4-FFF2-40B4-BE49-F238E27FC236}">
                <a16:creationId xmlns:a16="http://schemas.microsoft.com/office/drawing/2014/main" id="{06FF2CFB-6B94-4B58-BFB3-84BED1DE0F5F}"/>
              </a:ext>
            </a:extLst>
          </p:cNvPr>
          <p:cNvSpPr>
            <a:spLocks noGrp="1"/>
          </p:cNvSpPr>
          <p:nvPr/>
        </p:nvSpPr>
        <p:spPr>
          <a:xfrm>
            <a:off x="786384" y="1591056"/>
            <a:ext cx="7406640" cy="310896"/>
          </a:xfrm>
          <a:prstGeom prst="rect">
            <a:avLst/>
          </a:prstGeom>
          <a:noFill/>
        </p:spPr>
        <p:txBody>
          <a:bodyPr wrap="square" lIns="0" tIns="0" rIns="0" bIns="0" anchor="t">
            <a:spAutoFit/>
          </a:bodyPr>
          <a:lstStyle/>
          <a:p>
            <a:pPr algn="l">
              <a:spcBef>
                <a:spcPts val="0"/>
              </a:spcBef>
              <a:spcAft>
                <a:spcPts val="0"/>
              </a:spcAft>
              <a:buNone/>
              <a:defRPr sz="1700" b="1" i="0">
                <a:solidFill>
                  <a:srgbClr val="122438"/>
                </a:solidFill>
                <a:latin typeface="Aptos"/>
                <a:ea typeface="Aptos"/>
                <a:cs typeface="Aptos"/>
              </a:defRPr>
            </a:pPr>
            <a:r>
              <a:t>Selected reported MeViS J&amp;F scores</a:t>
            </a:r>
          </a:p>
        </p:txBody>
      </p:sp>
      <p:sp>
        <p:nvSpPr>
          <p:cNvPr id="9" name="TextBox 8">
            <a:extLst>
              <a:ext uri="{FF2B5EF4-FFF2-40B4-BE49-F238E27FC236}">
                <a16:creationId xmlns:a16="http://schemas.microsoft.com/office/drawing/2014/main" id="{8EEE08B7-C81A-4462-BE34-8DC7A5F69F2F}"/>
              </a:ext>
            </a:extLst>
          </p:cNvPr>
          <p:cNvSpPr>
            <a:spLocks noGrp="1"/>
          </p:cNvSpPr>
          <p:nvPr/>
        </p:nvSpPr>
        <p:spPr>
          <a:xfrm>
            <a:off x="786384" y="1938528"/>
            <a:ext cx="8046720" cy="256032"/>
          </a:xfrm>
          <a:prstGeom prst="rect">
            <a:avLst/>
          </a:prstGeom>
          <a:noFill/>
        </p:spPr>
        <p:txBody>
          <a:bodyPr wrap="square" lIns="0" tIns="0" rIns="0" bIns="0" anchor="t">
            <a:spAutoFit/>
          </a:bodyPr>
          <a:lstStyle/>
          <a:p>
            <a:pPr algn="l">
              <a:spcBef>
                <a:spcPts val="0"/>
              </a:spcBef>
              <a:spcAft>
                <a:spcPts val="0"/>
              </a:spcAft>
              <a:buNone/>
              <a:defRPr sz="1100" b="0" i="0">
                <a:solidFill>
                  <a:srgbClr val="5E6D7B"/>
                </a:solidFill>
                <a:latin typeface="Aptos"/>
                <a:ea typeface="Aptos"/>
                <a:cs typeface="Aptos"/>
              </a:defRPr>
            </a:pPr>
            <a:r>
              <a:t>MeViS emphasizes motion-dependent referring expressions.</a:t>
            </a:r>
          </a:p>
        </p:txBody>
      </p:sp>
      <p:sp>
        <p:nvSpPr>
          <p:cNvPr id="10" name="Connector 9">
            <a:extLst>
              <a:ext uri="{FF2B5EF4-FFF2-40B4-BE49-F238E27FC236}">
                <a16:creationId xmlns:a16="http://schemas.microsoft.com/office/drawing/2014/main" id="{41043D73-D5B5-4DAA-8F27-454890952377}"/>
              </a:ext>
            </a:extLst>
          </p:cNvPr>
          <p:cNvSpPr>
            <a:spLocks noGrp="1"/>
          </p:cNvSpPr>
          <p:nvPr/>
        </p:nvSpPr>
        <p:spPr>
          <a:xfrm>
            <a:off x="3611880"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1" name="TextBox 10">
            <a:extLst>
              <a:ext uri="{FF2B5EF4-FFF2-40B4-BE49-F238E27FC236}">
                <a16:creationId xmlns:a16="http://schemas.microsoft.com/office/drawing/2014/main" id="{6AE37348-4C26-4679-84D3-43DE207D588F}"/>
              </a:ext>
            </a:extLst>
          </p:cNvPr>
          <p:cNvSpPr>
            <a:spLocks noGrp="1"/>
          </p:cNvSpPr>
          <p:nvPr/>
        </p:nvSpPr>
        <p:spPr>
          <a:xfrm>
            <a:off x="3474720" y="5404104"/>
            <a:ext cx="320040" cy="164592"/>
          </a:xfrm>
          <a:prstGeom prst="rect">
            <a:avLst/>
          </a:prstGeom>
          <a:noFill/>
        </p:spPr>
        <p:txBody>
          <a:bodyPr wrap="square" lIns="0" tIns="0" rIns="0" bIns="0" anchor="t">
            <a:spAutoFit/>
          </a:bodyPr>
          <a:lstStyle/>
          <a:p>
            <a:pPr algn="ctr">
              <a:spcBef>
                <a:spcPts val="0"/>
              </a:spcBef>
              <a:spcAft>
                <a:spcPts val="0"/>
              </a:spcAft>
              <a:buNone/>
              <a:defRPr sz="800" b="0" i="0">
                <a:solidFill>
                  <a:srgbClr val="5E6D7B"/>
                </a:solidFill>
                <a:latin typeface="Aptos"/>
                <a:ea typeface="Aptos"/>
                <a:cs typeface="Aptos"/>
              </a:defRPr>
            </a:pPr>
            <a:r>
              <a:t>0</a:t>
            </a:r>
          </a:p>
        </p:txBody>
      </p:sp>
      <p:sp>
        <p:nvSpPr>
          <p:cNvPr id="12" name="Connector 11">
            <a:extLst>
              <a:ext uri="{FF2B5EF4-FFF2-40B4-BE49-F238E27FC236}">
                <a16:creationId xmlns:a16="http://schemas.microsoft.com/office/drawing/2014/main" id="{D4EC7F8C-5341-467C-BE9C-50FEB9EB530E}"/>
              </a:ext>
            </a:extLst>
          </p:cNvPr>
          <p:cNvSpPr>
            <a:spLocks noGrp="1"/>
          </p:cNvSpPr>
          <p:nvPr/>
        </p:nvSpPr>
        <p:spPr>
          <a:xfrm>
            <a:off x="4694529"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3" name="TextBox 12">
            <a:extLst>
              <a:ext uri="{FF2B5EF4-FFF2-40B4-BE49-F238E27FC236}">
                <a16:creationId xmlns:a16="http://schemas.microsoft.com/office/drawing/2014/main" id="{5D48D401-CBE9-4A46-9D27-53F294C10D1A}"/>
              </a:ext>
            </a:extLst>
          </p:cNvPr>
          <p:cNvSpPr>
            <a:spLocks noGrp="1"/>
          </p:cNvSpPr>
          <p:nvPr/>
        </p:nvSpPr>
        <p:spPr>
          <a:xfrm>
            <a:off x="4557369" y="5404104"/>
            <a:ext cx="320040" cy="164592"/>
          </a:xfrm>
          <a:prstGeom prst="rect">
            <a:avLst/>
          </a:prstGeom>
          <a:noFill/>
        </p:spPr>
        <p:txBody>
          <a:bodyPr wrap="square" lIns="0" tIns="0" rIns="0" bIns="0" anchor="t">
            <a:spAutoFit/>
          </a:bodyPr>
          <a:lstStyle/>
          <a:p>
            <a:pPr algn="ctr">
              <a:spcBef>
                <a:spcPts val="0"/>
              </a:spcBef>
              <a:spcAft>
                <a:spcPts val="0"/>
              </a:spcAft>
              <a:buNone/>
              <a:defRPr sz="800" b="0" i="0">
                <a:solidFill>
                  <a:srgbClr val="5E6D7B"/>
                </a:solidFill>
                <a:latin typeface="Aptos"/>
                <a:ea typeface="Aptos"/>
                <a:cs typeface="Aptos"/>
              </a:defRPr>
            </a:pPr>
            <a:r>
              <a:t>10</a:t>
            </a:r>
          </a:p>
        </p:txBody>
      </p:sp>
      <p:sp>
        <p:nvSpPr>
          <p:cNvPr id="14" name="Connector 13">
            <a:extLst>
              <a:ext uri="{FF2B5EF4-FFF2-40B4-BE49-F238E27FC236}">
                <a16:creationId xmlns:a16="http://schemas.microsoft.com/office/drawing/2014/main" id="{12CD8CC2-DF44-479F-973B-ADD017EA37E3}"/>
              </a:ext>
            </a:extLst>
          </p:cNvPr>
          <p:cNvSpPr>
            <a:spLocks noGrp="1"/>
          </p:cNvSpPr>
          <p:nvPr/>
        </p:nvSpPr>
        <p:spPr>
          <a:xfrm>
            <a:off x="5777179"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5" name="TextBox 14">
            <a:extLst>
              <a:ext uri="{FF2B5EF4-FFF2-40B4-BE49-F238E27FC236}">
                <a16:creationId xmlns:a16="http://schemas.microsoft.com/office/drawing/2014/main" id="{346E8283-1668-478F-B823-50A32ED9FBF7}"/>
              </a:ext>
            </a:extLst>
          </p:cNvPr>
          <p:cNvSpPr>
            <a:spLocks noGrp="1"/>
          </p:cNvSpPr>
          <p:nvPr/>
        </p:nvSpPr>
        <p:spPr>
          <a:xfrm>
            <a:off x="5640019" y="5404104"/>
            <a:ext cx="320040" cy="164592"/>
          </a:xfrm>
          <a:prstGeom prst="rect">
            <a:avLst/>
          </a:prstGeom>
          <a:noFill/>
        </p:spPr>
        <p:txBody>
          <a:bodyPr wrap="square" lIns="0" tIns="0" rIns="0" bIns="0" anchor="t">
            <a:spAutoFit/>
          </a:bodyPr>
          <a:lstStyle/>
          <a:p>
            <a:pPr algn="ctr">
              <a:spcBef>
                <a:spcPts val="0"/>
              </a:spcBef>
              <a:spcAft>
                <a:spcPts val="0"/>
              </a:spcAft>
              <a:buNone/>
              <a:defRPr sz="800" b="0" i="0">
                <a:solidFill>
                  <a:srgbClr val="5E6D7B"/>
                </a:solidFill>
                <a:latin typeface="Aptos"/>
                <a:ea typeface="Aptos"/>
                <a:cs typeface="Aptos"/>
              </a:defRPr>
            </a:pPr>
            <a:r>
              <a:t>20</a:t>
            </a:r>
          </a:p>
        </p:txBody>
      </p:sp>
      <p:sp>
        <p:nvSpPr>
          <p:cNvPr id="16" name="Connector 15">
            <a:extLst>
              <a:ext uri="{FF2B5EF4-FFF2-40B4-BE49-F238E27FC236}">
                <a16:creationId xmlns:a16="http://schemas.microsoft.com/office/drawing/2014/main" id="{F83BCA84-884F-4A3E-9963-04828331E503}"/>
              </a:ext>
            </a:extLst>
          </p:cNvPr>
          <p:cNvSpPr>
            <a:spLocks noGrp="1"/>
          </p:cNvSpPr>
          <p:nvPr/>
        </p:nvSpPr>
        <p:spPr>
          <a:xfrm>
            <a:off x="6859828"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7" name="TextBox 16">
            <a:extLst>
              <a:ext uri="{FF2B5EF4-FFF2-40B4-BE49-F238E27FC236}">
                <a16:creationId xmlns:a16="http://schemas.microsoft.com/office/drawing/2014/main" id="{DE62989D-2A06-4443-B3D6-251782631015}"/>
              </a:ext>
            </a:extLst>
          </p:cNvPr>
          <p:cNvSpPr>
            <a:spLocks noGrp="1"/>
          </p:cNvSpPr>
          <p:nvPr/>
        </p:nvSpPr>
        <p:spPr>
          <a:xfrm>
            <a:off x="6722668" y="5404104"/>
            <a:ext cx="320040" cy="164592"/>
          </a:xfrm>
          <a:prstGeom prst="rect">
            <a:avLst/>
          </a:prstGeom>
          <a:noFill/>
        </p:spPr>
        <p:txBody>
          <a:bodyPr wrap="square" lIns="0" tIns="0" rIns="0" bIns="0" anchor="t">
            <a:spAutoFit/>
          </a:bodyPr>
          <a:lstStyle/>
          <a:p>
            <a:pPr algn="ctr">
              <a:spcBef>
                <a:spcPts val="0"/>
              </a:spcBef>
              <a:spcAft>
                <a:spcPts val="0"/>
              </a:spcAft>
              <a:buNone/>
              <a:defRPr sz="800" b="0" i="0">
                <a:solidFill>
                  <a:srgbClr val="5E6D7B"/>
                </a:solidFill>
                <a:latin typeface="Aptos"/>
                <a:ea typeface="Aptos"/>
                <a:cs typeface="Aptos"/>
              </a:defRPr>
            </a:pPr>
            <a:r>
              <a:t>30</a:t>
            </a:r>
          </a:p>
        </p:txBody>
      </p:sp>
      <p:sp>
        <p:nvSpPr>
          <p:cNvPr id="18" name="Connector 17">
            <a:extLst>
              <a:ext uri="{FF2B5EF4-FFF2-40B4-BE49-F238E27FC236}">
                <a16:creationId xmlns:a16="http://schemas.microsoft.com/office/drawing/2014/main" id="{D9F2C873-6107-42DD-AF81-912C647F312A}"/>
              </a:ext>
            </a:extLst>
          </p:cNvPr>
          <p:cNvSpPr>
            <a:spLocks noGrp="1"/>
          </p:cNvSpPr>
          <p:nvPr/>
        </p:nvSpPr>
        <p:spPr>
          <a:xfrm>
            <a:off x="7942478"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9" name="TextBox 18">
            <a:extLst>
              <a:ext uri="{FF2B5EF4-FFF2-40B4-BE49-F238E27FC236}">
                <a16:creationId xmlns:a16="http://schemas.microsoft.com/office/drawing/2014/main" id="{C855E4B9-85B5-4820-B789-C264907A159D}"/>
              </a:ext>
            </a:extLst>
          </p:cNvPr>
          <p:cNvSpPr>
            <a:spLocks noGrp="1"/>
          </p:cNvSpPr>
          <p:nvPr/>
        </p:nvSpPr>
        <p:spPr>
          <a:xfrm>
            <a:off x="7805318" y="5404104"/>
            <a:ext cx="320040" cy="164592"/>
          </a:xfrm>
          <a:prstGeom prst="rect">
            <a:avLst/>
          </a:prstGeom>
          <a:noFill/>
        </p:spPr>
        <p:txBody>
          <a:bodyPr wrap="square" lIns="0" tIns="0" rIns="0" bIns="0" anchor="t">
            <a:spAutoFit/>
          </a:bodyPr>
          <a:lstStyle/>
          <a:p>
            <a:pPr algn="ctr">
              <a:spcBef>
                <a:spcPts val="0"/>
              </a:spcBef>
              <a:spcAft>
                <a:spcPts val="0"/>
              </a:spcAft>
              <a:buNone/>
              <a:defRPr sz="800" b="0" i="0">
                <a:solidFill>
                  <a:srgbClr val="5E6D7B"/>
                </a:solidFill>
                <a:latin typeface="Aptos"/>
                <a:ea typeface="Aptos"/>
                <a:cs typeface="Aptos"/>
              </a:defRPr>
            </a:pPr>
            <a:r>
              <a:t>40</a:t>
            </a:r>
          </a:p>
        </p:txBody>
      </p:sp>
      <p:sp>
        <p:nvSpPr>
          <p:cNvPr id="20" name="Connector 19">
            <a:extLst>
              <a:ext uri="{FF2B5EF4-FFF2-40B4-BE49-F238E27FC236}">
                <a16:creationId xmlns:a16="http://schemas.microsoft.com/office/drawing/2014/main" id="{600CBD2A-561A-467E-9011-0AC4C2E5575B}"/>
              </a:ext>
            </a:extLst>
          </p:cNvPr>
          <p:cNvSpPr>
            <a:spLocks noGrp="1"/>
          </p:cNvSpPr>
          <p:nvPr/>
        </p:nvSpPr>
        <p:spPr>
          <a:xfrm>
            <a:off x="9025128" y="2496312"/>
            <a:ext cx="0" cy="2825496"/>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1" name="TextBox 20">
            <a:extLst>
              <a:ext uri="{FF2B5EF4-FFF2-40B4-BE49-F238E27FC236}">
                <a16:creationId xmlns:a16="http://schemas.microsoft.com/office/drawing/2014/main" id="{A7008BD9-A1A3-4E10-8A7B-49BD65DD6E55}"/>
              </a:ext>
            </a:extLst>
          </p:cNvPr>
          <p:cNvSpPr>
            <a:spLocks noGrp="1"/>
          </p:cNvSpPr>
          <p:nvPr/>
        </p:nvSpPr>
        <p:spPr>
          <a:xfrm>
            <a:off x="8887968" y="5404104"/>
            <a:ext cx="320040" cy="164592"/>
          </a:xfrm>
          <a:prstGeom prst="rect">
            <a:avLst/>
          </a:prstGeom>
          <a:noFill/>
        </p:spPr>
        <p:txBody>
          <a:bodyPr wrap="square" lIns="0" tIns="0" rIns="0" bIns="0" anchor="t">
            <a:spAutoFit/>
          </a:bodyPr>
          <a:lstStyle/>
          <a:p>
            <a:pPr algn="ctr">
              <a:spcBef>
                <a:spcPts val="0"/>
              </a:spcBef>
              <a:spcAft>
                <a:spcPts val="0"/>
              </a:spcAft>
              <a:buNone/>
              <a:defRPr sz="800" b="0" i="0">
                <a:solidFill>
                  <a:srgbClr val="5E6D7B"/>
                </a:solidFill>
                <a:latin typeface="Aptos"/>
                <a:ea typeface="Aptos"/>
                <a:cs typeface="Aptos"/>
              </a:defRPr>
            </a:pPr>
            <a:r>
              <a:t>50</a:t>
            </a:r>
          </a:p>
        </p:txBody>
      </p:sp>
      <p:sp>
        <p:nvSpPr>
          <p:cNvPr id="22" name="TextBox 21">
            <a:extLst>
              <a:ext uri="{FF2B5EF4-FFF2-40B4-BE49-F238E27FC236}">
                <a16:creationId xmlns:a16="http://schemas.microsoft.com/office/drawing/2014/main" id="{B0AB4706-DBDC-4C36-841F-80E70F33132B}"/>
              </a:ext>
            </a:extLst>
          </p:cNvPr>
          <p:cNvSpPr>
            <a:spLocks noGrp="1"/>
          </p:cNvSpPr>
          <p:nvPr/>
        </p:nvSpPr>
        <p:spPr>
          <a:xfrm>
            <a:off x="813816" y="2743200"/>
            <a:ext cx="2578608" cy="228600"/>
          </a:xfrm>
          <a:prstGeom prst="rect">
            <a:avLst/>
          </a:prstGeom>
          <a:noFill/>
        </p:spPr>
        <p:txBody>
          <a:bodyPr wrap="square" lIns="0" tIns="0" rIns="0" bIns="0" anchor="t">
            <a:spAutoFit/>
          </a:bodyPr>
          <a:lstStyle/>
          <a:p>
            <a:pPr algn="l">
              <a:spcBef>
                <a:spcPts val="0"/>
              </a:spcBef>
              <a:spcAft>
                <a:spcPts val="0"/>
              </a:spcAft>
              <a:buNone/>
              <a:defRPr sz="1100" b="1" i="0">
                <a:solidFill>
                  <a:srgbClr val="172A3A"/>
                </a:solidFill>
                <a:latin typeface="Aptos"/>
                <a:ea typeface="Aptos"/>
                <a:cs typeface="Aptos"/>
              </a:defRPr>
            </a:pPr>
            <a:r>
              <a:t>LMPM · Swin-T</a:t>
            </a:r>
          </a:p>
        </p:txBody>
      </p:sp>
      <p:sp>
        <p:nvSpPr>
          <p:cNvPr id="23" name="Rounded Rectangle 22">
            <a:extLst>
              <a:ext uri="{FF2B5EF4-FFF2-40B4-BE49-F238E27FC236}">
                <a16:creationId xmlns:a16="http://schemas.microsoft.com/office/drawing/2014/main" id="{65588EB9-68F2-497A-B439-B6AB2E45740D}"/>
              </a:ext>
            </a:extLst>
          </p:cNvPr>
          <p:cNvSpPr>
            <a:spLocks noGrp="1"/>
          </p:cNvSpPr>
          <p:nvPr/>
        </p:nvSpPr>
        <p:spPr>
          <a:xfrm>
            <a:off x="3611880" y="2679192"/>
            <a:ext cx="4027456" cy="365760"/>
          </a:xfrm>
          <a:prstGeom prst="roundRect">
            <a:avLst>
              <a:gd name="adj" fmla="val 12000"/>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19D180E-7437-4E3E-A9BA-B277062B841F}"/>
              </a:ext>
            </a:extLst>
          </p:cNvPr>
          <p:cNvSpPr>
            <a:spLocks noGrp="1"/>
          </p:cNvSpPr>
          <p:nvPr/>
        </p:nvSpPr>
        <p:spPr>
          <a:xfrm>
            <a:off x="7749064" y="2734056"/>
            <a:ext cx="502920" cy="201168"/>
          </a:xfrm>
          <a:prstGeom prst="rect">
            <a:avLst/>
          </a:prstGeom>
          <a:noFill/>
        </p:spPr>
        <p:txBody>
          <a:bodyPr wrap="square" lIns="0" tIns="0" rIns="0" bIns="0" anchor="t">
            <a:spAutoFit/>
          </a:bodyPr>
          <a:lstStyle/>
          <a:p>
            <a:pPr algn="l">
              <a:spcBef>
                <a:spcPts val="0"/>
              </a:spcBef>
              <a:spcAft>
                <a:spcPts val="0"/>
              </a:spcAft>
              <a:buNone/>
              <a:defRPr sz="1100" b="1" i="0">
                <a:solidFill>
                  <a:srgbClr val="122438"/>
                </a:solidFill>
                <a:latin typeface="Aptos"/>
                <a:ea typeface="Aptos"/>
                <a:cs typeface="Aptos"/>
              </a:defRPr>
            </a:pPr>
            <a:r>
              <a:t>37.2</a:t>
            </a:r>
          </a:p>
        </p:txBody>
      </p:sp>
      <p:sp>
        <p:nvSpPr>
          <p:cNvPr id="25" name="TextBox 24">
            <a:extLst>
              <a:ext uri="{FF2B5EF4-FFF2-40B4-BE49-F238E27FC236}">
                <a16:creationId xmlns:a16="http://schemas.microsoft.com/office/drawing/2014/main" id="{E632132E-F197-499C-BE05-30B919BD8DBF}"/>
              </a:ext>
            </a:extLst>
          </p:cNvPr>
          <p:cNvSpPr>
            <a:spLocks noGrp="1"/>
          </p:cNvSpPr>
          <p:nvPr/>
        </p:nvSpPr>
        <p:spPr>
          <a:xfrm>
            <a:off x="813816" y="3374136"/>
            <a:ext cx="2578608" cy="228600"/>
          </a:xfrm>
          <a:prstGeom prst="rect">
            <a:avLst/>
          </a:prstGeom>
          <a:noFill/>
        </p:spPr>
        <p:txBody>
          <a:bodyPr wrap="square" lIns="0" tIns="0" rIns="0" bIns="0" anchor="t">
            <a:spAutoFit/>
          </a:bodyPr>
          <a:lstStyle/>
          <a:p>
            <a:pPr algn="l">
              <a:spcBef>
                <a:spcPts val="0"/>
              </a:spcBef>
              <a:spcAft>
                <a:spcPts val="0"/>
              </a:spcAft>
              <a:buNone/>
              <a:defRPr sz="1100" b="1" i="0">
                <a:solidFill>
                  <a:srgbClr val="172A3A"/>
                </a:solidFill>
                <a:latin typeface="Aptos"/>
                <a:ea typeface="Aptos"/>
                <a:cs typeface="Aptos"/>
              </a:defRPr>
            </a:pPr>
            <a:r>
              <a:t>DsHmp · reported setup</a:t>
            </a:r>
          </a:p>
        </p:txBody>
      </p:sp>
      <p:sp>
        <p:nvSpPr>
          <p:cNvPr id="26" name="Rounded Rectangle 25">
            <a:extLst>
              <a:ext uri="{FF2B5EF4-FFF2-40B4-BE49-F238E27FC236}">
                <a16:creationId xmlns:a16="http://schemas.microsoft.com/office/drawing/2014/main" id="{4749A27C-128B-4946-B068-4AC64701AAD1}"/>
              </a:ext>
            </a:extLst>
          </p:cNvPr>
          <p:cNvSpPr>
            <a:spLocks noGrp="1"/>
          </p:cNvSpPr>
          <p:nvPr/>
        </p:nvSpPr>
        <p:spPr>
          <a:xfrm>
            <a:off x="3611880" y="3310128"/>
            <a:ext cx="5023494" cy="365760"/>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62FEDD08-D151-4DB0-88A5-98B103C4E214}"/>
              </a:ext>
            </a:extLst>
          </p:cNvPr>
          <p:cNvSpPr>
            <a:spLocks noGrp="1"/>
          </p:cNvSpPr>
          <p:nvPr/>
        </p:nvSpPr>
        <p:spPr>
          <a:xfrm>
            <a:off x="8745102" y="3364992"/>
            <a:ext cx="502920" cy="201168"/>
          </a:xfrm>
          <a:prstGeom prst="rect">
            <a:avLst/>
          </a:prstGeom>
          <a:noFill/>
        </p:spPr>
        <p:txBody>
          <a:bodyPr wrap="square" lIns="0" tIns="0" rIns="0" bIns="0" anchor="t">
            <a:spAutoFit/>
          </a:bodyPr>
          <a:lstStyle/>
          <a:p>
            <a:pPr algn="l">
              <a:spcBef>
                <a:spcPts val="0"/>
              </a:spcBef>
              <a:spcAft>
                <a:spcPts val="0"/>
              </a:spcAft>
              <a:buNone/>
              <a:defRPr sz="1100" b="1" i="0">
                <a:solidFill>
                  <a:srgbClr val="122438"/>
                </a:solidFill>
                <a:latin typeface="Aptos"/>
                <a:ea typeface="Aptos"/>
                <a:cs typeface="Aptos"/>
              </a:defRPr>
            </a:pPr>
            <a:r>
              <a:t>46.4</a:t>
            </a:r>
          </a:p>
        </p:txBody>
      </p:sp>
      <p:sp>
        <p:nvSpPr>
          <p:cNvPr id="28" name="TextBox 27">
            <a:extLst>
              <a:ext uri="{FF2B5EF4-FFF2-40B4-BE49-F238E27FC236}">
                <a16:creationId xmlns:a16="http://schemas.microsoft.com/office/drawing/2014/main" id="{236DF6A2-D7CC-48E4-A718-83328342865B}"/>
              </a:ext>
            </a:extLst>
          </p:cNvPr>
          <p:cNvSpPr>
            <a:spLocks noGrp="1"/>
          </p:cNvSpPr>
          <p:nvPr/>
        </p:nvSpPr>
        <p:spPr>
          <a:xfrm>
            <a:off x="813816" y="4005072"/>
            <a:ext cx="2578608" cy="228600"/>
          </a:xfrm>
          <a:prstGeom prst="rect">
            <a:avLst/>
          </a:prstGeom>
          <a:noFill/>
        </p:spPr>
        <p:txBody>
          <a:bodyPr wrap="square" lIns="0" tIns="0" rIns="0" bIns="0" anchor="t">
            <a:spAutoFit/>
          </a:bodyPr>
          <a:lstStyle/>
          <a:p>
            <a:pPr algn="l">
              <a:spcBef>
                <a:spcPts val="0"/>
              </a:spcBef>
              <a:spcAft>
                <a:spcPts val="0"/>
              </a:spcAft>
              <a:buNone/>
              <a:defRPr sz="1100" b="1" i="0">
                <a:solidFill>
                  <a:srgbClr val="172A3A"/>
                </a:solidFill>
                <a:latin typeface="Aptos"/>
                <a:ea typeface="Aptos"/>
                <a:cs typeface="Aptos"/>
              </a:defRPr>
            </a:pPr>
            <a:r>
              <a:t>VISA · Chat-UniVi-7B</a:t>
            </a:r>
          </a:p>
        </p:txBody>
      </p:sp>
      <p:sp>
        <p:nvSpPr>
          <p:cNvPr id="29" name="Rounded Rectangle 28">
            <a:extLst>
              <a:ext uri="{FF2B5EF4-FFF2-40B4-BE49-F238E27FC236}">
                <a16:creationId xmlns:a16="http://schemas.microsoft.com/office/drawing/2014/main" id="{C3F4D937-90CD-4147-9A64-7914FDADFF30}"/>
              </a:ext>
            </a:extLst>
          </p:cNvPr>
          <p:cNvSpPr>
            <a:spLocks noGrp="1"/>
          </p:cNvSpPr>
          <p:nvPr/>
        </p:nvSpPr>
        <p:spPr>
          <a:xfrm>
            <a:off x="3611880" y="3941064"/>
            <a:ext cx="4709525" cy="365760"/>
          </a:xfrm>
          <a:prstGeom prst="roundRect">
            <a:avLst>
              <a:gd name="adj" fmla="val 12000"/>
            </a:avLst>
          </a:prstGeom>
          <a:solidFill>
            <a:srgbClr val="5A8D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D29D7B93-E008-4D3E-9E93-48C8DC3197DC}"/>
              </a:ext>
            </a:extLst>
          </p:cNvPr>
          <p:cNvSpPr>
            <a:spLocks noGrp="1"/>
          </p:cNvSpPr>
          <p:nvPr/>
        </p:nvSpPr>
        <p:spPr>
          <a:xfrm>
            <a:off x="8431133" y="3995928"/>
            <a:ext cx="502920" cy="201168"/>
          </a:xfrm>
          <a:prstGeom prst="rect">
            <a:avLst/>
          </a:prstGeom>
          <a:noFill/>
        </p:spPr>
        <p:txBody>
          <a:bodyPr wrap="square" lIns="0" tIns="0" rIns="0" bIns="0" anchor="t">
            <a:spAutoFit/>
          </a:bodyPr>
          <a:lstStyle/>
          <a:p>
            <a:pPr algn="l">
              <a:spcBef>
                <a:spcPts val="0"/>
              </a:spcBef>
              <a:spcAft>
                <a:spcPts val="0"/>
              </a:spcAft>
              <a:buNone/>
              <a:defRPr sz="1100" b="1" i="0">
                <a:solidFill>
                  <a:srgbClr val="122438"/>
                </a:solidFill>
                <a:latin typeface="Aptos"/>
                <a:ea typeface="Aptos"/>
                <a:cs typeface="Aptos"/>
              </a:defRPr>
            </a:pPr>
            <a:r>
              <a:t>43.5</a:t>
            </a:r>
          </a:p>
        </p:txBody>
      </p:sp>
      <p:sp>
        <p:nvSpPr>
          <p:cNvPr id="31" name="TextBox 30">
            <a:extLst>
              <a:ext uri="{FF2B5EF4-FFF2-40B4-BE49-F238E27FC236}">
                <a16:creationId xmlns:a16="http://schemas.microsoft.com/office/drawing/2014/main" id="{37E10891-1D58-4FE6-9FA7-5EF83ADAFC9D}"/>
              </a:ext>
            </a:extLst>
          </p:cNvPr>
          <p:cNvSpPr>
            <a:spLocks noGrp="1"/>
          </p:cNvSpPr>
          <p:nvPr/>
        </p:nvSpPr>
        <p:spPr>
          <a:xfrm>
            <a:off x="813816" y="4636008"/>
            <a:ext cx="2578608" cy="228600"/>
          </a:xfrm>
          <a:prstGeom prst="rect">
            <a:avLst/>
          </a:prstGeom>
          <a:noFill/>
        </p:spPr>
        <p:txBody>
          <a:bodyPr wrap="square" lIns="0" tIns="0" rIns="0" bIns="0" anchor="t">
            <a:spAutoFit/>
          </a:bodyPr>
          <a:lstStyle/>
          <a:p>
            <a:pPr algn="l">
              <a:spcBef>
                <a:spcPts val="0"/>
              </a:spcBef>
              <a:spcAft>
                <a:spcPts val="0"/>
              </a:spcAft>
              <a:buNone/>
              <a:defRPr sz="1100" b="1" i="0">
                <a:solidFill>
                  <a:srgbClr val="172A3A"/>
                </a:solidFill>
                <a:latin typeface="Aptos"/>
                <a:ea typeface="Aptos"/>
                <a:cs typeface="Aptos"/>
              </a:defRPr>
            </a:pPr>
            <a:r>
              <a:t>VISA · Chat-UniVi-13B</a:t>
            </a:r>
          </a:p>
        </p:txBody>
      </p:sp>
      <p:sp>
        <p:nvSpPr>
          <p:cNvPr id="32" name="Rounded Rectangle 31">
            <a:extLst>
              <a:ext uri="{FF2B5EF4-FFF2-40B4-BE49-F238E27FC236}">
                <a16:creationId xmlns:a16="http://schemas.microsoft.com/office/drawing/2014/main" id="{9A5AC728-04C8-40A5-A6FC-DA61D1BCEF01}"/>
              </a:ext>
            </a:extLst>
          </p:cNvPr>
          <p:cNvSpPr>
            <a:spLocks noGrp="1"/>
          </p:cNvSpPr>
          <p:nvPr/>
        </p:nvSpPr>
        <p:spPr>
          <a:xfrm>
            <a:off x="3611880" y="4572000"/>
            <a:ext cx="4817790" cy="365760"/>
          </a:xfrm>
          <a:prstGeom prst="roundRect">
            <a:avLst>
              <a:gd name="adj" fmla="val 12000"/>
            </a:avLst>
          </a:prstGeom>
          <a:solidFill>
            <a:srgbClr val="7B73C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1F82DA08-64EE-4179-A036-B74FC6D72675}"/>
              </a:ext>
            </a:extLst>
          </p:cNvPr>
          <p:cNvSpPr>
            <a:spLocks noGrp="1"/>
          </p:cNvSpPr>
          <p:nvPr/>
        </p:nvSpPr>
        <p:spPr>
          <a:xfrm>
            <a:off x="8539398" y="4626864"/>
            <a:ext cx="502920" cy="201168"/>
          </a:xfrm>
          <a:prstGeom prst="rect">
            <a:avLst/>
          </a:prstGeom>
          <a:noFill/>
        </p:spPr>
        <p:txBody>
          <a:bodyPr wrap="square" lIns="0" tIns="0" rIns="0" bIns="0" anchor="t">
            <a:spAutoFit/>
          </a:bodyPr>
          <a:lstStyle/>
          <a:p>
            <a:pPr algn="l">
              <a:spcBef>
                <a:spcPts val="0"/>
              </a:spcBef>
              <a:spcAft>
                <a:spcPts val="0"/>
              </a:spcAft>
              <a:buNone/>
              <a:defRPr sz="1100" b="1" i="0">
                <a:solidFill>
                  <a:srgbClr val="122438"/>
                </a:solidFill>
                <a:latin typeface="Aptos"/>
                <a:ea typeface="Aptos"/>
                <a:cs typeface="Aptos"/>
              </a:defRPr>
            </a:pPr>
            <a:r>
              <a:t>44.5</a:t>
            </a:r>
          </a:p>
        </p:txBody>
      </p:sp>
      <p:sp>
        <p:nvSpPr>
          <p:cNvPr id="34" name="TextBox 33">
            <a:extLst>
              <a:ext uri="{FF2B5EF4-FFF2-40B4-BE49-F238E27FC236}">
                <a16:creationId xmlns:a16="http://schemas.microsoft.com/office/drawing/2014/main" id="{F258E9EF-C641-43FA-AEF6-D6383EFB2E51}"/>
              </a:ext>
            </a:extLst>
          </p:cNvPr>
          <p:cNvSpPr>
            <a:spLocks noGrp="1"/>
          </p:cNvSpPr>
          <p:nvPr/>
        </p:nvSpPr>
        <p:spPr>
          <a:xfrm>
            <a:off x="3611880" y="5660136"/>
            <a:ext cx="6126480" cy="201168"/>
          </a:xfrm>
          <a:prstGeom prst="rect">
            <a:avLst/>
          </a:prstGeom>
          <a:noFill/>
        </p:spPr>
        <p:txBody>
          <a:bodyPr wrap="square" lIns="0" tIns="0" rIns="0" bIns="0" anchor="t">
            <a:spAutoFit/>
          </a:bodyPr>
          <a:lstStyle/>
          <a:p>
            <a:pPr algn="ctr">
              <a:spcBef>
                <a:spcPts val="0"/>
              </a:spcBef>
              <a:spcAft>
                <a:spcPts val="0"/>
              </a:spcAft>
              <a:buNone/>
              <a:defRPr sz="900" b="0" i="0">
                <a:solidFill>
                  <a:srgbClr val="5E6D7B"/>
                </a:solidFill>
                <a:latin typeface="Aptos"/>
                <a:ea typeface="Aptos"/>
                <a:cs typeface="Aptos"/>
              </a:defRPr>
            </a:pPr>
            <a:r>
              <a:t>Reported J&amp;F score  ·  higher is better</a:t>
            </a:r>
          </a:p>
        </p:txBody>
      </p:sp>
      <p:sp>
        <p:nvSpPr>
          <p:cNvPr id="35" name="Rounded Rectangle 34">
            <a:extLst>
              <a:ext uri="{FF2B5EF4-FFF2-40B4-BE49-F238E27FC236}">
                <a16:creationId xmlns:a16="http://schemas.microsoft.com/office/drawing/2014/main" id="{4661AEF0-2793-489E-829A-AA406D7D9DC5}"/>
              </a:ext>
            </a:extLst>
          </p:cNvPr>
          <p:cNvSpPr>
            <a:spLocks noGrp="1"/>
          </p:cNvSpPr>
          <p:nvPr/>
        </p:nvSpPr>
        <p:spPr>
          <a:xfrm>
            <a:off x="9189720" y="2423160"/>
            <a:ext cx="2221992" cy="3136392"/>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09BB6518-705D-40B5-8266-52688F9ECC8B}"/>
              </a:ext>
            </a:extLst>
          </p:cNvPr>
          <p:cNvSpPr>
            <a:spLocks noGrp="1"/>
          </p:cNvSpPr>
          <p:nvPr/>
        </p:nvSpPr>
        <p:spPr>
          <a:xfrm>
            <a:off x="9436608" y="3218688"/>
            <a:ext cx="1728216" cy="1975104"/>
          </a:xfrm>
          <a:prstGeom prst="rect">
            <a:avLst/>
          </a:prstGeom>
          <a:noFill/>
        </p:spPr>
        <p:txBody>
          <a:bodyPr wrap="square" lIns="0" tIns="0" rIns="0" bIns="0" anchor="t">
            <a:spAutoFit/>
          </a:bodyPr>
          <a:lstStyle/>
          <a:p>
            <a:pPr algn="ctr">
              <a:spcBef>
                <a:spcPts val="0"/>
              </a:spcBef>
              <a:spcAft>
                <a:spcPts val="0"/>
              </a:spcAft>
              <a:buNone/>
              <a:defRPr sz="1050" b="0" i="0">
                <a:solidFill>
                  <a:srgbClr val="172A3A"/>
                </a:solidFill>
                <a:latin typeface="Aptos"/>
                <a:ea typeface="Aptos"/>
                <a:cs typeface="Aptos"/>
              </a:defRPr>
            </a:pPr>
            <a:r>
              <a:t>Backbones and evaluation setups differ.</a:t>
            </a:r>
            <a:br/>
            <a:br/>
            <a:r>
              <a:t>This is not a controlled head-to-head ranking.</a:t>
            </a:r>
          </a:p>
        </p:txBody>
      </p:sp>
    </p:spTree>
    <p:extLst>
      <p:ext uri="{BB962C8B-B14F-4D97-AF65-F5344CB8AC3E}">
        <p14:creationId xmlns:p14="http://schemas.microsoft.com/office/powerpoint/2010/main" val="1926027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49FB59-ACAF-40AB-91D4-2E60E0F11752}"/>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ANCHOR CASE STUDY</a:t>
            </a:r>
          </a:p>
        </p:txBody>
      </p:sp>
      <p:sp>
        <p:nvSpPr>
          <p:cNvPr id="3" name="TextBox 2">
            <a:extLst>
              <a:ext uri="{FF2B5EF4-FFF2-40B4-BE49-F238E27FC236}">
                <a16:creationId xmlns:a16="http://schemas.microsoft.com/office/drawing/2014/main" id="{704910C9-6BB2-4BAD-B190-98705511152D}"/>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SAMWISE couples language with SAM 2 memory</a:t>
            </a:r>
          </a:p>
        </p:txBody>
      </p:sp>
      <p:sp>
        <p:nvSpPr>
          <p:cNvPr id="4" name="Connector 3">
            <a:extLst>
              <a:ext uri="{FF2B5EF4-FFF2-40B4-BE49-F238E27FC236}">
                <a16:creationId xmlns:a16="http://schemas.microsoft.com/office/drawing/2014/main" id="{00DD501D-4A87-4F10-A931-5F6ACDEDBC81}"/>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5988430E-9593-421A-A3C1-823A3ECD7E73}"/>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5D3FFF53-4AE8-4F88-B274-174341ED6D2E}"/>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VI.</a:t>
            </a:r>
          </a:p>
        </p:txBody>
      </p:sp>
      <p:sp>
        <p:nvSpPr>
          <p:cNvPr id="8" name="Rounded Rectangle 7">
            <a:extLst>
              <a:ext uri="{FF2B5EF4-FFF2-40B4-BE49-F238E27FC236}">
                <a16:creationId xmlns:a16="http://schemas.microsoft.com/office/drawing/2014/main" id="{CF51A33D-30BE-4FE9-8B88-59AE394C36E0}"/>
              </a:ext>
            </a:extLst>
          </p:cNvPr>
          <p:cNvSpPr>
            <a:spLocks noGrp="1"/>
          </p:cNvSpPr>
          <p:nvPr/>
        </p:nvSpPr>
        <p:spPr>
          <a:xfrm>
            <a:off x="713232" y="1691640"/>
            <a:ext cx="7360920" cy="4343400"/>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875B9120-900D-4133-8B62-3F7F0E273A5A}"/>
              </a:ext>
            </a:extLst>
          </p:cNvPr>
          <p:cNvSpPr>
            <a:spLocks noGrp="1"/>
          </p:cNvSpPr>
          <p:nvPr/>
        </p:nvSpPr>
        <p:spPr>
          <a:xfrm>
            <a:off x="932688" y="1920240"/>
            <a:ext cx="1353312" cy="658368"/>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BE52D8AE-0340-4142-AA0A-E4687BC8FCBD}"/>
              </a:ext>
            </a:extLst>
          </p:cNvPr>
          <p:cNvSpPr>
            <a:spLocks noGrp="1"/>
          </p:cNvSpPr>
          <p:nvPr/>
        </p:nvSpPr>
        <p:spPr>
          <a:xfrm>
            <a:off x="1042415" y="2093976"/>
            <a:ext cx="1124712" cy="292608"/>
          </a:xfrm>
          <a:prstGeom prst="rect">
            <a:avLst/>
          </a:prstGeom>
          <a:noFill/>
        </p:spPr>
        <p:txBody>
          <a:bodyPr wrap="square" lIns="0" tIns="0" rIns="0" bIns="0" anchor="t">
            <a:spAutoFit/>
          </a:bodyPr>
          <a:lstStyle/>
          <a:p>
            <a:pPr algn="ctr">
              <a:spcBef>
                <a:spcPts val="0"/>
              </a:spcBef>
              <a:spcAft>
                <a:spcPts val="0"/>
              </a:spcAft>
              <a:buNone/>
              <a:defRPr sz="1200" b="1" i="0">
                <a:solidFill>
                  <a:srgbClr val="5A8DEE"/>
                </a:solidFill>
                <a:latin typeface="Aptos"/>
                <a:ea typeface="Aptos"/>
                <a:cs typeface="Aptos"/>
              </a:defRPr>
            </a:pPr>
            <a:r>
              <a:t>VIDEO</a:t>
            </a:r>
          </a:p>
        </p:txBody>
      </p:sp>
      <p:sp>
        <p:nvSpPr>
          <p:cNvPr id="11" name="Rounded Rectangle 10">
            <a:extLst>
              <a:ext uri="{FF2B5EF4-FFF2-40B4-BE49-F238E27FC236}">
                <a16:creationId xmlns:a16="http://schemas.microsoft.com/office/drawing/2014/main" id="{0BCB6728-1A85-4ECA-AEA9-4F68A23F199F}"/>
              </a:ext>
            </a:extLst>
          </p:cNvPr>
          <p:cNvSpPr>
            <a:spLocks noGrp="1"/>
          </p:cNvSpPr>
          <p:nvPr/>
        </p:nvSpPr>
        <p:spPr>
          <a:xfrm>
            <a:off x="932688" y="2807208"/>
            <a:ext cx="1353312" cy="658368"/>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3F1A612-B2AC-4A02-AADE-E6EC0AF661A5}"/>
              </a:ext>
            </a:extLst>
          </p:cNvPr>
          <p:cNvSpPr>
            <a:spLocks noGrp="1"/>
          </p:cNvSpPr>
          <p:nvPr/>
        </p:nvSpPr>
        <p:spPr>
          <a:xfrm>
            <a:off x="1033271" y="2971800"/>
            <a:ext cx="1152144" cy="292608"/>
          </a:xfrm>
          <a:prstGeom prst="rect">
            <a:avLst/>
          </a:prstGeom>
          <a:noFill/>
        </p:spPr>
        <p:txBody>
          <a:bodyPr wrap="square" lIns="0" tIns="0" rIns="0" bIns="0" anchor="t">
            <a:spAutoFit/>
          </a:bodyPr>
          <a:lstStyle/>
          <a:p>
            <a:pPr algn="ctr">
              <a:spcBef>
                <a:spcPts val="0"/>
              </a:spcBef>
              <a:spcAft>
                <a:spcPts val="0"/>
              </a:spcAft>
              <a:buNone/>
              <a:defRPr sz="1200" b="1" i="0">
                <a:solidFill>
                  <a:srgbClr val="F07167"/>
                </a:solidFill>
                <a:latin typeface="Aptos"/>
                <a:ea typeface="Aptos"/>
                <a:cs typeface="Aptos"/>
              </a:defRPr>
            </a:pPr>
            <a:r>
              <a:t>TEXT</a:t>
            </a:r>
          </a:p>
        </p:txBody>
      </p:sp>
      <p:sp>
        <p:nvSpPr>
          <p:cNvPr id="13" name="Right Arrow 12">
            <a:extLst>
              <a:ext uri="{FF2B5EF4-FFF2-40B4-BE49-F238E27FC236}">
                <a16:creationId xmlns:a16="http://schemas.microsoft.com/office/drawing/2014/main" id="{1A61D326-A099-4375-B8E9-9C5F6BAB0BE5}"/>
              </a:ext>
            </a:extLst>
          </p:cNvPr>
          <p:cNvSpPr>
            <a:spLocks noGrp="1"/>
          </p:cNvSpPr>
          <p:nvPr/>
        </p:nvSpPr>
        <p:spPr>
          <a:xfrm>
            <a:off x="2423160" y="2523744"/>
            <a:ext cx="411480"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ounded Rectangle 13">
            <a:extLst>
              <a:ext uri="{FF2B5EF4-FFF2-40B4-BE49-F238E27FC236}">
                <a16:creationId xmlns:a16="http://schemas.microsoft.com/office/drawing/2014/main" id="{366B0FFA-07E9-43E5-BDC7-F9E5A83121A3}"/>
              </a:ext>
            </a:extLst>
          </p:cNvPr>
          <p:cNvSpPr>
            <a:spLocks noGrp="1"/>
          </p:cNvSpPr>
          <p:nvPr/>
        </p:nvSpPr>
        <p:spPr>
          <a:xfrm>
            <a:off x="2926080" y="1929384"/>
            <a:ext cx="1947672" cy="1527048"/>
          </a:xfrm>
          <a:prstGeom prst="roundRect">
            <a:avLst>
              <a:gd name="adj" fmla="val 12000"/>
            </a:avLst>
          </a:prstGeom>
          <a:solidFill>
            <a:srgbClr val="E4F4F1"/>
          </a:solidFill>
          <a:ln w="12700">
            <a:solidFill>
              <a:srgbClr val="B9DFD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6172EA9-3D5D-494C-93C2-89475BF8DE2F}"/>
              </a:ext>
            </a:extLst>
          </p:cNvPr>
          <p:cNvSpPr>
            <a:spLocks noGrp="1"/>
          </p:cNvSpPr>
          <p:nvPr/>
        </p:nvSpPr>
        <p:spPr>
          <a:xfrm>
            <a:off x="3090672" y="2130552"/>
            <a:ext cx="1618488" cy="237744"/>
          </a:xfrm>
          <a:prstGeom prst="rect">
            <a:avLst/>
          </a:prstGeom>
          <a:noFill/>
        </p:spPr>
        <p:txBody>
          <a:bodyPr wrap="square" lIns="0" tIns="0" rIns="0" bIns="0" anchor="t">
            <a:spAutoFit/>
          </a:bodyPr>
          <a:lstStyle/>
          <a:p>
            <a:pPr algn="ctr">
              <a:spcBef>
                <a:spcPts val="0"/>
              </a:spcBef>
              <a:spcAft>
                <a:spcPts val="0"/>
              </a:spcAft>
              <a:buNone/>
              <a:defRPr sz="1100" b="1" i="0">
                <a:solidFill>
                  <a:srgbClr val="087E78"/>
                </a:solidFill>
                <a:latin typeface="Aptos"/>
                <a:ea typeface="Aptos"/>
                <a:cs typeface="Aptos"/>
              </a:defRPr>
            </a:pPr>
            <a:r>
              <a:t>CMT ADAPTERS</a:t>
            </a:r>
          </a:p>
        </p:txBody>
      </p:sp>
      <p:sp>
        <p:nvSpPr>
          <p:cNvPr id="16" name="TextBox 15">
            <a:extLst>
              <a:ext uri="{FF2B5EF4-FFF2-40B4-BE49-F238E27FC236}">
                <a16:creationId xmlns:a16="http://schemas.microsoft.com/office/drawing/2014/main" id="{95CCFC5E-34BB-4458-ACDC-353161A52314}"/>
              </a:ext>
            </a:extLst>
          </p:cNvPr>
          <p:cNvSpPr>
            <a:spLocks noGrp="1"/>
          </p:cNvSpPr>
          <p:nvPr/>
        </p:nvSpPr>
        <p:spPr>
          <a:xfrm>
            <a:off x="3099816" y="2496312"/>
            <a:ext cx="1600200" cy="640080"/>
          </a:xfrm>
          <a:prstGeom prst="rect">
            <a:avLst/>
          </a:prstGeom>
          <a:noFill/>
        </p:spPr>
        <p:txBody>
          <a:bodyPr wrap="square" lIns="0" tIns="0" rIns="0" bIns="0" anchor="t">
            <a:spAutoFit/>
          </a:bodyPr>
          <a:lstStyle/>
          <a:p>
            <a:pPr algn="ctr">
              <a:spcBef>
                <a:spcPts val="0"/>
              </a:spcBef>
              <a:spcAft>
                <a:spcPts val="0"/>
              </a:spcAft>
              <a:buNone/>
              <a:defRPr sz="1000" b="0" i="0">
                <a:solidFill>
                  <a:srgbClr val="172A3A"/>
                </a:solidFill>
                <a:latin typeface="Aptos"/>
                <a:ea typeface="Aptos"/>
                <a:cs typeface="Aptos"/>
              </a:defRPr>
            </a:pPr>
            <a:r>
              <a:t>Inject temporal</a:t>
            </a:r>
            <a:br/>
            <a:r>
              <a:t>and language cues</a:t>
            </a:r>
            <a:br/>
            <a:r>
              <a:t>into features</a:t>
            </a:r>
          </a:p>
        </p:txBody>
      </p:sp>
      <p:sp>
        <p:nvSpPr>
          <p:cNvPr id="17" name="Right Arrow 16">
            <a:extLst>
              <a:ext uri="{FF2B5EF4-FFF2-40B4-BE49-F238E27FC236}">
                <a16:creationId xmlns:a16="http://schemas.microsoft.com/office/drawing/2014/main" id="{6737D3D6-7F44-4FA5-80F9-9006618B0BC8}"/>
              </a:ext>
            </a:extLst>
          </p:cNvPr>
          <p:cNvSpPr>
            <a:spLocks noGrp="1"/>
          </p:cNvSpPr>
          <p:nvPr/>
        </p:nvSpPr>
        <p:spPr>
          <a:xfrm>
            <a:off x="5001768" y="2523744"/>
            <a:ext cx="384048" cy="246888"/>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ounded Rectangle 17">
            <a:extLst>
              <a:ext uri="{FF2B5EF4-FFF2-40B4-BE49-F238E27FC236}">
                <a16:creationId xmlns:a16="http://schemas.microsoft.com/office/drawing/2014/main" id="{2F7EB0A6-DB8B-495D-BCEA-D116F8B6AD47}"/>
              </a:ext>
            </a:extLst>
          </p:cNvPr>
          <p:cNvSpPr>
            <a:spLocks noGrp="1"/>
          </p:cNvSpPr>
          <p:nvPr/>
        </p:nvSpPr>
        <p:spPr>
          <a:xfrm>
            <a:off x="5504688" y="1929384"/>
            <a:ext cx="2084831" cy="1527048"/>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0234F8A-2ECF-4DBC-AF5B-5AB47C59DC97}"/>
              </a:ext>
            </a:extLst>
          </p:cNvPr>
          <p:cNvSpPr>
            <a:spLocks noGrp="1"/>
          </p:cNvSpPr>
          <p:nvPr/>
        </p:nvSpPr>
        <p:spPr>
          <a:xfrm>
            <a:off x="5678424" y="2139696"/>
            <a:ext cx="1737360" cy="219456"/>
          </a:xfrm>
          <a:prstGeom prst="rect">
            <a:avLst/>
          </a:prstGeom>
          <a:noFill/>
        </p:spPr>
        <p:txBody>
          <a:bodyPr wrap="square" lIns="0" tIns="0" rIns="0" bIns="0" anchor="t">
            <a:spAutoFit/>
          </a:bodyPr>
          <a:lstStyle/>
          <a:p>
            <a:pPr algn="ctr">
              <a:spcBef>
                <a:spcPts val="0"/>
              </a:spcBef>
              <a:spcAft>
                <a:spcPts val="0"/>
              </a:spcAft>
              <a:buNone/>
              <a:defRPr sz="1100" b="1" i="0">
                <a:solidFill>
                  <a:srgbClr val="65D5CC"/>
                </a:solidFill>
                <a:latin typeface="Aptos"/>
                <a:ea typeface="Aptos"/>
                <a:cs typeface="Aptos"/>
              </a:defRPr>
            </a:pPr>
            <a:r>
              <a:t>SAM 2 MEMORY</a:t>
            </a:r>
          </a:p>
        </p:txBody>
      </p:sp>
      <p:sp>
        <p:nvSpPr>
          <p:cNvPr id="20" name="Rounded Rectangle 19">
            <a:extLst>
              <a:ext uri="{FF2B5EF4-FFF2-40B4-BE49-F238E27FC236}">
                <a16:creationId xmlns:a16="http://schemas.microsoft.com/office/drawing/2014/main" id="{40065F12-3DAE-4869-AC1C-4B55316E1110}"/>
              </a:ext>
            </a:extLst>
          </p:cNvPr>
          <p:cNvSpPr>
            <a:spLocks noGrp="1"/>
          </p:cNvSpPr>
          <p:nvPr/>
        </p:nvSpPr>
        <p:spPr>
          <a:xfrm>
            <a:off x="5742432" y="2633472"/>
            <a:ext cx="237744" cy="429768"/>
          </a:xfrm>
          <a:prstGeom prst="roundRect">
            <a:avLst>
              <a:gd name="adj" fmla="val 12000"/>
            </a:avLst>
          </a:prstGeom>
          <a:solidFill>
            <a:srgbClr val="365C7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ounded Rectangle 20">
            <a:extLst>
              <a:ext uri="{FF2B5EF4-FFF2-40B4-BE49-F238E27FC236}">
                <a16:creationId xmlns:a16="http://schemas.microsoft.com/office/drawing/2014/main" id="{86E1B370-4503-427C-BE9B-69B789CE6495}"/>
              </a:ext>
            </a:extLst>
          </p:cNvPr>
          <p:cNvSpPr>
            <a:spLocks noGrp="1"/>
          </p:cNvSpPr>
          <p:nvPr/>
        </p:nvSpPr>
        <p:spPr>
          <a:xfrm>
            <a:off x="6108192" y="2633472"/>
            <a:ext cx="237744" cy="429768"/>
          </a:xfrm>
          <a:prstGeom prst="roundRect">
            <a:avLst>
              <a:gd name="adj" fmla="val 12000"/>
            </a:avLst>
          </a:prstGeom>
          <a:solidFill>
            <a:srgbClr val="44718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ounded Rectangle 21">
            <a:extLst>
              <a:ext uri="{FF2B5EF4-FFF2-40B4-BE49-F238E27FC236}">
                <a16:creationId xmlns:a16="http://schemas.microsoft.com/office/drawing/2014/main" id="{A11D2439-E9E0-482B-81EC-FF65BC27D480}"/>
              </a:ext>
            </a:extLst>
          </p:cNvPr>
          <p:cNvSpPr>
            <a:spLocks noGrp="1"/>
          </p:cNvSpPr>
          <p:nvPr/>
        </p:nvSpPr>
        <p:spPr>
          <a:xfrm>
            <a:off x="6473952" y="2633472"/>
            <a:ext cx="237744" cy="429768"/>
          </a:xfrm>
          <a:prstGeom prst="roundRect">
            <a:avLst>
              <a:gd name="adj" fmla="val 12000"/>
            </a:avLst>
          </a:prstGeom>
          <a:solidFill>
            <a:srgbClr val="5485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ounded Rectangle 22">
            <a:extLst>
              <a:ext uri="{FF2B5EF4-FFF2-40B4-BE49-F238E27FC236}">
                <a16:creationId xmlns:a16="http://schemas.microsoft.com/office/drawing/2014/main" id="{C369EEBA-95FE-474C-8696-6AD99002D84A}"/>
              </a:ext>
            </a:extLst>
          </p:cNvPr>
          <p:cNvSpPr>
            <a:spLocks noGrp="1"/>
          </p:cNvSpPr>
          <p:nvPr/>
        </p:nvSpPr>
        <p:spPr>
          <a:xfrm>
            <a:off x="6839712" y="2633472"/>
            <a:ext cx="237744" cy="429768"/>
          </a:xfrm>
          <a:prstGeom prst="roundRect">
            <a:avLst>
              <a:gd name="adj" fmla="val 12000"/>
            </a:avLst>
          </a:prstGeom>
          <a:solidFill>
            <a:srgbClr val="68A0B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9300C7FD-1AD9-49AE-9F2E-71E2E88C1F98}"/>
              </a:ext>
            </a:extLst>
          </p:cNvPr>
          <p:cNvSpPr>
            <a:spLocks noGrp="1"/>
          </p:cNvSpPr>
          <p:nvPr/>
        </p:nvSpPr>
        <p:spPr>
          <a:xfrm>
            <a:off x="5669280" y="3154680"/>
            <a:ext cx="1755648" cy="164592"/>
          </a:xfrm>
          <a:prstGeom prst="rect">
            <a:avLst/>
          </a:prstGeom>
          <a:noFill/>
        </p:spPr>
        <p:txBody>
          <a:bodyPr wrap="square" lIns="0" tIns="0" rIns="0" bIns="0" anchor="t">
            <a:spAutoFit/>
          </a:bodyPr>
          <a:lstStyle/>
          <a:p>
            <a:pPr algn="ctr">
              <a:spcBef>
                <a:spcPts val="0"/>
              </a:spcBef>
              <a:spcAft>
                <a:spcPts val="0"/>
              </a:spcAft>
              <a:buNone/>
              <a:defRPr sz="800" b="0" i="0">
                <a:solidFill>
                  <a:srgbClr val="B9C9D6"/>
                </a:solidFill>
                <a:latin typeface="Aptos"/>
                <a:ea typeface="Aptos"/>
                <a:cs typeface="Aptos"/>
              </a:defRPr>
            </a:pPr>
            <a:r>
              <a:t>past-frame evidence</a:t>
            </a:r>
          </a:p>
        </p:txBody>
      </p:sp>
      <p:sp>
        <p:nvSpPr>
          <p:cNvPr id="25" name="Connector 24">
            <a:extLst>
              <a:ext uri="{FF2B5EF4-FFF2-40B4-BE49-F238E27FC236}">
                <a16:creationId xmlns:a16="http://schemas.microsoft.com/office/drawing/2014/main" id="{33B9C9BF-C8F3-4DFB-9474-BE5FF4441A6E}"/>
              </a:ext>
            </a:extLst>
          </p:cNvPr>
          <p:cNvSpPr>
            <a:spLocks noGrp="1"/>
          </p:cNvSpPr>
          <p:nvPr/>
        </p:nvSpPr>
        <p:spPr>
          <a:xfrm>
            <a:off x="6537960" y="3529584"/>
            <a:ext cx="0" cy="438912"/>
          </a:xfrm>
          <a:prstGeom prst="line">
            <a:avLst/>
          </a:prstGeom>
          <a:ln w="19050">
            <a:solidFill>
              <a:srgbClr val="12A99A"/>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6" name="Rounded Rectangle 25">
            <a:extLst>
              <a:ext uri="{FF2B5EF4-FFF2-40B4-BE49-F238E27FC236}">
                <a16:creationId xmlns:a16="http://schemas.microsoft.com/office/drawing/2014/main" id="{C60FF924-351A-458E-938B-A961740BD5D9}"/>
              </a:ext>
            </a:extLst>
          </p:cNvPr>
          <p:cNvSpPr>
            <a:spLocks noGrp="1"/>
          </p:cNvSpPr>
          <p:nvPr/>
        </p:nvSpPr>
        <p:spPr>
          <a:xfrm>
            <a:off x="4910328" y="3986784"/>
            <a:ext cx="3255264" cy="1033271"/>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FE6C8EA3-15DF-4A92-848E-EF89E6F28293}"/>
              </a:ext>
            </a:extLst>
          </p:cNvPr>
          <p:cNvSpPr>
            <a:spLocks noGrp="1"/>
          </p:cNvSpPr>
          <p:nvPr/>
        </p:nvSpPr>
        <p:spPr>
          <a:xfrm>
            <a:off x="5129784" y="4169663"/>
            <a:ext cx="2816352" cy="228600"/>
          </a:xfrm>
          <a:prstGeom prst="rect">
            <a:avLst/>
          </a:prstGeom>
          <a:noFill/>
        </p:spPr>
        <p:txBody>
          <a:bodyPr wrap="square" lIns="0" tIns="0" rIns="0" bIns="0" anchor="t">
            <a:spAutoFit/>
          </a:bodyPr>
          <a:lstStyle/>
          <a:p>
            <a:pPr algn="ctr">
              <a:spcBef>
                <a:spcPts val="0"/>
              </a:spcBef>
              <a:spcAft>
                <a:spcPts val="0"/>
              </a:spcAft>
              <a:buNone/>
              <a:defRPr sz="1000" b="1" i="0">
                <a:solidFill>
                  <a:srgbClr val="A16F00"/>
                </a:solidFill>
                <a:latin typeface="Aptos"/>
                <a:ea typeface="Aptos"/>
                <a:cs typeface="Aptos"/>
              </a:defRPr>
            </a:pPr>
            <a:r>
              <a:t>CONDITIONAL MEMORY ENCODER</a:t>
            </a:r>
          </a:p>
        </p:txBody>
      </p:sp>
      <p:sp>
        <p:nvSpPr>
          <p:cNvPr id="28" name="TextBox 27">
            <a:extLst>
              <a:ext uri="{FF2B5EF4-FFF2-40B4-BE49-F238E27FC236}">
                <a16:creationId xmlns:a16="http://schemas.microsoft.com/office/drawing/2014/main" id="{CF2CFACF-2262-41B4-BCAC-42957A4711E6}"/>
              </a:ext>
            </a:extLst>
          </p:cNvPr>
          <p:cNvSpPr>
            <a:spLocks noGrp="1"/>
          </p:cNvSpPr>
          <p:nvPr/>
        </p:nvSpPr>
        <p:spPr>
          <a:xfrm>
            <a:off x="5111496" y="4489704"/>
            <a:ext cx="2852928" cy="347472"/>
          </a:xfrm>
          <a:prstGeom prst="rect">
            <a:avLst/>
          </a:prstGeom>
          <a:noFill/>
        </p:spPr>
        <p:txBody>
          <a:bodyPr wrap="square" lIns="0" tIns="0" rIns="0" bIns="0" anchor="t">
            <a:spAutoFit/>
          </a:bodyPr>
          <a:lstStyle/>
          <a:p>
            <a:pPr algn="ctr">
              <a:spcBef>
                <a:spcPts val="0"/>
              </a:spcBef>
              <a:spcAft>
                <a:spcPts val="0"/>
              </a:spcAft>
              <a:buNone/>
              <a:defRPr sz="950" b="0" i="0">
                <a:solidFill>
                  <a:srgbClr val="172A3A"/>
                </a:solidFill>
                <a:latin typeface="Aptos"/>
                <a:ea typeface="Aptos"/>
                <a:cs typeface="Aptos"/>
              </a:defRPr>
            </a:pPr>
            <a:r>
              <a:t>Compare memory evidence with the current frame and expression</a:t>
            </a:r>
          </a:p>
        </p:txBody>
      </p:sp>
      <p:sp>
        <p:nvSpPr>
          <p:cNvPr id="29" name="Right Arrow 28">
            <a:extLst>
              <a:ext uri="{FF2B5EF4-FFF2-40B4-BE49-F238E27FC236}">
                <a16:creationId xmlns:a16="http://schemas.microsoft.com/office/drawing/2014/main" id="{57CCC163-A3F7-446E-9AB8-F7A4ECC68619}"/>
              </a:ext>
            </a:extLst>
          </p:cNvPr>
          <p:cNvSpPr>
            <a:spLocks noGrp="1"/>
          </p:cNvSpPr>
          <p:nvPr/>
        </p:nvSpPr>
        <p:spPr>
          <a:xfrm>
            <a:off x="8183879" y="4306824"/>
            <a:ext cx="393192" cy="228600"/>
          </a:xfrm>
          <a:prstGeom prst="rightArrow">
            <a:avLst/>
          </a:prstGeom>
          <a:solidFill>
            <a:srgbClr val="12A99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ounded Rectangle 29">
            <a:extLst>
              <a:ext uri="{FF2B5EF4-FFF2-40B4-BE49-F238E27FC236}">
                <a16:creationId xmlns:a16="http://schemas.microsoft.com/office/drawing/2014/main" id="{65E03381-B7F8-4C3D-9470-22D8AC82F263}"/>
              </a:ext>
            </a:extLst>
          </p:cNvPr>
          <p:cNvSpPr>
            <a:spLocks noGrp="1"/>
          </p:cNvSpPr>
          <p:nvPr/>
        </p:nvSpPr>
        <p:spPr>
          <a:xfrm>
            <a:off x="8558784" y="3922776"/>
            <a:ext cx="941832" cy="978408"/>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5CBDE0-D411-4E6D-9500-62AEB54F2E42}"/>
              </a:ext>
            </a:extLst>
          </p:cNvPr>
          <p:cNvSpPr>
            <a:spLocks noGrp="1"/>
          </p:cNvSpPr>
          <p:nvPr/>
        </p:nvSpPr>
        <p:spPr>
          <a:xfrm>
            <a:off x="8668512" y="4087368"/>
            <a:ext cx="722376" cy="182880"/>
          </a:xfrm>
          <a:prstGeom prst="rect">
            <a:avLst/>
          </a:prstGeom>
          <a:noFill/>
        </p:spPr>
        <p:txBody>
          <a:bodyPr wrap="square" lIns="0" tIns="0" rIns="0" bIns="0" anchor="t">
            <a:spAutoFit/>
          </a:bodyPr>
          <a:lstStyle/>
          <a:p>
            <a:pPr algn="ctr">
              <a:spcBef>
                <a:spcPts val="0"/>
              </a:spcBef>
              <a:spcAft>
                <a:spcPts val="0"/>
              </a:spcAft>
              <a:buNone/>
              <a:defRPr sz="1000" b="1" i="0">
                <a:solidFill>
                  <a:srgbClr val="F07167"/>
                </a:solidFill>
                <a:latin typeface="Aptos"/>
                <a:ea typeface="Aptos"/>
                <a:cs typeface="Aptos"/>
              </a:defRPr>
            </a:pPr>
            <a:r>
              <a:t>MASK</a:t>
            </a:r>
          </a:p>
        </p:txBody>
      </p:sp>
      <p:sp>
        <p:nvSpPr>
          <p:cNvPr id="32" name="Rounded Rectangle 31">
            <a:extLst>
              <a:ext uri="{FF2B5EF4-FFF2-40B4-BE49-F238E27FC236}">
                <a16:creationId xmlns:a16="http://schemas.microsoft.com/office/drawing/2014/main" id="{025BC07B-EECA-4C5E-8F7A-0D686B6427DB}"/>
              </a:ext>
            </a:extLst>
          </p:cNvPr>
          <p:cNvSpPr>
            <a:spLocks noGrp="1"/>
          </p:cNvSpPr>
          <p:nvPr/>
        </p:nvSpPr>
        <p:spPr>
          <a:xfrm>
            <a:off x="8695944" y="4443984"/>
            <a:ext cx="155448" cy="256032"/>
          </a:xfrm>
          <a:prstGeom prst="roundRect">
            <a:avLst>
              <a:gd name="adj" fmla="val 12000"/>
            </a:avLst>
          </a:prstGeom>
          <a:solidFill>
            <a:srgbClr val="F6B7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ounded Rectangle 32">
            <a:extLst>
              <a:ext uri="{FF2B5EF4-FFF2-40B4-BE49-F238E27FC236}">
                <a16:creationId xmlns:a16="http://schemas.microsoft.com/office/drawing/2014/main" id="{DA152D89-2754-4E26-95C0-97C27E2920A9}"/>
              </a:ext>
            </a:extLst>
          </p:cNvPr>
          <p:cNvSpPr>
            <a:spLocks noGrp="1"/>
          </p:cNvSpPr>
          <p:nvPr/>
        </p:nvSpPr>
        <p:spPr>
          <a:xfrm>
            <a:off x="8906256" y="4443984"/>
            <a:ext cx="155448" cy="256032"/>
          </a:xfrm>
          <a:prstGeom prst="roundRect">
            <a:avLst>
              <a:gd name="adj" fmla="val 12000"/>
            </a:avLst>
          </a:prstGeom>
          <a:solidFill>
            <a:srgbClr val="F0716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ounded Rectangle 33">
            <a:extLst>
              <a:ext uri="{FF2B5EF4-FFF2-40B4-BE49-F238E27FC236}">
                <a16:creationId xmlns:a16="http://schemas.microsoft.com/office/drawing/2014/main" id="{B90DF842-D8D2-4B66-8D93-F37EC722EFE0}"/>
              </a:ext>
            </a:extLst>
          </p:cNvPr>
          <p:cNvSpPr>
            <a:spLocks noGrp="1"/>
          </p:cNvSpPr>
          <p:nvPr/>
        </p:nvSpPr>
        <p:spPr>
          <a:xfrm>
            <a:off x="9116568" y="4443984"/>
            <a:ext cx="155448" cy="256032"/>
          </a:xfrm>
          <a:prstGeom prst="roundRect">
            <a:avLst>
              <a:gd name="adj" fmla="val 12000"/>
            </a:avLst>
          </a:prstGeom>
          <a:solidFill>
            <a:srgbClr val="F6B7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ounded Rectangle 34">
            <a:extLst>
              <a:ext uri="{FF2B5EF4-FFF2-40B4-BE49-F238E27FC236}">
                <a16:creationId xmlns:a16="http://schemas.microsoft.com/office/drawing/2014/main" id="{F4E2D1AD-025D-4C8D-AA28-E00E3F4E9E84}"/>
              </a:ext>
            </a:extLst>
          </p:cNvPr>
          <p:cNvSpPr>
            <a:spLocks noGrp="1"/>
          </p:cNvSpPr>
          <p:nvPr/>
        </p:nvSpPr>
        <p:spPr>
          <a:xfrm>
            <a:off x="9601200" y="1691640"/>
            <a:ext cx="1901952" cy="4343400"/>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88D11311-9202-431A-ADC2-FCAD8F1D3E08}"/>
              </a:ext>
            </a:extLst>
          </p:cNvPr>
          <p:cNvSpPr>
            <a:spLocks noGrp="1"/>
          </p:cNvSpPr>
          <p:nvPr/>
        </p:nvSpPr>
        <p:spPr>
          <a:xfrm>
            <a:off x="9765792" y="1938528"/>
            <a:ext cx="1572768" cy="256032"/>
          </a:xfrm>
          <a:prstGeom prst="rect">
            <a:avLst/>
          </a:prstGeom>
          <a:noFill/>
        </p:spPr>
        <p:txBody>
          <a:bodyPr wrap="square" lIns="0" tIns="0" rIns="0" bIns="0" anchor="t">
            <a:spAutoFit/>
          </a:bodyPr>
          <a:lstStyle/>
          <a:p>
            <a:pPr algn="ctr">
              <a:spcBef>
                <a:spcPts val="0"/>
              </a:spcBef>
              <a:spcAft>
                <a:spcPts val="0"/>
              </a:spcAft>
              <a:buNone/>
              <a:defRPr sz="900" b="1" i="0">
                <a:solidFill>
                  <a:srgbClr val="65D5CC"/>
                </a:solidFill>
                <a:latin typeface="Aptos"/>
                <a:ea typeface="Aptos"/>
                <a:cs typeface="Aptos"/>
              </a:defRPr>
            </a:pPr>
            <a:r>
              <a:t>DESIGN</a:t>
            </a:r>
          </a:p>
        </p:txBody>
      </p:sp>
      <p:sp>
        <p:nvSpPr>
          <p:cNvPr id="37" name="TextBox 36">
            <a:extLst>
              <a:ext uri="{FF2B5EF4-FFF2-40B4-BE49-F238E27FC236}">
                <a16:creationId xmlns:a16="http://schemas.microsoft.com/office/drawing/2014/main" id="{163BAFE9-6500-458F-8A0D-6C48B7717181}"/>
              </a:ext>
            </a:extLst>
          </p:cNvPr>
          <p:cNvSpPr>
            <a:spLocks noGrp="1"/>
          </p:cNvSpPr>
          <p:nvPr/>
        </p:nvSpPr>
        <p:spPr>
          <a:xfrm>
            <a:off x="9765792" y="2331720"/>
            <a:ext cx="1572768" cy="594360"/>
          </a:xfrm>
          <a:prstGeom prst="rect">
            <a:avLst/>
          </a:prstGeom>
          <a:noFill/>
        </p:spPr>
        <p:txBody>
          <a:bodyPr wrap="square" lIns="0" tIns="0" rIns="0" bIns="0" anchor="t">
            <a:spAutoFit/>
          </a:bodyPr>
          <a:lstStyle/>
          <a:p>
            <a:pPr algn="ctr">
              <a:spcBef>
                <a:spcPts val="0"/>
              </a:spcBef>
              <a:spcAft>
                <a:spcPts val="0"/>
              </a:spcAft>
              <a:buNone/>
              <a:defRPr sz="1400" b="1" i="0">
                <a:solidFill>
                  <a:srgbClr val="FFFFFF"/>
                </a:solidFill>
                <a:latin typeface="Aptos"/>
                <a:ea typeface="Aptos"/>
                <a:cs typeface="Aptos"/>
              </a:defRPr>
            </a:pPr>
            <a:r>
              <a:t>Track, then re-check.</a:t>
            </a:r>
          </a:p>
        </p:txBody>
      </p:sp>
      <p:sp>
        <p:nvSpPr>
          <p:cNvPr id="38" name="Connector 37">
            <a:extLst>
              <a:ext uri="{FF2B5EF4-FFF2-40B4-BE49-F238E27FC236}">
                <a16:creationId xmlns:a16="http://schemas.microsoft.com/office/drawing/2014/main" id="{48662A86-54D7-4BCF-8B75-A180E3C11849}"/>
              </a:ext>
            </a:extLst>
          </p:cNvPr>
          <p:cNvSpPr>
            <a:spLocks noGrp="1"/>
          </p:cNvSpPr>
          <p:nvPr/>
        </p:nvSpPr>
        <p:spPr>
          <a:xfrm>
            <a:off x="9802368" y="3182112"/>
            <a:ext cx="1499616" cy="0"/>
          </a:xfrm>
          <a:prstGeom prst="line">
            <a:avLst/>
          </a:prstGeom>
          <a:ln w="12700">
            <a:solidFill>
              <a:srgbClr val="456077"/>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39" name="TextBox 38">
            <a:extLst>
              <a:ext uri="{FF2B5EF4-FFF2-40B4-BE49-F238E27FC236}">
                <a16:creationId xmlns:a16="http://schemas.microsoft.com/office/drawing/2014/main" id="{05EE319E-6D24-4C37-AFE7-666D7742A830}"/>
              </a:ext>
            </a:extLst>
          </p:cNvPr>
          <p:cNvSpPr>
            <a:spLocks noGrp="1"/>
          </p:cNvSpPr>
          <p:nvPr/>
        </p:nvSpPr>
        <p:spPr>
          <a:xfrm>
            <a:off x="9784080" y="3429000"/>
            <a:ext cx="1536192" cy="2084831"/>
          </a:xfrm>
          <a:prstGeom prst="rect">
            <a:avLst/>
          </a:prstGeom>
          <a:noFill/>
        </p:spPr>
        <p:txBody>
          <a:bodyPr wrap="square" lIns="0" tIns="0" rIns="0" bIns="0" anchor="t">
            <a:spAutoFit/>
          </a:bodyPr>
          <a:lstStyle/>
          <a:p>
            <a:pPr algn="l">
              <a:spcBef>
                <a:spcPts val="0"/>
              </a:spcBef>
              <a:spcAft>
                <a:spcPts val="0"/>
              </a:spcAft>
              <a:buNone/>
              <a:defRPr sz="950" b="0" i="0">
                <a:solidFill>
                  <a:srgbClr val="C5D3DD"/>
                </a:solidFill>
                <a:latin typeface="Aptos"/>
                <a:ea typeface="Aptos"/>
                <a:cs typeface="Aptos"/>
              </a:defRPr>
            </a:pPr>
            <a:r>
              <a:t>CMT links language with temporal features.</a:t>
            </a:r>
            <a:br/>
            <a:br/>
            <a:r>
              <a:t>CME checks current evidence against memory.</a:t>
            </a:r>
            <a:br/>
            <a:br/>
            <a:r>
              <a:t>&lt;5M added parameters (reported).</a:t>
            </a:r>
          </a:p>
        </p:txBody>
      </p:sp>
      <p:sp>
        <p:nvSpPr>
          <p:cNvPr id="40" name="TextBox 39">
            <a:extLst>
              <a:ext uri="{FF2B5EF4-FFF2-40B4-BE49-F238E27FC236}">
                <a16:creationId xmlns:a16="http://schemas.microsoft.com/office/drawing/2014/main" id="{3B35EEB9-F540-4418-8365-3FA5D7D3DD81}"/>
              </a:ext>
            </a:extLst>
          </p:cNvPr>
          <p:cNvSpPr>
            <a:spLocks noGrp="1"/>
          </p:cNvSpPr>
          <p:nvPr/>
        </p:nvSpPr>
        <p:spPr>
          <a:xfrm>
            <a:off x="786384" y="6172200"/>
            <a:ext cx="10561320" cy="182880"/>
          </a:xfrm>
          <a:prstGeom prst="rect">
            <a:avLst/>
          </a:prstGeom>
          <a:noFill/>
        </p:spPr>
        <p:txBody>
          <a:bodyPr wrap="square" lIns="0" tIns="0" rIns="0" bIns="0" anchor="t">
            <a:spAutoFit/>
          </a:bodyPr>
          <a:lstStyle/>
          <a:p>
            <a:pPr algn="ctr">
              <a:spcBef>
                <a:spcPts val="0"/>
              </a:spcBef>
              <a:spcAft>
                <a:spcPts val="0"/>
              </a:spcAft>
              <a:buNone/>
              <a:defRPr sz="1100" b="1" i="0">
                <a:solidFill>
                  <a:srgbClr val="087E78"/>
                </a:solidFill>
                <a:latin typeface="Aptos"/>
                <a:ea typeface="Aptos"/>
                <a:cs typeface="Aptos"/>
              </a:defRPr>
            </a:pPr>
            <a:r>
              <a:t>SAM 2 supplies the tracking memory; SAMWISE adds language-conditioned temporal correction.</a:t>
            </a:r>
          </a:p>
        </p:txBody>
      </p:sp>
    </p:spTree>
    <p:extLst>
      <p:ext uri="{BB962C8B-B14F-4D97-AF65-F5344CB8AC3E}">
        <p14:creationId xmlns:p14="http://schemas.microsoft.com/office/powerpoint/2010/main" val="49462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F790AE-C83E-448C-8F7A-1C7CB57B0151}"/>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SYNTHESIS</a:t>
            </a:r>
          </a:p>
        </p:txBody>
      </p:sp>
      <p:sp>
        <p:nvSpPr>
          <p:cNvPr id="3" name="TextBox 2">
            <a:extLst>
              <a:ext uri="{FF2B5EF4-FFF2-40B4-BE49-F238E27FC236}">
                <a16:creationId xmlns:a16="http://schemas.microsoft.com/office/drawing/2014/main" id="{8C4C05BF-8E15-4BE7-8D2A-7169B141C04C}"/>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Every design choice has a cost</a:t>
            </a:r>
          </a:p>
        </p:txBody>
      </p:sp>
      <p:sp>
        <p:nvSpPr>
          <p:cNvPr id="4" name="Connector 3">
            <a:extLst>
              <a:ext uri="{FF2B5EF4-FFF2-40B4-BE49-F238E27FC236}">
                <a16:creationId xmlns:a16="http://schemas.microsoft.com/office/drawing/2014/main" id="{95ED2FCC-0A17-4FFD-A620-2DEB8F1083F1}"/>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82FCBE3A-0620-43A3-8F96-4CE36DF92499}"/>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6B0D0A6B-5D07-479E-A878-C10F2C63413C}"/>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VII.</a:t>
            </a:r>
          </a:p>
        </p:txBody>
      </p:sp>
      <p:sp>
        <p:nvSpPr>
          <p:cNvPr id="8" name="TextBox 7">
            <a:extLst>
              <a:ext uri="{FF2B5EF4-FFF2-40B4-BE49-F238E27FC236}">
                <a16:creationId xmlns:a16="http://schemas.microsoft.com/office/drawing/2014/main" id="{AD756FB4-9A35-4C89-815C-626AFB84131F}"/>
              </a:ext>
            </a:extLst>
          </p:cNvPr>
          <p:cNvSpPr>
            <a:spLocks noGrp="1"/>
          </p:cNvSpPr>
          <p:nvPr/>
        </p:nvSpPr>
        <p:spPr>
          <a:xfrm>
            <a:off x="804672" y="1664208"/>
            <a:ext cx="1920240" cy="201168"/>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CHOICE</a:t>
            </a:r>
          </a:p>
        </p:txBody>
      </p:sp>
      <p:sp>
        <p:nvSpPr>
          <p:cNvPr id="9" name="TextBox 8">
            <a:extLst>
              <a:ext uri="{FF2B5EF4-FFF2-40B4-BE49-F238E27FC236}">
                <a16:creationId xmlns:a16="http://schemas.microsoft.com/office/drawing/2014/main" id="{595C83BB-0FFA-4454-B771-EF3CBC1CE490}"/>
              </a:ext>
            </a:extLst>
          </p:cNvPr>
          <p:cNvSpPr>
            <a:spLocks noGrp="1"/>
          </p:cNvSpPr>
          <p:nvPr/>
        </p:nvSpPr>
        <p:spPr>
          <a:xfrm>
            <a:off x="2999232" y="1664208"/>
            <a:ext cx="3246120" cy="201168"/>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WHAT IT BUYS</a:t>
            </a:r>
          </a:p>
        </p:txBody>
      </p:sp>
      <p:sp>
        <p:nvSpPr>
          <p:cNvPr id="10" name="TextBox 9">
            <a:extLst>
              <a:ext uri="{FF2B5EF4-FFF2-40B4-BE49-F238E27FC236}">
                <a16:creationId xmlns:a16="http://schemas.microsoft.com/office/drawing/2014/main" id="{80BD1D68-EE1F-4C7A-A5B6-32A16BF9B446}"/>
              </a:ext>
            </a:extLst>
          </p:cNvPr>
          <p:cNvSpPr>
            <a:spLocks noGrp="1"/>
          </p:cNvSpPr>
          <p:nvPr/>
        </p:nvSpPr>
        <p:spPr>
          <a:xfrm>
            <a:off x="6492240" y="1664208"/>
            <a:ext cx="2560320" cy="201168"/>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WHAT IT COSTS</a:t>
            </a:r>
          </a:p>
        </p:txBody>
      </p:sp>
      <p:sp>
        <p:nvSpPr>
          <p:cNvPr id="11" name="TextBox 10">
            <a:extLst>
              <a:ext uri="{FF2B5EF4-FFF2-40B4-BE49-F238E27FC236}">
                <a16:creationId xmlns:a16="http://schemas.microsoft.com/office/drawing/2014/main" id="{ACF44088-EEC9-4624-9CDC-8E665C914F40}"/>
              </a:ext>
            </a:extLst>
          </p:cNvPr>
          <p:cNvSpPr>
            <a:spLocks noGrp="1"/>
          </p:cNvSpPr>
          <p:nvPr/>
        </p:nvSpPr>
        <p:spPr>
          <a:xfrm>
            <a:off x="9262872" y="1664208"/>
            <a:ext cx="2103120" cy="201168"/>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GOOD FIT</a:t>
            </a:r>
          </a:p>
        </p:txBody>
      </p:sp>
      <p:sp>
        <p:nvSpPr>
          <p:cNvPr id="12" name="Rounded Rectangle 11">
            <a:extLst>
              <a:ext uri="{FF2B5EF4-FFF2-40B4-BE49-F238E27FC236}">
                <a16:creationId xmlns:a16="http://schemas.microsoft.com/office/drawing/2014/main" id="{B67F13BC-BBD7-4E92-90B4-4ECE14949479}"/>
              </a:ext>
            </a:extLst>
          </p:cNvPr>
          <p:cNvSpPr>
            <a:spLocks noGrp="1"/>
          </p:cNvSpPr>
          <p:nvPr/>
        </p:nvSpPr>
        <p:spPr>
          <a:xfrm>
            <a:off x="749808" y="2029968"/>
            <a:ext cx="10716768" cy="89611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3142625-A5CD-4848-B2E5-F6F2F1A4B705}"/>
              </a:ext>
            </a:extLst>
          </p:cNvPr>
          <p:cNvSpPr>
            <a:spLocks noGrp="1"/>
          </p:cNvSpPr>
          <p:nvPr/>
        </p:nvSpPr>
        <p:spPr>
          <a:xfrm>
            <a:off x="804672" y="2231136"/>
            <a:ext cx="1938528" cy="475488"/>
          </a:xfrm>
          <a:prstGeom prst="rect">
            <a:avLst/>
          </a:prstGeom>
          <a:noFill/>
        </p:spPr>
        <p:txBody>
          <a:bodyPr wrap="square" lIns="0" tIns="0" rIns="0" bIns="0" anchor="t">
            <a:spAutoFit/>
          </a:bodyPr>
          <a:lstStyle/>
          <a:p>
            <a:pPr algn="l">
              <a:spcBef>
                <a:spcPts val="0"/>
              </a:spcBef>
              <a:spcAft>
                <a:spcPts val="0"/>
              </a:spcAft>
              <a:buNone/>
              <a:defRPr sz="1300" b="1" i="0">
                <a:solidFill>
                  <a:srgbClr val="122438"/>
                </a:solidFill>
                <a:latin typeface="Aptos"/>
                <a:ea typeface="Aptos"/>
                <a:cs typeface="Aptos"/>
              </a:defRPr>
            </a:pPr>
            <a:r>
              <a:t>Offline ↔ online</a:t>
            </a:r>
          </a:p>
        </p:txBody>
      </p:sp>
      <p:sp>
        <p:nvSpPr>
          <p:cNvPr id="14" name="TextBox 13">
            <a:extLst>
              <a:ext uri="{FF2B5EF4-FFF2-40B4-BE49-F238E27FC236}">
                <a16:creationId xmlns:a16="http://schemas.microsoft.com/office/drawing/2014/main" id="{DE636E31-EB2B-48CA-B30D-066B93B9C754}"/>
              </a:ext>
            </a:extLst>
          </p:cNvPr>
          <p:cNvSpPr>
            <a:spLocks noGrp="1"/>
          </p:cNvSpPr>
          <p:nvPr/>
        </p:nvSpPr>
        <p:spPr>
          <a:xfrm>
            <a:off x="2999232" y="2194560"/>
            <a:ext cx="3154680" cy="548640"/>
          </a:xfrm>
          <a:prstGeom prst="rect">
            <a:avLst/>
          </a:prstGeom>
          <a:noFill/>
        </p:spPr>
        <p:txBody>
          <a:bodyPr wrap="square" lIns="0" tIns="0" rIns="0" bIns="0" anchor="t">
            <a:spAutoFit/>
          </a:bodyPr>
          <a:lstStyle/>
          <a:p>
            <a:pPr algn="l">
              <a:spcBef>
                <a:spcPts val="0"/>
              </a:spcBef>
              <a:spcAft>
                <a:spcPts val="0"/>
              </a:spcAft>
              <a:buNone/>
              <a:defRPr sz="1050" b="0" i="0">
                <a:solidFill>
                  <a:srgbClr val="172A3A"/>
                </a:solidFill>
                <a:latin typeface="Aptos"/>
                <a:ea typeface="Aptos"/>
                <a:cs typeface="Aptos"/>
              </a:defRPr>
            </a:pPr>
            <a:r>
              <a:t>Global context ↔ low-latency causal updates</a:t>
            </a:r>
          </a:p>
        </p:txBody>
      </p:sp>
      <p:sp>
        <p:nvSpPr>
          <p:cNvPr id="15" name="TextBox 14">
            <a:extLst>
              <a:ext uri="{FF2B5EF4-FFF2-40B4-BE49-F238E27FC236}">
                <a16:creationId xmlns:a16="http://schemas.microsoft.com/office/drawing/2014/main" id="{7C1F4DD2-3320-4D97-9A48-CA187BB8DF84}"/>
              </a:ext>
            </a:extLst>
          </p:cNvPr>
          <p:cNvSpPr>
            <a:spLocks noGrp="1"/>
          </p:cNvSpPr>
          <p:nvPr/>
        </p:nvSpPr>
        <p:spPr>
          <a:xfrm>
            <a:off x="6492240" y="2194560"/>
            <a:ext cx="2468880" cy="548640"/>
          </a:xfrm>
          <a:prstGeom prst="rect">
            <a:avLst/>
          </a:prstGeom>
          <a:noFill/>
        </p:spPr>
        <p:txBody>
          <a:bodyPr wrap="square" lIns="0" tIns="0" rIns="0" bIns="0" anchor="t">
            <a:spAutoFit/>
          </a:bodyPr>
          <a:lstStyle/>
          <a:p>
            <a:pPr algn="l">
              <a:spcBef>
                <a:spcPts val="0"/>
              </a:spcBef>
              <a:spcAft>
                <a:spcPts val="0"/>
              </a:spcAft>
              <a:buNone/>
              <a:defRPr sz="1050" b="0" i="0">
                <a:solidFill>
                  <a:srgbClr val="5E6D7B"/>
                </a:solidFill>
                <a:latin typeface="Aptos"/>
                <a:ea typeface="Aptos"/>
                <a:cs typeface="Aptos"/>
              </a:defRPr>
            </a:pPr>
            <a:r>
              <a:t>Future context ↔ error propagation</a:t>
            </a:r>
          </a:p>
        </p:txBody>
      </p:sp>
      <p:sp>
        <p:nvSpPr>
          <p:cNvPr id="16" name="TextBox 15">
            <a:extLst>
              <a:ext uri="{FF2B5EF4-FFF2-40B4-BE49-F238E27FC236}">
                <a16:creationId xmlns:a16="http://schemas.microsoft.com/office/drawing/2014/main" id="{D626C400-1699-4604-AC57-30A64F326841}"/>
              </a:ext>
            </a:extLst>
          </p:cNvPr>
          <p:cNvSpPr>
            <a:spLocks noGrp="1"/>
          </p:cNvSpPr>
          <p:nvPr/>
        </p:nvSpPr>
        <p:spPr>
          <a:xfrm>
            <a:off x="9262872" y="2194560"/>
            <a:ext cx="2048256" cy="548640"/>
          </a:xfrm>
          <a:prstGeom prst="rect">
            <a:avLst/>
          </a:prstGeom>
          <a:noFill/>
        </p:spPr>
        <p:txBody>
          <a:bodyPr wrap="square" lIns="0" tIns="0" rIns="0" bIns="0" anchor="t">
            <a:spAutoFit/>
          </a:bodyPr>
          <a:lstStyle/>
          <a:p>
            <a:pPr algn="l">
              <a:spcBef>
                <a:spcPts val="0"/>
              </a:spcBef>
              <a:spcAft>
                <a:spcPts val="0"/>
              </a:spcAft>
              <a:buNone/>
              <a:defRPr sz="1050" b="1" i="0">
                <a:solidFill>
                  <a:srgbClr val="087E78"/>
                </a:solidFill>
                <a:latin typeface="Aptos"/>
                <a:ea typeface="Aptos"/>
                <a:cs typeface="Aptos"/>
              </a:defRPr>
            </a:pPr>
            <a:r>
              <a:t>Batch clips ↔ live video</a:t>
            </a:r>
          </a:p>
        </p:txBody>
      </p:sp>
      <p:sp>
        <p:nvSpPr>
          <p:cNvPr id="17" name="Rounded Rectangle 16">
            <a:extLst>
              <a:ext uri="{FF2B5EF4-FFF2-40B4-BE49-F238E27FC236}">
                <a16:creationId xmlns:a16="http://schemas.microsoft.com/office/drawing/2014/main" id="{647FFBE8-C76B-4912-853B-9CACAC899A53}"/>
              </a:ext>
            </a:extLst>
          </p:cNvPr>
          <p:cNvSpPr>
            <a:spLocks noGrp="1"/>
          </p:cNvSpPr>
          <p:nvPr/>
        </p:nvSpPr>
        <p:spPr>
          <a:xfrm>
            <a:off x="749808" y="3136392"/>
            <a:ext cx="10716768" cy="89611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0343F4F-D646-4E67-BFF2-BC1374E15167}"/>
              </a:ext>
            </a:extLst>
          </p:cNvPr>
          <p:cNvSpPr>
            <a:spLocks noGrp="1"/>
          </p:cNvSpPr>
          <p:nvPr/>
        </p:nvSpPr>
        <p:spPr>
          <a:xfrm>
            <a:off x="804672" y="3337560"/>
            <a:ext cx="1938528" cy="475488"/>
          </a:xfrm>
          <a:prstGeom prst="rect">
            <a:avLst/>
          </a:prstGeom>
          <a:noFill/>
        </p:spPr>
        <p:txBody>
          <a:bodyPr wrap="square" lIns="0" tIns="0" rIns="0" bIns="0" anchor="t">
            <a:spAutoFit/>
          </a:bodyPr>
          <a:lstStyle/>
          <a:p>
            <a:pPr algn="l">
              <a:spcBef>
                <a:spcPts val="0"/>
              </a:spcBef>
              <a:spcAft>
                <a:spcPts val="0"/>
              </a:spcAft>
              <a:buNone/>
              <a:defRPr sz="1300" b="1" i="0">
                <a:solidFill>
                  <a:srgbClr val="122438"/>
                </a:solidFill>
                <a:latin typeface="Aptos"/>
                <a:ea typeface="Aptos"/>
                <a:cs typeface="Aptos"/>
              </a:defRPr>
            </a:pPr>
            <a:r>
              <a:t>Queries ↔ memory</a:t>
            </a:r>
          </a:p>
        </p:txBody>
      </p:sp>
      <p:sp>
        <p:nvSpPr>
          <p:cNvPr id="19" name="TextBox 18">
            <a:extLst>
              <a:ext uri="{FF2B5EF4-FFF2-40B4-BE49-F238E27FC236}">
                <a16:creationId xmlns:a16="http://schemas.microsoft.com/office/drawing/2014/main" id="{0CA9F756-03CB-443E-8A63-A291B94DF903}"/>
              </a:ext>
            </a:extLst>
          </p:cNvPr>
          <p:cNvSpPr>
            <a:spLocks noGrp="1"/>
          </p:cNvSpPr>
          <p:nvPr/>
        </p:nvSpPr>
        <p:spPr>
          <a:xfrm>
            <a:off x="2999232" y="3300984"/>
            <a:ext cx="3154680" cy="548640"/>
          </a:xfrm>
          <a:prstGeom prst="rect">
            <a:avLst/>
          </a:prstGeom>
          <a:noFill/>
        </p:spPr>
        <p:txBody>
          <a:bodyPr wrap="square" lIns="0" tIns="0" rIns="0" bIns="0" anchor="t">
            <a:spAutoFit/>
          </a:bodyPr>
          <a:lstStyle/>
          <a:p>
            <a:pPr algn="l">
              <a:spcBef>
                <a:spcPts val="0"/>
              </a:spcBef>
              <a:spcAft>
                <a:spcPts val="0"/>
              </a:spcAft>
              <a:buNone/>
              <a:defRPr sz="1050" b="0" i="0">
                <a:solidFill>
                  <a:srgbClr val="172A3A"/>
                </a:solidFill>
                <a:latin typeface="Aptos"/>
                <a:ea typeface="Aptos"/>
                <a:cs typeface="Aptos"/>
              </a:defRPr>
            </a:pPr>
            <a:r>
              <a:t>Compact state ↔ richer history through occlusion</a:t>
            </a:r>
          </a:p>
        </p:txBody>
      </p:sp>
      <p:sp>
        <p:nvSpPr>
          <p:cNvPr id="20" name="TextBox 19">
            <a:extLst>
              <a:ext uri="{FF2B5EF4-FFF2-40B4-BE49-F238E27FC236}">
                <a16:creationId xmlns:a16="http://schemas.microsoft.com/office/drawing/2014/main" id="{4CEB3681-AC19-4D62-B919-DBAEA6A7F2A1}"/>
              </a:ext>
            </a:extLst>
          </p:cNvPr>
          <p:cNvSpPr>
            <a:spLocks noGrp="1"/>
          </p:cNvSpPr>
          <p:nvPr/>
        </p:nvSpPr>
        <p:spPr>
          <a:xfrm>
            <a:off x="6492240" y="3300984"/>
            <a:ext cx="2468880" cy="548640"/>
          </a:xfrm>
          <a:prstGeom prst="rect">
            <a:avLst/>
          </a:prstGeom>
          <a:noFill/>
        </p:spPr>
        <p:txBody>
          <a:bodyPr wrap="square" lIns="0" tIns="0" rIns="0" bIns="0" anchor="t">
            <a:spAutoFit/>
          </a:bodyPr>
          <a:lstStyle/>
          <a:p>
            <a:pPr algn="l">
              <a:spcBef>
                <a:spcPts val="0"/>
              </a:spcBef>
              <a:spcAft>
                <a:spcPts val="0"/>
              </a:spcAft>
              <a:buNone/>
              <a:defRPr sz="1050" b="0" i="0">
                <a:solidFill>
                  <a:srgbClr val="5E6D7B"/>
                </a:solidFill>
                <a:latin typeface="Aptos"/>
                <a:ea typeface="Aptos"/>
                <a:cs typeface="Aptos"/>
              </a:defRPr>
            </a:pPr>
            <a:r>
              <a:t>Less context ↔ storage and stale matches</a:t>
            </a:r>
          </a:p>
        </p:txBody>
      </p:sp>
      <p:sp>
        <p:nvSpPr>
          <p:cNvPr id="21" name="TextBox 20">
            <a:extLst>
              <a:ext uri="{FF2B5EF4-FFF2-40B4-BE49-F238E27FC236}">
                <a16:creationId xmlns:a16="http://schemas.microsoft.com/office/drawing/2014/main" id="{1B4953C2-82E2-430A-9F0C-529C4ED80582}"/>
              </a:ext>
            </a:extLst>
          </p:cNvPr>
          <p:cNvSpPr>
            <a:spLocks noGrp="1"/>
          </p:cNvSpPr>
          <p:nvPr/>
        </p:nvSpPr>
        <p:spPr>
          <a:xfrm>
            <a:off x="9262872" y="3300984"/>
            <a:ext cx="2048256" cy="548640"/>
          </a:xfrm>
          <a:prstGeom prst="rect">
            <a:avLst/>
          </a:prstGeom>
          <a:noFill/>
        </p:spPr>
        <p:txBody>
          <a:bodyPr wrap="square" lIns="0" tIns="0" rIns="0" bIns="0" anchor="t">
            <a:spAutoFit/>
          </a:bodyPr>
          <a:lstStyle/>
          <a:p>
            <a:pPr algn="l">
              <a:spcBef>
                <a:spcPts val="0"/>
              </a:spcBef>
              <a:spcAft>
                <a:spcPts val="0"/>
              </a:spcAft>
              <a:buNone/>
              <a:defRPr sz="1050" b="1" i="0">
                <a:solidFill>
                  <a:srgbClr val="087E78"/>
                </a:solidFill>
                <a:latin typeface="Aptos"/>
                <a:ea typeface="Aptos"/>
                <a:cs typeface="Aptos"/>
              </a:defRPr>
            </a:pPr>
            <a:r>
              <a:t>Efficiency ↔ long gaps</a:t>
            </a:r>
          </a:p>
        </p:txBody>
      </p:sp>
      <p:sp>
        <p:nvSpPr>
          <p:cNvPr id="22" name="Rounded Rectangle 21">
            <a:extLst>
              <a:ext uri="{FF2B5EF4-FFF2-40B4-BE49-F238E27FC236}">
                <a16:creationId xmlns:a16="http://schemas.microsoft.com/office/drawing/2014/main" id="{8CEA027F-A538-4E8B-8312-9C1402DB2F58}"/>
              </a:ext>
            </a:extLst>
          </p:cNvPr>
          <p:cNvSpPr>
            <a:spLocks noGrp="1"/>
          </p:cNvSpPr>
          <p:nvPr/>
        </p:nvSpPr>
        <p:spPr>
          <a:xfrm>
            <a:off x="749808" y="4242816"/>
            <a:ext cx="10716768" cy="89611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9F2E9933-0A08-4C43-AF1E-AC0367D6884A}"/>
              </a:ext>
            </a:extLst>
          </p:cNvPr>
          <p:cNvSpPr>
            <a:spLocks noGrp="1"/>
          </p:cNvSpPr>
          <p:nvPr/>
        </p:nvSpPr>
        <p:spPr>
          <a:xfrm>
            <a:off x="804672" y="4443984"/>
            <a:ext cx="1938528" cy="475488"/>
          </a:xfrm>
          <a:prstGeom prst="rect">
            <a:avLst/>
          </a:prstGeom>
          <a:noFill/>
        </p:spPr>
        <p:txBody>
          <a:bodyPr wrap="square" lIns="0" tIns="0" rIns="0" bIns="0" anchor="t">
            <a:spAutoFit/>
          </a:bodyPr>
          <a:lstStyle/>
          <a:p>
            <a:pPr algn="l">
              <a:spcBef>
                <a:spcPts val="0"/>
              </a:spcBef>
              <a:spcAft>
                <a:spcPts val="0"/>
              </a:spcAft>
              <a:buNone/>
              <a:defRPr sz="1300" b="1" i="0">
                <a:solidFill>
                  <a:srgbClr val="122438"/>
                </a:solidFill>
                <a:latin typeface="Aptos"/>
                <a:ea typeface="Aptos"/>
                <a:cs typeface="Aptos"/>
              </a:defRPr>
            </a:pPr>
            <a:r>
              <a:t>Foundation ↔ MLLM</a:t>
            </a:r>
          </a:p>
        </p:txBody>
      </p:sp>
      <p:sp>
        <p:nvSpPr>
          <p:cNvPr id="24" name="TextBox 23">
            <a:extLst>
              <a:ext uri="{FF2B5EF4-FFF2-40B4-BE49-F238E27FC236}">
                <a16:creationId xmlns:a16="http://schemas.microsoft.com/office/drawing/2014/main" id="{2C32982C-6DB9-4962-9994-6A83580ED7F0}"/>
              </a:ext>
            </a:extLst>
          </p:cNvPr>
          <p:cNvSpPr>
            <a:spLocks noGrp="1"/>
          </p:cNvSpPr>
          <p:nvPr/>
        </p:nvSpPr>
        <p:spPr>
          <a:xfrm>
            <a:off x="2999232" y="4407408"/>
            <a:ext cx="3154680" cy="548640"/>
          </a:xfrm>
          <a:prstGeom prst="rect">
            <a:avLst/>
          </a:prstGeom>
          <a:noFill/>
        </p:spPr>
        <p:txBody>
          <a:bodyPr wrap="square" lIns="0" tIns="0" rIns="0" bIns="0" anchor="t">
            <a:spAutoFit/>
          </a:bodyPr>
          <a:lstStyle/>
          <a:p>
            <a:pPr algn="l">
              <a:spcBef>
                <a:spcPts val="0"/>
              </a:spcBef>
              <a:spcAft>
                <a:spcPts val="0"/>
              </a:spcAft>
              <a:buNone/>
              <a:defRPr sz="1050" b="0" i="0">
                <a:solidFill>
                  <a:srgbClr val="172A3A"/>
                </a:solidFill>
                <a:latin typeface="Aptos"/>
                <a:ea typeface="Aptos"/>
                <a:cs typeface="Aptos"/>
              </a:defRPr>
            </a:pPr>
            <a:r>
              <a:t>Strong segmentation priors ↔ implicit semantics</a:t>
            </a:r>
          </a:p>
        </p:txBody>
      </p:sp>
      <p:sp>
        <p:nvSpPr>
          <p:cNvPr id="25" name="TextBox 24">
            <a:extLst>
              <a:ext uri="{FF2B5EF4-FFF2-40B4-BE49-F238E27FC236}">
                <a16:creationId xmlns:a16="http://schemas.microsoft.com/office/drawing/2014/main" id="{25777EDC-4748-4BFD-BA40-F3394DCEBF72}"/>
              </a:ext>
            </a:extLst>
          </p:cNvPr>
          <p:cNvSpPr>
            <a:spLocks noGrp="1"/>
          </p:cNvSpPr>
          <p:nvPr/>
        </p:nvSpPr>
        <p:spPr>
          <a:xfrm>
            <a:off x="6492240" y="4407408"/>
            <a:ext cx="2468880" cy="548640"/>
          </a:xfrm>
          <a:prstGeom prst="rect">
            <a:avLst/>
          </a:prstGeom>
          <a:noFill/>
        </p:spPr>
        <p:txBody>
          <a:bodyPr wrap="square" lIns="0" tIns="0" rIns="0" bIns="0" anchor="t">
            <a:spAutoFit/>
          </a:bodyPr>
          <a:lstStyle/>
          <a:p>
            <a:pPr algn="l">
              <a:spcBef>
                <a:spcPts val="0"/>
              </a:spcBef>
              <a:spcAft>
                <a:spcPts val="0"/>
              </a:spcAft>
              <a:buNone/>
              <a:defRPr sz="1050" b="0" i="0">
                <a:solidFill>
                  <a:srgbClr val="5E6D7B"/>
                </a:solidFill>
                <a:latin typeface="Aptos"/>
                <a:ea typeface="Aptos"/>
                <a:cs typeface="Aptos"/>
              </a:defRPr>
            </a:pPr>
            <a:r>
              <a:t>Adaptation limits ↔ high inference cost</a:t>
            </a:r>
          </a:p>
        </p:txBody>
      </p:sp>
      <p:sp>
        <p:nvSpPr>
          <p:cNvPr id="26" name="TextBox 25">
            <a:extLst>
              <a:ext uri="{FF2B5EF4-FFF2-40B4-BE49-F238E27FC236}">
                <a16:creationId xmlns:a16="http://schemas.microsoft.com/office/drawing/2014/main" id="{9E27A11D-88DB-4493-803D-5FD8DC3B01AC}"/>
              </a:ext>
            </a:extLst>
          </p:cNvPr>
          <p:cNvSpPr>
            <a:spLocks noGrp="1"/>
          </p:cNvSpPr>
          <p:nvPr/>
        </p:nvSpPr>
        <p:spPr>
          <a:xfrm>
            <a:off x="9262872" y="4407408"/>
            <a:ext cx="2048256" cy="548640"/>
          </a:xfrm>
          <a:prstGeom prst="rect">
            <a:avLst/>
          </a:prstGeom>
          <a:noFill/>
        </p:spPr>
        <p:txBody>
          <a:bodyPr wrap="square" lIns="0" tIns="0" rIns="0" bIns="0" anchor="t">
            <a:spAutoFit/>
          </a:bodyPr>
          <a:lstStyle/>
          <a:p>
            <a:pPr algn="l">
              <a:spcBef>
                <a:spcPts val="0"/>
              </a:spcBef>
              <a:spcAft>
                <a:spcPts val="0"/>
              </a:spcAft>
              <a:buNone/>
              <a:defRPr sz="1050" b="1" i="0">
                <a:solidFill>
                  <a:srgbClr val="087E78"/>
                </a:solidFill>
                <a:latin typeface="Aptos"/>
                <a:ea typeface="Aptos"/>
                <a:cs typeface="Aptos"/>
              </a:defRPr>
            </a:pPr>
            <a:r>
              <a:t>Mask quality ↔ reasoning</a:t>
            </a:r>
          </a:p>
        </p:txBody>
      </p:sp>
      <p:sp>
        <p:nvSpPr>
          <p:cNvPr id="27" name="Rounded Rectangle 26">
            <a:extLst>
              <a:ext uri="{FF2B5EF4-FFF2-40B4-BE49-F238E27FC236}">
                <a16:creationId xmlns:a16="http://schemas.microsoft.com/office/drawing/2014/main" id="{EBABD97C-273E-4DEF-B753-B2DB0A92B371}"/>
              </a:ext>
            </a:extLst>
          </p:cNvPr>
          <p:cNvSpPr>
            <a:spLocks noGrp="1"/>
          </p:cNvSpPr>
          <p:nvPr/>
        </p:nvSpPr>
        <p:spPr>
          <a:xfrm>
            <a:off x="786384" y="5568696"/>
            <a:ext cx="10625328" cy="54864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2DB6FF6D-DB72-47A0-8D71-FFFF8E51953A}"/>
              </a:ext>
            </a:extLst>
          </p:cNvPr>
          <p:cNvSpPr>
            <a:spLocks noGrp="1"/>
          </p:cNvSpPr>
          <p:nvPr/>
        </p:nvSpPr>
        <p:spPr>
          <a:xfrm>
            <a:off x="960120" y="5687568"/>
            <a:ext cx="10277856" cy="274320"/>
          </a:xfrm>
          <a:prstGeom prst="rect">
            <a:avLst/>
          </a:prstGeom>
          <a:noFill/>
        </p:spPr>
        <p:txBody>
          <a:bodyPr wrap="square" lIns="0" tIns="0" rIns="0" bIns="0" anchor="t">
            <a:spAutoFit/>
          </a:bodyPr>
          <a:lstStyle/>
          <a:p>
            <a:pPr algn="ctr">
              <a:spcBef>
                <a:spcPts val="0"/>
              </a:spcBef>
              <a:spcAft>
                <a:spcPts val="0"/>
              </a:spcAft>
              <a:buNone/>
              <a:defRPr sz="1300" b="1" i="0">
                <a:solidFill>
                  <a:srgbClr val="122438"/>
                </a:solidFill>
                <a:latin typeface="Aptos"/>
                <a:ea typeface="Aptos"/>
                <a:cs typeface="Aptos"/>
              </a:defRPr>
            </a:pPr>
            <a:r>
              <a:t>No single mechanism is best everywhere; choose for the query, video horizon, and deployment budget.</a:t>
            </a:r>
          </a:p>
        </p:txBody>
      </p:sp>
    </p:spTree>
    <p:extLst>
      <p:ext uri="{BB962C8B-B14F-4D97-AF65-F5344CB8AC3E}">
        <p14:creationId xmlns:p14="http://schemas.microsoft.com/office/powerpoint/2010/main" val="125639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AFD556-0502-42F1-8C26-3E46E070C683}"/>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OPEN PROBLEMS</a:t>
            </a:r>
          </a:p>
        </p:txBody>
      </p:sp>
      <p:sp>
        <p:nvSpPr>
          <p:cNvPr id="3" name="TextBox 2">
            <a:extLst>
              <a:ext uri="{FF2B5EF4-FFF2-40B4-BE49-F238E27FC236}">
                <a16:creationId xmlns:a16="http://schemas.microsoft.com/office/drawing/2014/main" id="{CB245ADE-4011-4946-B011-8E5E7C68D7FC}"/>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Four gaps define the next step</a:t>
            </a:r>
          </a:p>
        </p:txBody>
      </p:sp>
      <p:sp>
        <p:nvSpPr>
          <p:cNvPr id="4" name="Connector 3">
            <a:extLst>
              <a:ext uri="{FF2B5EF4-FFF2-40B4-BE49-F238E27FC236}">
                <a16:creationId xmlns:a16="http://schemas.microsoft.com/office/drawing/2014/main" id="{D292E122-DA18-4D1D-96AC-407AE560BA70}"/>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C10BAC4B-4F47-4881-98B2-4380373D1284}"/>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9143E423-9A29-49CE-8FFB-1EC665521CD9}"/>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Section IX.</a:t>
            </a:r>
          </a:p>
        </p:txBody>
      </p:sp>
      <p:sp>
        <p:nvSpPr>
          <p:cNvPr id="8" name="Rounded Rectangle 7">
            <a:extLst>
              <a:ext uri="{FF2B5EF4-FFF2-40B4-BE49-F238E27FC236}">
                <a16:creationId xmlns:a16="http://schemas.microsoft.com/office/drawing/2014/main" id="{BA885B9D-86EC-473E-BF8F-BCB268DF61EF}"/>
              </a:ext>
            </a:extLst>
          </p:cNvPr>
          <p:cNvSpPr>
            <a:spLocks noGrp="1"/>
          </p:cNvSpPr>
          <p:nvPr/>
        </p:nvSpPr>
        <p:spPr>
          <a:xfrm>
            <a:off x="749808" y="1764792"/>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26074290-0B58-4F68-8E6A-5382B7479379}"/>
              </a:ext>
            </a:extLst>
          </p:cNvPr>
          <p:cNvSpPr>
            <a:spLocks noGrp="1"/>
          </p:cNvSpPr>
          <p:nvPr/>
        </p:nvSpPr>
        <p:spPr>
          <a:xfrm>
            <a:off x="950976" y="1947672"/>
            <a:ext cx="2542032" cy="274320"/>
          </a:xfrm>
          <a:prstGeom prst="roundRect">
            <a:avLst>
              <a:gd name="adj" fmla="val 12000"/>
            </a:avLst>
          </a:prstGeom>
          <a:solidFill>
            <a:srgbClr val="EAF0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099F887-A979-4701-9D4A-A07624E9C122}"/>
              </a:ext>
            </a:extLst>
          </p:cNvPr>
          <p:cNvSpPr>
            <a:spLocks noGrp="1"/>
          </p:cNvSpPr>
          <p:nvPr/>
        </p:nvSpPr>
        <p:spPr>
          <a:xfrm>
            <a:off x="1024128" y="1970531"/>
            <a:ext cx="2395727" cy="210312"/>
          </a:xfrm>
          <a:prstGeom prst="rect">
            <a:avLst/>
          </a:prstGeom>
          <a:noFill/>
        </p:spPr>
        <p:txBody>
          <a:bodyPr wrap="square" lIns="0" tIns="0" rIns="0" bIns="0" anchor="ctr">
            <a:spAutoFit/>
          </a:bodyPr>
          <a:lstStyle/>
          <a:p>
            <a:pPr algn="ctr">
              <a:spcBef>
                <a:spcPts val="0"/>
              </a:spcBef>
              <a:spcAft>
                <a:spcPts val="0"/>
              </a:spcAft>
              <a:buNone/>
              <a:defRPr sz="760" b="1" i="0">
                <a:solidFill>
                  <a:srgbClr val="5A8DEE"/>
                </a:solidFill>
                <a:latin typeface="Aptos"/>
                <a:ea typeface="Aptos"/>
                <a:cs typeface="Aptos"/>
              </a:defRPr>
            </a:pPr>
            <a:r>
              <a:t>OPEN-WORLD PROMPTS</a:t>
            </a:r>
          </a:p>
        </p:txBody>
      </p:sp>
      <p:sp>
        <p:nvSpPr>
          <p:cNvPr id="11" name="TextBox 10">
            <a:extLst>
              <a:ext uri="{FF2B5EF4-FFF2-40B4-BE49-F238E27FC236}">
                <a16:creationId xmlns:a16="http://schemas.microsoft.com/office/drawing/2014/main" id="{186DC241-296F-4105-B791-D5F402E7D18C}"/>
              </a:ext>
            </a:extLst>
          </p:cNvPr>
          <p:cNvSpPr>
            <a:spLocks noGrp="1"/>
          </p:cNvSpPr>
          <p:nvPr/>
        </p:nvSpPr>
        <p:spPr>
          <a:xfrm>
            <a:off x="960120" y="2432304"/>
            <a:ext cx="4773168" cy="704088"/>
          </a:xfrm>
          <a:prstGeom prst="rect">
            <a:avLst/>
          </a:prstGeom>
          <a:noFill/>
        </p:spPr>
        <p:txBody>
          <a:bodyPr wrap="square" lIns="0" tIns="0" rIns="0" bIns="0" anchor="t">
            <a:spAutoFit/>
          </a:bodyPr>
          <a:lstStyle/>
          <a:p>
            <a:pPr algn="l">
              <a:spcBef>
                <a:spcPts val="0"/>
              </a:spcBef>
              <a:spcAft>
                <a:spcPts val="0"/>
              </a:spcAft>
              <a:buNone/>
              <a:defRPr sz="1400" b="0" i="0">
                <a:solidFill>
                  <a:srgbClr val="172A3A"/>
                </a:solidFill>
                <a:latin typeface="Aptos"/>
                <a:ea typeface="Aptos"/>
                <a:cs typeface="Aptos"/>
              </a:defRPr>
            </a:pPr>
            <a:r>
              <a:t>Combine language with points, boxes, audio, and unseen categories.</a:t>
            </a:r>
          </a:p>
        </p:txBody>
      </p:sp>
      <p:sp>
        <p:nvSpPr>
          <p:cNvPr id="12" name="Rounded Rectangle 11">
            <a:extLst>
              <a:ext uri="{FF2B5EF4-FFF2-40B4-BE49-F238E27FC236}">
                <a16:creationId xmlns:a16="http://schemas.microsoft.com/office/drawing/2014/main" id="{6477C33B-DF01-49F4-B5B3-7ED3237FCF79}"/>
              </a:ext>
            </a:extLst>
          </p:cNvPr>
          <p:cNvSpPr>
            <a:spLocks noGrp="1"/>
          </p:cNvSpPr>
          <p:nvPr/>
        </p:nvSpPr>
        <p:spPr>
          <a:xfrm>
            <a:off x="6236208" y="1764792"/>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ounded Rectangle 12">
            <a:extLst>
              <a:ext uri="{FF2B5EF4-FFF2-40B4-BE49-F238E27FC236}">
                <a16:creationId xmlns:a16="http://schemas.microsoft.com/office/drawing/2014/main" id="{E81AA009-B050-4DC6-98B1-750FC32170DF}"/>
              </a:ext>
            </a:extLst>
          </p:cNvPr>
          <p:cNvSpPr>
            <a:spLocks noGrp="1"/>
          </p:cNvSpPr>
          <p:nvPr/>
        </p:nvSpPr>
        <p:spPr>
          <a:xfrm>
            <a:off x="6437376" y="1947672"/>
            <a:ext cx="2542032" cy="274320"/>
          </a:xfrm>
          <a:prstGeom prst="roundRect">
            <a:avLst>
              <a:gd name="adj" fmla="val 12000"/>
            </a:avLst>
          </a:prstGeom>
          <a:solidFill>
            <a:srgbClr val="FFF4D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46AE32E-2147-40DB-939E-F75079A4BD3C}"/>
              </a:ext>
            </a:extLst>
          </p:cNvPr>
          <p:cNvSpPr>
            <a:spLocks noGrp="1"/>
          </p:cNvSpPr>
          <p:nvPr/>
        </p:nvSpPr>
        <p:spPr>
          <a:xfrm>
            <a:off x="6510528" y="1970531"/>
            <a:ext cx="2395727" cy="210312"/>
          </a:xfrm>
          <a:prstGeom prst="rect">
            <a:avLst/>
          </a:prstGeom>
          <a:noFill/>
        </p:spPr>
        <p:txBody>
          <a:bodyPr wrap="square" lIns="0" tIns="0" rIns="0" bIns="0" anchor="ctr">
            <a:spAutoFit/>
          </a:bodyPr>
          <a:lstStyle/>
          <a:p>
            <a:pPr algn="ctr">
              <a:spcBef>
                <a:spcPts val="0"/>
              </a:spcBef>
              <a:spcAft>
                <a:spcPts val="0"/>
              </a:spcAft>
              <a:buNone/>
              <a:defRPr sz="760" b="1" i="0">
                <a:solidFill>
                  <a:srgbClr val="A16F00"/>
                </a:solidFill>
                <a:latin typeface="Aptos"/>
                <a:ea typeface="Aptos"/>
                <a:cs typeface="Aptos"/>
              </a:defRPr>
            </a:pPr>
            <a:r>
              <a:t>LONG-HORIZON CAUSALITY</a:t>
            </a:r>
          </a:p>
        </p:txBody>
      </p:sp>
      <p:sp>
        <p:nvSpPr>
          <p:cNvPr id="15" name="TextBox 14">
            <a:extLst>
              <a:ext uri="{FF2B5EF4-FFF2-40B4-BE49-F238E27FC236}">
                <a16:creationId xmlns:a16="http://schemas.microsoft.com/office/drawing/2014/main" id="{6482EF38-80D2-4DFD-9AF4-AB962639A061}"/>
              </a:ext>
            </a:extLst>
          </p:cNvPr>
          <p:cNvSpPr>
            <a:spLocks noGrp="1"/>
          </p:cNvSpPr>
          <p:nvPr/>
        </p:nvSpPr>
        <p:spPr>
          <a:xfrm>
            <a:off x="6446520" y="2432304"/>
            <a:ext cx="4773168" cy="704088"/>
          </a:xfrm>
          <a:prstGeom prst="rect">
            <a:avLst/>
          </a:prstGeom>
          <a:noFill/>
        </p:spPr>
        <p:txBody>
          <a:bodyPr wrap="square" lIns="0" tIns="0" rIns="0" bIns="0" anchor="t">
            <a:spAutoFit/>
          </a:bodyPr>
          <a:lstStyle/>
          <a:p>
            <a:pPr algn="l">
              <a:spcBef>
                <a:spcPts val="0"/>
              </a:spcBef>
              <a:spcAft>
                <a:spcPts val="0"/>
              </a:spcAft>
              <a:buNone/>
              <a:defRPr sz="1400" b="0" i="0">
                <a:solidFill>
                  <a:srgbClr val="172A3A"/>
                </a:solidFill>
                <a:latin typeface="Aptos"/>
                <a:ea typeface="Aptos"/>
                <a:cs typeface="Aptos"/>
              </a:defRPr>
            </a:pPr>
            <a:r>
              <a:t>Reason over event order, object roles, and counterfactual change.</a:t>
            </a:r>
          </a:p>
        </p:txBody>
      </p:sp>
      <p:sp>
        <p:nvSpPr>
          <p:cNvPr id="16" name="Rounded Rectangle 15">
            <a:extLst>
              <a:ext uri="{FF2B5EF4-FFF2-40B4-BE49-F238E27FC236}">
                <a16:creationId xmlns:a16="http://schemas.microsoft.com/office/drawing/2014/main" id="{060A79B8-E862-4E14-B341-8E4732F831CE}"/>
              </a:ext>
            </a:extLst>
          </p:cNvPr>
          <p:cNvSpPr>
            <a:spLocks noGrp="1"/>
          </p:cNvSpPr>
          <p:nvPr/>
        </p:nvSpPr>
        <p:spPr>
          <a:xfrm>
            <a:off x="749808" y="3712463"/>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ounded Rectangle 16">
            <a:extLst>
              <a:ext uri="{FF2B5EF4-FFF2-40B4-BE49-F238E27FC236}">
                <a16:creationId xmlns:a16="http://schemas.microsoft.com/office/drawing/2014/main" id="{D10FA1F7-4355-4918-975C-09D8F366DB45}"/>
              </a:ext>
            </a:extLst>
          </p:cNvPr>
          <p:cNvSpPr>
            <a:spLocks noGrp="1"/>
          </p:cNvSpPr>
          <p:nvPr/>
        </p:nvSpPr>
        <p:spPr>
          <a:xfrm>
            <a:off x="950976" y="3895344"/>
            <a:ext cx="2542032" cy="274320"/>
          </a:xfrm>
          <a:prstGeom prst="roundRect">
            <a:avLst>
              <a:gd name="adj" fmla="val 12000"/>
            </a:avLst>
          </a:prstGeom>
          <a:solidFill>
            <a:srgbClr val="E4F4F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A44B5CBD-B566-4B2F-81D9-552FCCBA2DD2}"/>
              </a:ext>
            </a:extLst>
          </p:cNvPr>
          <p:cNvSpPr>
            <a:spLocks noGrp="1"/>
          </p:cNvSpPr>
          <p:nvPr/>
        </p:nvSpPr>
        <p:spPr>
          <a:xfrm>
            <a:off x="1024128" y="3918204"/>
            <a:ext cx="2395727" cy="210312"/>
          </a:xfrm>
          <a:prstGeom prst="rect">
            <a:avLst/>
          </a:prstGeom>
          <a:noFill/>
        </p:spPr>
        <p:txBody>
          <a:bodyPr wrap="square" lIns="0" tIns="0" rIns="0" bIns="0" anchor="ctr">
            <a:spAutoFit/>
          </a:bodyPr>
          <a:lstStyle/>
          <a:p>
            <a:pPr algn="ctr">
              <a:spcBef>
                <a:spcPts val="0"/>
              </a:spcBef>
              <a:spcAft>
                <a:spcPts val="0"/>
              </a:spcAft>
              <a:buNone/>
              <a:defRPr sz="760" b="1" i="0">
                <a:solidFill>
                  <a:srgbClr val="087E78"/>
                </a:solidFill>
                <a:latin typeface="Aptos"/>
                <a:ea typeface="Aptos"/>
                <a:cs typeface="Aptos"/>
              </a:defRPr>
            </a:pPr>
            <a:r>
              <a:t>EDGE-READY FOUNDATION MODELS</a:t>
            </a:r>
          </a:p>
        </p:txBody>
      </p:sp>
      <p:sp>
        <p:nvSpPr>
          <p:cNvPr id="19" name="TextBox 18">
            <a:extLst>
              <a:ext uri="{FF2B5EF4-FFF2-40B4-BE49-F238E27FC236}">
                <a16:creationId xmlns:a16="http://schemas.microsoft.com/office/drawing/2014/main" id="{EBD962F5-4C45-46B6-9D94-EF4BE049D00F}"/>
              </a:ext>
            </a:extLst>
          </p:cNvPr>
          <p:cNvSpPr>
            <a:spLocks noGrp="1"/>
          </p:cNvSpPr>
          <p:nvPr/>
        </p:nvSpPr>
        <p:spPr>
          <a:xfrm>
            <a:off x="960120" y="4379975"/>
            <a:ext cx="4773168" cy="704088"/>
          </a:xfrm>
          <a:prstGeom prst="rect">
            <a:avLst/>
          </a:prstGeom>
          <a:noFill/>
        </p:spPr>
        <p:txBody>
          <a:bodyPr wrap="square" lIns="0" tIns="0" rIns="0" bIns="0" anchor="t">
            <a:spAutoFit/>
          </a:bodyPr>
          <a:lstStyle/>
          <a:p>
            <a:pPr algn="l">
              <a:spcBef>
                <a:spcPts val="0"/>
              </a:spcBef>
              <a:spcAft>
                <a:spcPts val="0"/>
              </a:spcAft>
              <a:buNone/>
              <a:defRPr sz="1400" b="0" i="0">
                <a:solidFill>
                  <a:srgbClr val="172A3A"/>
                </a:solidFill>
                <a:latin typeface="Aptos"/>
                <a:ea typeface="Aptos"/>
                <a:cs typeface="Aptos"/>
              </a:defRPr>
            </a:pPr>
            <a:r>
              <a:t>Use efficient adaptation, quantization, pruning, and sparse temporal attention.</a:t>
            </a:r>
          </a:p>
        </p:txBody>
      </p:sp>
      <p:sp>
        <p:nvSpPr>
          <p:cNvPr id="20" name="Rounded Rectangle 19">
            <a:extLst>
              <a:ext uri="{FF2B5EF4-FFF2-40B4-BE49-F238E27FC236}">
                <a16:creationId xmlns:a16="http://schemas.microsoft.com/office/drawing/2014/main" id="{C106E6BF-3C84-42D0-9AB1-432E281AE487}"/>
              </a:ext>
            </a:extLst>
          </p:cNvPr>
          <p:cNvSpPr>
            <a:spLocks noGrp="1"/>
          </p:cNvSpPr>
          <p:nvPr/>
        </p:nvSpPr>
        <p:spPr>
          <a:xfrm>
            <a:off x="6236208" y="3712463"/>
            <a:ext cx="5230368" cy="1636776"/>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ounded Rectangle 20">
            <a:extLst>
              <a:ext uri="{FF2B5EF4-FFF2-40B4-BE49-F238E27FC236}">
                <a16:creationId xmlns:a16="http://schemas.microsoft.com/office/drawing/2014/main" id="{703D588A-118C-4ADF-A146-400F0B66B6A5}"/>
              </a:ext>
            </a:extLst>
          </p:cNvPr>
          <p:cNvSpPr>
            <a:spLocks noGrp="1"/>
          </p:cNvSpPr>
          <p:nvPr/>
        </p:nvSpPr>
        <p:spPr>
          <a:xfrm>
            <a:off x="6437376" y="3895344"/>
            <a:ext cx="2542032" cy="274320"/>
          </a:xfrm>
          <a:prstGeom prst="roundRect">
            <a:avLst>
              <a:gd name="adj" fmla="val 12000"/>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33E8F31-C165-46D3-A9D5-335F15129CC8}"/>
              </a:ext>
            </a:extLst>
          </p:cNvPr>
          <p:cNvSpPr>
            <a:spLocks noGrp="1"/>
          </p:cNvSpPr>
          <p:nvPr/>
        </p:nvSpPr>
        <p:spPr>
          <a:xfrm>
            <a:off x="6510528" y="3918204"/>
            <a:ext cx="2395727" cy="210312"/>
          </a:xfrm>
          <a:prstGeom prst="rect">
            <a:avLst/>
          </a:prstGeom>
          <a:noFill/>
        </p:spPr>
        <p:txBody>
          <a:bodyPr wrap="square" lIns="0" tIns="0" rIns="0" bIns="0" anchor="ctr">
            <a:spAutoFit/>
          </a:bodyPr>
          <a:lstStyle/>
          <a:p>
            <a:pPr algn="ctr">
              <a:spcBef>
                <a:spcPts val="0"/>
              </a:spcBef>
              <a:spcAft>
                <a:spcPts val="0"/>
              </a:spcAft>
              <a:buNone/>
              <a:defRPr sz="760" b="1" i="0">
                <a:solidFill>
                  <a:srgbClr val="F07167"/>
                </a:solidFill>
                <a:latin typeface="Aptos"/>
                <a:ea typeface="Aptos"/>
                <a:cs typeface="Aptos"/>
              </a:defRPr>
            </a:pPr>
            <a:r>
              <a:t>KNOW WHEN NOT TO SEGMENT</a:t>
            </a:r>
          </a:p>
        </p:txBody>
      </p:sp>
      <p:sp>
        <p:nvSpPr>
          <p:cNvPr id="23" name="TextBox 22">
            <a:extLst>
              <a:ext uri="{FF2B5EF4-FFF2-40B4-BE49-F238E27FC236}">
                <a16:creationId xmlns:a16="http://schemas.microsoft.com/office/drawing/2014/main" id="{E44ACAC9-3E9D-4330-A40E-FE644888F174}"/>
              </a:ext>
            </a:extLst>
          </p:cNvPr>
          <p:cNvSpPr>
            <a:spLocks noGrp="1"/>
          </p:cNvSpPr>
          <p:nvPr/>
        </p:nvSpPr>
        <p:spPr>
          <a:xfrm>
            <a:off x="6446520" y="4379975"/>
            <a:ext cx="4773168" cy="704088"/>
          </a:xfrm>
          <a:prstGeom prst="rect">
            <a:avLst/>
          </a:prstGeom>
          <a:noFill/>
        </p:spPr>
        <p:txBody>
          <a:bodyPr wrap="square" lIns="0" tIns="0" rIns="0" bIns="0" anchor="t">
            <a:spAutoFit/>
          </a:bodyPr>
          <a:lstStyle/>
          <a:p>
            <a:pPr algn="l">
              <a:spcBef>
                <a:spcPts val="0"/>
              </a:spcBef>
              <a:spcAft>
                <a:spcPts val="0"/>
              </a:spcAft>
              <a:buNone/>
              <a:defRPr sz="1400" b="0" i="0">
                <a:solidFill>
                  <a:srgbClr val="172A3A"/>
                </a:solidFill>
                <a:latin typeface="Aptos"/>
                <a:ea typeface="Aptos"/>
                <a:cs typeface="Aptos"/>
              </a:defRPr>
            </a:pPr>
            <a:r>
              <a:t>Represent uncertainty and explicitly handle absent or fully occluded targets.</a:t>
            </a:r>
          </a:p>
        </p:txBody>
      </p:sp>
      <p:sp>
        <p:nvSpPr>
          <p:cNvPr id="24" name="TextBox 23">
            <a:extLst>
              <a:ext uri="{FF2B5EF4-FFF2-40B4-BE49-F238E27FC236}">
                <a16:creationId xmlns:a16="http://schemas.microsoft.com/office/drawing/2014/main" id="{EC661CC7-C028-473C-92B3-EAF884AE078C}"/>
              </a:ext>
            </a:extLst>
          </p:cNvPr>
          <p:cNvSpPr>
            <a:spLocks noGrp="1"/>
          </p:cNvSpPr>
          <p:nvPr/>
        </p:nvSpPr>
        <p:spPr>
          <a:xfrm>
            <a:off x="795528" y="5833872"/>
            <a:ext cx="10561320" cy="292608"/>
          </a:xfrm>
          <a:prstGeom prst="rect">
            <a:avLst/>
          </a:prstGeom>
          <a:noFill/>
        </p:spPr>
        <p:txBody>
          <a:bodyPr wrap="square" lIns="0" tIns="0" rIns="0" bIns="0" anchor="t">
            <a:spAutoFit/>
          </a:bodyPr>
          <a:lstStyle/>
          <a:p>
            <a:pPr algn="ctr">
              <a:spcBef>
                <a:spcPts val="0"/>
              </a:spcBef>
              <a:spcAft>
                <a:spcPts val="0"/>
              </a:spcAft>
              <a:buNone/>
              <a:defRPr sz="1300" b="1" i="0">
                <a:solidFill>
                  <a:srgbClr val="087E78"/>
                </a:solidFill>
                <a:latin typeface="Aptos"/>
                <a:ea typeface="Aptos"/>
                <a:cs typeface="Aptos"/>
              </a:defRPr>
            </a:pPr>
            <a:r>
              <a:t>A useful system must be accurate, updateable, efficient, and able to say “target absent.”</a:t>
            </a:r>
          </a:p>
        </p:txBody>
      </p:sp>
    </p:spTree>
    <p:extLst>
      <p:ext uri="{BB962C8B-B14F-4D97-AF65-F5344CB8AC3E}">
        <p14:creationId xmlns:p14="http://schemas.microsoft.com/office/powerpoint/2010/main" val="447025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4577AB-23AB-4D39-B7A4-E3505915C04A}"/>
              </a:ext>
            </a:extLst>
          </p:cNvPr>
          <p:cNvSpPr>
            <a:spLocks noGrp="1"/>
          </p:cNvSpPr>
          <p:nvPr/>
        </p:nvSpPr>
        <p:spPr>
          <a:xfrm>
            <a:off x="612648" y="320040"/>
            <a:ext cx="8138160" cy="219456"/>
          </a:xfrm>
          <a:prstGeom prst="rect">
            <a:avLst/>
          </a:prstGeom>
          <a:noFill/>
        </p:spPr>
        <p:txBody>
          <a:bodyPr wrap="square" lIns="0" tIns="0" rIns="0" bIns="0" anchor="t">
            <a:spAutoFit/>
          </a:bodyPr>
          <a:lstStyle/>
          <a:p>
            <a:pPr algn="l">
              <a:spcBef>
                <a:spcPts val="0"/>
              </a:spcBef>
              <a:spcAft>
                <a:spcPts val="0"/>
              </a:spcAft>
              <a:buNone/>
              <a:defRPr sz="900" b="1" i="0">
                <a:solidFill>
                  <a:srgbClr val="087E78"/>
                </a:solidFill>
                <a:latin typeface="Aptos"/>
                <a:ea typeface="Aptos"/>
                <a:cs typeface="Aptos"/>
              </a:defRPr>
            </a:pPr>
            <a:r>
              <a:t>CLOSING</a:t>
            </a:r>
          </a:p>
        </p:txBody>
      </p:sp>
      <p:sp>
        <p:nvSpPr>
          <p:cNvPr id="3" name="TextBox 2">
            <a:extLst>
              <a:ext uri="{FF2B5EF4-FFF2-40B4-BE49-F238E27FC236}">
                <a16:creationId xmlns:a16="http://schemas.microsoft.com/office/drawing/2014/main" id="{B01F8CF3-F878-43F5-A095-133D183EA28E}"/>
              </a:ext>
            </a:extLst>
          </p:cNvPr>
          <p:cNvSpPr>
            <a:spLocks noGrp="1"/>
          </p:cNvSpPr>
          <p:nvPr/>
        </p:nvSpPr>
        <p:spPr>
          <a:xfrm>
            <a:off x="594360" y="621792"/>
            <a:ext cx="11018520" cy="658368"/>
          </a:xfrm>
          <a:prstGeom prst="rect">
            <a:avLst/>
          </a:prstGeom>
          <a:noFill/>
        </p:spPr>
        <p:txBody>
          <a:bodyPr wrap="square" lIns="0" tIns="0" rIns="0" bIns="0" anchor="t">
            <a:spAutoFit/>
          </a:bodyPr>
          <a:lstStyle/>
          <a:p>
            <a:pPr algn="l">
              <a:spcBef>
                <a:spcPts val="0"/>
              </a:spcBef>
              <a:spcAft>
                <a:spcPts val="0"/>
              </a:spcAft>
              <a:buNone/>
              <a:defRPr sz="2800" b="1" i="0">
                <a:solidFill>
                  <a:srgbClr val="122438"/>
                </a:solidFill>
                <a:latin typeface="Aptos Display"/>
                <a:ea typeface="Aptos Display"/>
                <a:cs typeface="Aptos Display"/>
              </a:defRPr>
            </a:pPr>
            <a:r>
              <a:t>Tracking must become understanding</a:t>
            </a:r>
          </a:p>
        </p:txBody>
      </p:sp>
      <p:sp>
        <p:nvSpPr>
          <p:cNvPr id="4" name="Connector 3">
            <a:extLst>
              <a:ext uri="{FF2B5EF4-FFF2-40B4-BE49-F238E27FC236}">
                <a16:creationId xmlns:a16="http://schemas.microsoft.com/office/drawing/2014/main" id="{7959F7AF-EEC7-4431-A7D1-B1069DAD3F3D}"/>
              </a:ext>
            </a:extLst>
          </p:cNvPr>
          <p:cNvSpPr>
            <a:spLocks noGrp="1"/>
          </p:cNvSpPr>
          <p:nvPr/>
        </p:nvSpPr>
        <p:spPr>
          <a:xfrm>
            <a:off x="603504" y="1353312"/>
            <a:ext cx="10972800" cy="0"/>
          </a:xfrm>
          <a:prstGeom prst="line">
            <a:avLst/>
          </a:prstGeom>
          <a:ln w="1270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5" name="Connector 4">
            <a:extLst>
              <a:ext uri="{FF2B5EF4-FFF2-40B4-BE49-F238E27FC236}">
                <a16:creationId xmlns:a16="http://schemas.microsoft.com/office/drawing/2014/main" id="{11DDE6D0-008E-48A2-92F5-B72D7305AD4D}"/>
              </a:ext>
            </a:extLst>
          </p:cNvPr>
          <p:cNvSpPr>
            <a:spLocks noGrp="1"/>
          </p:cNvSpPr>
          <p:nvPr/>
        </p:nvSpPr>
        <p:spPr>
          <a:xfrm>
            <a:off x="603504" y="6473952"/>
            <a:ext cx="10972800" cy="0"/>
          </a:xfrm>
          <a:prstGeom prst="line">
            <a:avLst/>
          </a:prstGeom>
          <a:ln w="10160">
            <a:solidFill>
              <a:srgbClr val="DCE4E8"/>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TextBox 5">
            <a:extLst>
              <a:ext uri="{FF2B5EF4-FFF2-40B4-BE49-F238E27FC236}">
                <a16:creationId xmlns:a16="http://schemas.microsoft.com/office/drawing/2014/main" id="{84C94C73-D7FE-4A74-9E60-29E75A51BF81}"/>
              </a:ext>
            </a:extLst>
          </p:cNvPr>
          <p:cNvSpPr>
            <a:spLocks noGrp="1"/>
          </p:cNvSpPr>
          <p:nvPr/>
        </p:nvSpPr>
        <p:spPr>
          <a:xfrm>
            <a:off x="621792" y="6519672"/>
            <a:ext cx="8138160" cy="164592"/>
          </a:xfrm>
          <a:prstGeom prst="rect">
            <a:avLst/>
          </a:prstGeom>
          <a:noFill/>
        </p:spPr>
        <p:txBody>
          <a:bodyPr wrap="square" lIns="0" tIns="0" rIns="0" bIns="0" anchor="t">
            <a:spAutoFit/>
          </a:bodyPr>
          <a:lstStyle/>
          <a:p>
            <a:pPr algn="l">
              <a:spcBef>
                <a:spcPts val="0"/>
              </a:spcBef>
              <a:spcAft>
                <a:spcPts val="0"/>
              </a:spcAft>
              <a:buNone/>
              <a:defRPr sz="800" b="0" i="0">
                <a:solidFill>
                  <a:srgbClr val="5E6D7B"/>
                </a:solidFill>
                <a:latin typeface="Aptos"/>
                <a:ea typeface="Aptos"/>
                <a:cs typeface="Aptos"/>
              </a:defRPr>
            </a:pPr>
            <a:r>
              <a:t>Source: Survey Conclusion.</a:t>
            </a:r>
          </a:p>
        </p:txBody>
      </p:sp>
      <p:sp>
        <p:nvSpPr>
          <p:cNvPr id="8" name="Rounded Rectangle 7">
            <a:extLst>
              <a:ext uri="{FF2B5EF4-FFF2-40B4-BE49-F238E27FC236}">
                <a16:creationId xmlns:a16="http://schemas.microsoft.com/office/drawing/2014/main" id="{56663A9A-5485-4100-963A-44CA5B645BFF}"/>
              </a:ext>
            </a:extLst>
          </p:cNvPr>
          <p:cNvSpPr>
            <a:spLocks noGrp="1"/>
          </p:cNvSpPr>
          <p:nvPr/>
        </p:nvSpPr>
        <p:spPr>
          <a:xfrm>
            <a:off x="749808" y="1865376"/>
            <a:ext cx="3401568" cy="199339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2BAB4C6-F24F-482F-A0B9-4C5A3E4EEFED}"/>
              </a:ext>
            </a:extLst>
          </p:cNvPr>
          <p:cNvSpPr>
            <a:spLocks noGrp="1"/>
          </p:cNvSpPr>
          <p:nvPr/>
        </p:nvSpPr>
        <p:spPr>
          <a:xfrm>
            <a:off x="978407" y="2084831"/>
            <a:ext cx="594360" cy="329184"/>
          </a:xfrm>
          <a:prstGeom prst="rect">
            <a:avLst/>
          </a:prstGeom>
          <a:noFill/>
        </p:spPr>
        <p:txBody>
          <a:bodyPr wrap="square" lIns="0" tIns="0" rIns="0" bIns="0" anchor="t">
            <a:spAutoFit/>
          </a:bodyPr>
          <a:lstStyle/>
          <a:p>
            <a:pPr algn="l">
              <a:spcBef>
                <a:spcPts val="0"/>
              </a:spcBef>
              <a:spcAft>
                <a:spcPts val="0"/>
              </a:spcAft>
              <a:buNone/>
              <a:defRPr sz="2200" b="1" i="0">
                <a:solidFill>
                  <a:srgbClr val="12A99A"/>
                </a:solidFill>
                <a:latin typeface="Aptos Display"/>
                <a:ea typeface="Aptos Display"/>
                <a:cs typeface="Aptos Display"/>
              </a:defRPr>
            </a:pPr>
            <a:r>
              <a:t>01</a:t>
            </a:r>
          </a:p>
        </p:txBody>
      </p:sp>
      <p:sp>
        <p:nvSpPr>
          <p:cNvPr id="10" name="TextBox 9">
            <a:extLst>
              <a:ext uri="{FF2B5EF4-FFF2-40B4-BE49-F238E27FC236}">
                <a16:creationId xmlns:a16="http://schemas.microsoft.com/office/drawing/2014/main" id="{5A12765D-6167-4B88-8AE9-63384FCB010A}"/>
              </a:ext>
            </a:extLst>
          </p:cNvPr>
          <p:cNvSpPr>
            <a:spLocks noGrp="1"/>
          </p:cNvSpPr>
          <p:nvPr/>
        </p:nvSpPr>
        <p:spPr>
          <a:xfrm>
            <a:off x="978407" y="2660904"/>
            <a:ext cx="2907792" cy="512064"/>
          </a:xfrm>
          <a:prstGeom prst="rect">
            <a:avLst/>
          </a:prstGeom>
          <a:noFill/>
        </p:spPr>
        <p:txBody>
          <a:bodyPr wrap="square" lIns="0" tIns="0" rIns="0" bIns="0" anchor="t">
            <a:spAutoFit/>
          </a:bodyPr>
          <a:lstStyle/>
          <a:p>
            <a:pPr algn="l">
              <a:spcBef>
                <a:spcPts val="0"/>
              </a:spcBef>
              <a:spcAft>
                <a:spcPts val="0"/>
              </a:spcAft>
              <a:buNone/>
              <a:defRPr sz="1500" b="1" i="0">
                <a:solidFill>
                  <a:srgbClr val="122438"/>
                </a:solidFill>
                <a:latin typeface="Aptos"/>
                <a:ea typeface="Aptos"/>
                <a:cs typeface="Aptos"/>
              </a:defRPr>
            </a:pPr>
            <a:r>
              <a:t>RVOS is language grounding + temporal identity.</a:t>
            </a:r>
          </a:p>
        </p:txBody>
      </p:sp>
      <p:sp>
        <p:nvSpPr>
          <p:cNvPr id="11" name="TextBox 10">
            <a:extLst>
              <a:ext uri="{FF2B5EF4-FFF2-40B4-BE49-F238E27FC236}">
                <a16:creationId xmlns:a16="http://schemas.microsoft.com/office/drawing/2014/main" id="{DFC04102-0F61-4066-9739-0C5D66AC4A97}"/>
              </a:ext>
            </a:extLst>
          </p:cNvPr>
          <p:cNvSpPr>
            <a:spLocks noGrp="1"/>
          </p:cNvSpPr>
          <p:nvPr/>
        </p:nvSpPr>
        <p:spPr>
          <a:xfrm>
            <a:off x="978407" y="3255264"/>
            <a:ext cx="2907792" cy="438912"/>
          </a:xfrm>
          <a:prstGeom prst="rect">
            <a:avLst/>
          </a:prstGeom>
          <a:noFill/>
        </p:spPr>
        <p:txBody>
          <a:bodyPr wrap="square" lIns="0" tIns="0" rIns="0" bIns="0" anchor="t">
            <a:spAutoFit/>
          </a:bodyPr>
          <a:lstStyle/>
          <a:p>
            <a:pPr algn="l">
              <a:spcBef>
                <a:spcPts val="0"/>
              </a:spcBef>
              <a:spcAft>
                <a:spcPts val="0"/>
              </a:spcAft>
              <a:buNone/>
              <a:defRPr sz="1100" b="0" i="0">
                <a:solidFill>
                  <a:srgbClr val="5E6D7B"/>
                </a:solidFill>
                <a:latin typeface="Aptos"/>
                <a:ea typeface="Aptos"/>
                <a:cs typeface="Aptos"/>
              </a:defRPr>
            </a:pPr>
            <a:r>
              <a:t>It predicts one mask trajectory from a sentence and a video.</a:t>
            </a:r>
          </a:p>
        </p:txBody>
      </p:sp>
      <p:sp>
        <p:nvSpPr>
          <p:cNvPr id="12" name="Rounded Rectangle 11">
            <a:extLst>
              <a:ext uri="{FF2B5EF4-FFF2-40B4-BE49-F238E27FC236}">
                <a16:creationId xmlns:a16="http://schemas.microsoft.com/office/drawing/2014/main" id="{88D4DB0B-F451-4B77-AEA7-8A81B8BA361A}"/>
              </a:ext>
            </a:extLst>
          </p:cNvPr>
          <p:cNvSpPr>
            <a:spLocks noGrp="1"/>
          </p:cNvSpPr>
          <p:nvPr/>
        </p:nvSpPr>
        <p:spPr>
          <a:xfrm>
            <a:off x="4407408" y="1865376"/>
            <a:ext cx="3401568" cy="199339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86A4AF9-F18E-4C9D-BEF3-C83B20EC16CD}"/>
              </a:ext>
            </a:extLst>
          </p:cNvPr>
          <p:cNvSpPr>
            <a:spLocks noGrp="1"/>
          </p:cNvSpPr>
          <p:nvPr/>
        </p:nvSpPr>
        <p:spPr>
          <a:xfrm>
            <a:off x="4636008" y="2084831"/>
            <a:ext cx="594360" cy="329184"/>
          </a:xfrm>
          <a:prstGeom prst="rect">
            <a:avLst/>
          </a:prstGeom>
          <a:noFill/>
        </p:spPr>
        <p:txBody>
          <a:bodyPr wrap="square" lIns="0" tIns="0" rIns="0" bIns="0" anchor="t">
            <a:spAutoFit/>
          </a:bodyPr>
          <a:lstStyle/>
          <a:p>
            <a:pPr algn="l">
              <a:spcBef>
                <a:spcPts val="0"/>
              </a:spcBef>
              <a:spcAft>
                <a:spcPts val="0"/>
              </a:spcAft>
              <a:buNone/>
              <a:defRPr sz="2200" b="1" i="0">
                <a:solidFill>
                  <a:srgbClr val="12A99A"/>
                </a:solidFill>
                <a:latin typeface="Aptos Display"/>
                <a:ea typeface="Aptos Display"/>
                <a:cs typeface="Aptos Display"/>
              </a:defRPr>
            </a:pPr>
            <a:r>
              <a:t>02</a:t>
            </a:r>
          </a:p>
        </p:txBody>
      </p:sp>
      <p:sp>
        <p:nvSpPr>
          <p:cNvPr id="14" name="TextBox 13">
            <a:extLst>
              <a:ext uri="{FF2B5EF4-FFF2-40B4-BE49-F238E27FC236}">
                <a16:creationId xmlns:a16="http://schemas.microsoft.com/office/drawing/2014/main" id="{D5860FE1-B50B-4430-868C-9607A7C622BA}"/>
              </a:ext>
            </a:extLst>
          </p:cNvPr>
          <p:cNvSpPr>
            <a:spLocks noGrp="1"/>
          </p:cNvSpPr>
          <p:nvPr/>
        </p:nvSpPr>
        <p:spPr>
          <a:xfrm>
            <a:off x="4636008" y="2660904"/>
            <a:ext cx="2907792" cy="512064"/>
          </a:xfrm>
          <a:prstGeom prst="rect">
            <a:avLst/>
          </a:prstGeom>
          <a:noFill/>
        </p:spPr>
        <p:txBody>
          <a:bodyPr wrap="square" lIns="0" tIns="0" rIns="0" bIns="0" anchor="t">
            <a:spAutoFit/>
          </a:bodyPr>
          <a:lstStyle/>
          <a:p>
            <a:pPr algn="l">
              <a:spcBef>
                <a:spcPts val="0"/>
              </a:spcBef>
              <a:spcAft>
                <a:spcPts val="0"/>
              </a:spcAft>
              <a:buNone/>
              <a:defRPr sz="1500" b="1" i="0">
                <a:solidFill>
                  <a:srgbClr val="122438"/>
                </a:solidFill>
                <a:latin typeface="Aptos"/>
                <a:ea typeface="Aptos"/>
                <a:cs typeface="Aptos"/>
              </a:defRPr>
            </a:pPr>
            <a:r>
              <a:t>Different failures need different mechanisms.</a:t>
            </a:r>
          </a:p>
        </p:txBody>
      </p:sp>
      <p:sp>
        <p:nvSpPr>
          <p:cNvPr id="15" name="TextBox 14">
            <a:extLst>
              <a:ext uri="{FF2B5EF4-FFF2-40B4-BE49-F238E27FC236}">
                <a16:creationId xmlns:a16="http://schemas.microsoft.com/office/drawing/2014/main" id="{03AB9F6B-501A-41B9-BDDB-DA9179B3339F}"/>
              </a:ext>
            </a:extLst>
          </p:cNvPr>
          <p:cNvSpPr>
            <a:spLocks noGrp="1"/>
          </p:cNvSpPr>
          <p:nvPr/>
        </p:nvSpPr>
        <p:spPr>
          <a:xfrm>
            <a:off x="4636008" y="3255264"/>
            <a:ext cx="2907792" cy="438912"/>
          </a:xfrm>
          <a:prstGeom prst="rect">
            <a:avLst/>
          </a:prstGeom>
          <a:noFill/>
        </p:spPr>
        <p:txBody>
          <a:bodyPr wrap="square" lIns="0" tIns="0" rIns="0" bIns="0" anchor="t">
            <a:spAutoFit/>
          </a:bodyPr>
          <a:lstStyle/>
          <a:p>
            <a:pPr algn="l">
              <a:spcBef>
                <a:spcPts val="0"/>
              </a:spcBef>
              <a:spcAft>
                <a:spcPts val="0"/>
              </a:spcAft>
              <a:buNone/>
              <a:defRPr sz="1100" b="0" i="0">
                <a:solidFill>
                  <a:srgbClr val="5E6D7B"/>
                </a:solidFill>
                <a:latin typeface="Aptos"/>
                <a:ea typeface="Aptos"/>
                <a:cs typeface="Aptos"/>
              </a:defRPr>
            </a:pPr>
            <a:r>
              <a:t>Motion, memory, streaming, and reasoning solve distinct problems.</a:t>
            </a:r>
          </a:p>
        </p:txBody>
      </p:sp>
      <p:sp>
        <p:nvSpPr>
          <p:cNvPr id="16" name="Rounded Rectangle 15">
            <a:extLst>
              <a:ext uri="{FF2B5EF4-FFF2-40B4-BE49-F238E27FC236}">
                <a16:creationId xmlns:a16="http://schemas.microsoft.com/office/drawing/2014/main" id="{82FCA23F-9C0C-48CA-808C-74BFC5F5E7EC}"/>
              </a:ext>
            </a:extLst>
          </p:cNvPr>
          <p:cNvSpPr>
            <a:spLocks noGrp="1"/>
          </p:cNvSpPr>
          <p:nvPr/>
        </p:nvSpPr>
        <p:spPr>
          <a:xfrm>
            <a:off x="8065008" y="1865376"/>
            <a:ext cx="3401568" cy="1993392"/>
          </a:xfrm>
          <a:prstGeom prst="roundRect">
            <a:avLst>
              <a:gd name="adj" fmla="val 12000"/>
            </a:avLst>
          </a:prstGeom>
          <a:solidFill>
            <a:srgbClr val="FFFFFF"/>
          </a:solidFill>
          <a:ln w="12700">
            <a:solidFill>
              <a:srgbClr val="DCE4E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2ACB72F-5F78-4A17-B191-89BE754169E9}"/>
              </a:ext>
            </a:extLst>
          </p:cNvPr>
          <p:cNvSpPr>
            <a:spLocks noGrp="1"/>
          </p:cNvSpPr>
          <p:nvPr/>
        </p:nvSpPr>
        <p:spPr>
          <a:xfrm>
            <a:off x="8293608" y="2084831"/>
            <a:ext cx="594360" cy="329184"/>
          </a:xfrm>
          <a:prstGeom prst="rect">
            <a:avLst/>
          </a:prstGeom>
          <a:noFill/>
        </p:spPr>
        <p:txBody>
          <a:bodyPr wrap="square" lIns="0" tIns="0" rIns="0" bIns="0" anchor="t">
            <a:spAutoFit/>
          </a:bodyPr>
          <a:lstStyle/>
          <a:p>
            <a:pPr algn="l">
              <a:spcBef>
                <a:spcPts val="0"/>
              </a:spcBef>
              <a:spcAft>
                <a:spcPts val="0"/>
              </a:spcAft>
              <a:buNone/>
              <a:defRPr sz="2200" b="1" i="0">
                <a:solidFill>
                  <a:srgbClr val="12A99A"/>
                </a:solidFill>
                <a:latin typeface="Aptos Display"/>
                <a:ea typeface="Aptos Display"/>
                <a:cs typeface="Aptos Display"/>
              </a:defRPr>
            </a:pPr>
            <a:r>
              <a:t>03</a:t>
            </a:r>
          </a:p>
        </p:txBody>
      </p:sp>
      <p:sp>
        <p:nvSpPr>
          <p:cNvPr id="18" name="TextBox 17">
            <a:extLst>
              <a:ext uri="{FF2B5EF4-FFF2-40B4-BE49-F238E27FC236}">
                <a16:creationId xmlns:a16="http://schemas.microsoft.com/office/drawing/2014/main" id="{32D14D5D-EBD8-4674-AADA-CFF889A0031F}"/>
              </a:ext>
            </a:extLst>
          </p:cNvPr>
          <p:cNvSpPr>
            <a:spLocks noGrp="1"/>
          </p:cNvSpPr>
          <p:nvPr/>
        </p:nvSpPr>
        <p:spPr>
          <a:xfrm>
            <a:off x="8293608" y="2660904"/>
            <a:ext cx="2907792" cy="512064"/>
          </a:xfrm>
          <a:prstGeom prst="rect">
            <a:avLst/>
          </a:prstGeom>
          <a:noFill/>
        </p:spPr>
        <p:txBody>
          <a:bodyPr wrap="square" lIns="0" tIns="0" rIns="0" bIns="0" anchor="t">
            <a:spAutoFit/>
          </a:bodyPr>
          <a:lstStyle/>
          <a:p>
            <a:pPr algn="l">
              <a:spcBef>
                <a:spcPts val="0"/>
              </a:spcBef>
              <a:spcAft>
                <a:spcPts val="0"/>
              </a:spcAft>
              <a:buNone/>
              <a:defRPr sz="1500" b="1" i="0">
                <a:solidFill>
                  <a:srgbClr val="122438"/>
                </a:solidFill>
                <a:latin typeface="Aptos"/>
                <a:ea typeface="Aptos"/>
                <a:cs typeface="Aptos"/>
              </a:defRPr>
            </a:pPr>
            <a:r>
              <a:t>The next gains need better evaluation.</a:t>
            </a:r>
          </a:p>
        </p:txBody>
      </p:sp>
      <p:sp>
        <p:nvSpPr>
          <p:cNvPr id="19" name="TextBox 18">
            <a:extLst>
              <a:ext uri="{FF2B5EF4-FFF2-40B4-BE49-F238E27FC236}">
                <a16:creationId xmlns:a16="http://schemas.microsoft.com/office/drawing/2014/main" id="{EA00365E-38A4-488E-BBDE-0E4948817133}"/>
              </a:ext>
            </a:extLst>
          </p:cNvPr>
          <p:cNvSpPr>
            <a:spLocks noGrp="1"/>
          </p:cNvSpPr>
          <p:nvPr/>
        </p:nvSpPr>
        <p:spPr>
          <a:xfrm>
            <a:off x="8293608" y="3255264"/>
            <a:ext cx="2907792" cy="438912"/>
          </a:xfrm>
          <a:prstGeom prst="rect">
            <a:avLst/>
          </a:prstGeom>
          <a:noFill/>
        </p:spPr>
        <p:txBody>
          <a:bodyPr wrap="square" lIns="0" tIns="0" rIns="0" bIns="0" anchor="t">
            <a:spAutoFit/>
          </a:bodyPr>
          <a:lstStyle/>
          <a:p>
            <a:pPr algn="l">
              <a:spcBef>
                <a:spcPts val="0"/>
              </a:spcBef>
              <a:spcAft>
                <a:spcPts val="0"/>
              </a:spcAft>
              <a:buNone/>
              <a:defRPr sz="1100" b="0" i="0">
                <a:solidFill>
                  <a:srgbClr val="5E6D7B"/>
                </a:solidFill>
                <a:latin typeface="Aptos"/>
                <a:ea typeface="Aptos"/>
                <a:cs typeface="Aptos"/>
              </a:defRPr>
            </a:pPr>
            <a:r>
              <a:t>Test temporal reasoning, efficiency, and target absence—not overlap alone.</a:t>
            </a:r>
          </a:p>
        </p:txBody>
      </p:sp>
      <p:sp>
        <p:nvSpPr>
          <p:cNvPr id="20" name="Rounded Rectangle 19">
            <a:extLst>
              <a:ext uri="{FF2B5EF4-FFF2-40B4-BE49-F238E27FC236}">
                <a16:creationId xmlns:a16="http://schemas.microsoft.com/office/drawing/2014/main" id="{F8FE795E-5D69-4509-A929-DE14F39D5AE4}"/>
              </a:ext>
            </a:extLst>
          </p:cNvPr>
          <p:cNvSpPr>
            <a:spLocks noGrp="1"/>
          </p:cNvSpPr>
          <p:nvPr/>
        </p:nvSpPr>
        <p:spPr>
          <a:xfrm>
            <a:off x="768096" y="4315968"/>
            <a:ext cx="10643616" cy="1170432"/>
          </a:xfrm>
          <a:prstGeom prst="roundRect">
            <a:avLst>
              <a:gd name="adj" fmla="val 12000"/>
            </a:avLst>
          </a:prstGeom>
          <a:solidFill>
            <a:srgbClr val="1224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44FAA63-9FA9-4005-8DD2-C95534548CC1}"/>
              </a:ext>
            </a:extLst>
          </p:cNvPr>
          <p:cNvSpPr>
            <a:spLocks noGrp="1"/>
          </p:cNvSpPr>
          <p:nvPr/>
        </p:nvSpPr>
        <p:spPr>
          <a:xfrm>
            <a:off x="1097280" y="4535424"/>
            <a:ext cx="9985248" cy="658368"/>
          </a:xfrm>
          <a:prstGeom prst="rect">
            <a:avLst/>
          </a:prstGeom>
          <a:noFill/>
        </p:spPr>
        <p:txBody>
          <a:bodyPr wrap="square" lIns="0" tIns="0" rIns="0" bIns="0" anchor="ctr">
            <a:spAutoFit/>
          </a:bodyPr>
          <a:lstStyle/>
          <a:p>
            <a:pPr algn="ctr">
              <a:spcBef>
                <a:spcPts val="0"/>
              </a:spcBef>
              <a:spcAft>
                <a:spcPts val="0"/>
              </a:spcAft>
              <a:buNone/>
              <a:defRPr sz="1700" b="1" i="0">
                <a:solidFill>
                  <a:srgbClr val="FFFFFF"/>
                </a:solidFill>
                <a:latin typeface="Aptos"/>
                <a:ea typeface="Aptos"/>
                <a:cs typeface="Aptos"/>
              </a:defRPr>
            </a:pPr>
            <a:r>
              <a:t>The central question is no longer only “Can the model track this object?”</a:t>
            </a:r>
            <a:br/>
            <a:r>
              <a:t>It is “Can it keep following the object the sentence actually means?”</a:t>
            </a:r>
          </a:p>
        </p:txBody>
      </p:sp>
      <p:sp>
        <p:nvSpPr>
          <p:cNvPr id="22" name="TextBox 21">
            <a:extLst>
              <a:ext uri="{FF2B5EF4-FFF2-40B4-BE49-F238E27FC236}">
                <a16:creationId xmlns:a16="http://schemas.microsoft.com/office/drawing/2014/main" id="{ACC632EB-1C71-45BD-827B-708CD1B605BA}"/>
              </a:ext>
            </a:extLst>
          </p:cNvPr>
          <p:cNvSpPr>
            <a:spLocks noGrp="1"/>
          </p:cNvSpPr>
          <p:nvPr/>
        </p:nvSpPr>
        <p:spPr>
          <a:xfrm>
            <a:off x="822960" y="5843016"/>
            <a:ext cx="10497312" cy="256032"/>
          </a:xfrm>
          <a:prstGeom prst="rect">
            <a:avLst/>
          </a:prstGeom>
          <a:noFill/>
        </p:spPr>
        <p:txBody>
          <a:bodyPr wrap="square" lIns="0" tIns="0" rIns="0" bIns="0" anchor="t">
            <a:spAutoFit/>
          </a:bodyPr>
          <a:lstStyle/>
          <a:p>
            <a:pPr algn="ctr">
              <a:spcBef>
                <a:spcPts val="0"/>
              </a:spcBef>
              <a:spcAft>
                <a:spcPts val="0"/>
              </a:spcAft>
              <a:buNone/>
              <a:defRPr sz="1200" b="1" i="0">
                <a:solidFill>
                  <a:srgbClr val="087E78"/>
                </a:solidFill>
                <a:latin typeface="Aptos"/>
                <a:ea typeface="Aptos"/>
                <a:cs typeface="Aptos"/>
              </a:defRPr>
            </a:pPr>
            <a:r>
              <a:t>Thank you  ·  Questions</a:t>
            </a:r>
          </a:p>
        </p:txBody>
      </p:sp>
    </p:spTree>
    <p:extLst>
      <p:ext uri="{BB962C8B-B14F-4D97-AF65-F5344CB8AC3E}">
        <p14:creationId xmlns:p14="http://schemas.microsoft.com/office/powerpoint/2010/main" val="260545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3587</Words>
  <Application>Microsoft Office PowerPoint</Application>
  <DocSecurity>0</DocSecurity>
  <PresentationFormat>Widescreen</PresentationFormat>
  <Paragraphs>274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Shishir Regmi</cp:lastModifiedBy>
  <cp:revision>1</cp:revision>
  <dcterms:created xsi:type="dcterms:W3CDTF">2026-10-13T21:46:32Z</dcterms:created>
  <dcterms:modified xsi:type="dcterms:W3CDTF">2026-10-13T22:42:33Z</dcterms:modified>
</cp:coreProperties>
</file>