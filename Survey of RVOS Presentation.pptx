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685" autoAdjust="0"/>
  </p:normalViewPr>
  <p:slideViewPr>
    <p:cSldViewPr snapToGrid="0" snapToObjects="1">
      <p:cViewPr varScale="1">
        <p:scale>
          <a:sx n="101" d="100"/>
          <a:sy n="101" d="100"/>
        </p:scale>
        <p:origin x="125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0956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00:30</a:t>
            </a:r>
          </a:p>
          <a:p>
            <a:endParaRPr/>
          </a:p>
          <a:p>
            <a:r>
              <a:t>Open with the task in one sentence: RVOS turns a natural-language description into a pixel mask for the intended object in every video frame. The title says “survey” because this talk synthesizes methods and benchmarks rather than introducing a new model. I will use one question to connect the sections: how does a system know which object the sentence means, and how does it keep knowing that as the video changes? The paper follows the field from early language-plus-propagation pipelines to temporal transformers, motion-aware designs, foundation-model adaptation, and reasoning-oriented systems. The key argument is that stable tracking is necessary, but it is not the same as understanding motion or reasoning about an event.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01:20</a:t>
            </a:r>
          </a:p>
          <a:p>
            <a:endParaRPr/>
          </a:p>
          <a:p>
            <a:r>
              <a:t>RVOS stands for Referring Video Object Segmentation. It is a vision-language task: given a video and a natural-language expression, the system finds the object the expression refers to and predicts a pixel-level mask for that same object throughout the video. For example, the phrase “the person who turns around and walks away” requires the model to identify which person matches the action and maintain that identity from frame to frame. It is not just object detection, because the output follows the object over time and traces its pixels. It also differs from semi-supervised video object segmentation, where the target is commonly specified by a mask in the first frame. In RVOS, language provides the target cue. The frames below turn that definition into a visual sequence: the words specify the instance, and the model returns one mask at each time step.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Target pacing: 01:30</a:t>
            </a:r>
          </a:p>
          <a:p>
            <a:endParaRPr dirty="0"/>
          </a:p>
          <a:p>
            <a:r>
              <a:rPr dirty="0"/>
              <a:t>The survey formulates a clip as a sequence of frames and a referring expression as a sequence of words. The model maps those two inputs to a sequence of binary masks, one per frame. It helps to think of three jobs. First, encode the video so the system can represent appearance and movement. Second, ground the language: connect nouns, attributes, verbs, and relations to candidate objects and moments. Third, decode masks and associate the same target over time. Different methods place their innovation in different parts of this pipeline. Some improve cross-modal fusion; some improve temporal query interaction; others introduce memory, motion-specific processing, or a reasoning model that selects where to segment. </a:t>
            </a:r>
            <a:r>
              <a:t>The bottom of the slide emphasizes the main distinction from semi-supervised VOS: no initial object mask is given. </a:t>
            </a:r>
            <a:r>
              <a:rPr dirty="0"/>
              <a:t>That means a system can track consistently and still fail if it selected the wrong instance from the sentence in the first place.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01:30</a:t>
            </a:r>
          </a:p>
          <a:p>
            <a:endParaRPr/>
          </a:p>
          <a:p>
            <a:r>
              <a:t>The survey organizes the field around failure modes. The first is static bias. Image-pretrained backbones can overuse appearance words such as color or category and underuse actions. If two people look alike, the verb may be the only discriminating clue. The second is occlusion and reappearance. When a target goes behind something or leaves the frame, a frame-wise model can lose identity. Memory helps, but memory can also keep an early incorrect association alive. Third, some expressions require reasoning rather than direct noun-to-object matching—for example, a role or outcome that is not visibly named. Large multimodal models can help infer semantics, but they add compute and may still ground the wrong object. Finally, processing every frame with global temporal attention can become costly on long clips. These challenges are related but not identical, so a single architectural change is unlikely to solve them all.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01:00</a:t>
            </a:r>
          </a:p>
          <a:p>
            <a:endParaRPr/>
          </a:p>
          <a:p>
            <a:r>
              <a:t>The paper reviews representative early pipelines, unified transformers, motion-centric methods, online and streaming systems, foundation-model adaptation, and reasoning-oriented frameworks. It compares design choices, datasets, metrics, and published results, while grouping challenges by the kinds of failures they cause. One distinctive contribution is the temporal-capability lens that I will explain next: temporal consistency, temporal understanding, and temporal reasoning. The paper proposes this as a way to organize methods; it is not an official taxonomy created by the individual methods. This matters because a model can be good at keeping a mask stable without understanding the action in the sentence, and it can understand an event semantically without being computationally practical. The case study uses SAMWISE to make foundation-model adaptation concrete.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01:30</a:t>
            </a:r>
          </a:p>
          <a:p>
            <a:endParaRPr/>
          </a:p>
          <a:p>
            <a:r>
              <a:t>This is a conceptual map rather than a strict year-by-year chronology. Early systems combined language grounding with video-object propagation, but often passed errors across a multi-stage pipeline. Unified transformer methods brought video and language into an end-to-end framework with cross-frame queries. Motion-centric work asked what changes when a query depends on action rather than static appearance; benchmarks such as MeViS made that weakness easier to see. Online systems address the fact that a live application cannot wait for future frames. More recent directions adapt pretrained segmentation models and use large multimodal models for implicit semantics. These directions overlap. A single method can use a foundation model and a memory bank, or a reasoning model plus a separate tracker. The important survey question is not only “which model scores highest?” but “what type of context does it keep, and what kind of language can it ground?”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01:20</a:t>
            </a:r>
          </a:p>
          <a:p>
            <a:endParaRPr/>
          </a:p>
          <a:p>
            <a:r>
              <a:t>The survey's proposed framework separates three capabilities. Level one is temporal consistency: propagate or preserve the mask for an already grounded object. Level two is temporal understanding: interpret motion or action so the system chooses the object that satisfies the verb. Level three is temporal reasoning: use event meaning, roles, or causal context when the target is not directly named by visible attributes. The example questions show how the demands become more complex. A model can perform well at level one and still confuse two visually similar people when only their actions distinguish them. A reasoning-oriented system may infer the right object but still need a robust mask decoder and tracker to delineate it across every frame. These levels are a lens for comparing capabilities, not a ranking where the highest level automatically solves lower-level segmentation and identity problems.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01:50</a:t>
            </a:r>
          </a:p>
          <a:p>
            <a:endParaRPr/>
          </a:p>
          <a:p>
            <a:r>
              <a:t>The methods in the survey can be compared by what they carry across frames. Query propagation keeps a compact state, such as an object query, and is attractive for efficient online processing. Explicit memory stores richer visual features or masks, which can help through occlusion and reappearance, but risks reinforcing stale associations. Motion-aware grounding represents verbs, trajectories, or temporal scales more directly; this is especially relevant when static appearance cannot identify the target. MLLM-based reasoning handles implicit semantics and multi-step descriptions by using broader language and world knowledge, then connects its answer to a segmentation component. The cost is added latency, memory, and a more complex pipeline. These approaches are not mutually exclusive. SAMWISE, for example, adapts SAM 2's memory while adding cross-modal temporal components. The design choice should follow the failure mode and the deployment setting, not simply a preference for a larger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01:20</a:t>
            </a:r>
          </a:p>
          <a:p>
            <a:endParaRPr/>
          </a:p>
          <a:p>
            <a:r>
              <a:t>The benchmarks do not ask exactly the same question. Ref-YouTube-VOS and Ref-DAVIS17 are standard referring-video benchmarks. MeViS emphasizes motion expressions, where a still frame may not be enough to identify the intended object. A2D-Sentences and JHMDB-Sentences focus on action-oriented videos and use measures such as mean average precision and IoU. ReVOS is designed for reasoning-style expressions. For mask quality, J measures region overlap and F measures contour accuracy; their mean, J&amp;F, is common in referring-video segmentation. This spread is valuable, but it complicates a single leaderboard. A system can gain from a stronger backbone on one dataset and still struggle on motion or implicit reasoning. Evaluations should report the split, backbone, metric, and relevant setup so readers can tell what a score means.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01:45</a:t>
            </a:r>
          </a:p>
          <a:p>
            <a:endParaRPr/>
          </a:p>
          <a:p>
            <a:r>
              <a:t>The survey's MeViS table gives a useful example of why benchmark context matters. It reports 37.2 for LMPM, 46.4 for DsHmp, and 43.5 and 44.5 for VISA with Chat-UniVi 7B and 13B configurations. These scores illustrate that motion-focused methods and reasoning-oriented systems can be competitive on a benchmark built around motion expressions. They should not be read as a controlled ranking: the backbone, training setup, and evaluation details can differ across original papers, and the survey notes that these results were compiled rather than reproduced. The table also reports method configurations, so it is important to preserve that provenance instead of collapsing each method into a single universal score. The broader point is qualitative: motion-centric evaluation exposes limitations that standard appearance-heavy settings may hide. In a final paper or defense, I would point the audience to the original source and exact setup for each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02:05</a:t>
            </a:r>
          </a:p>
          <a:p>
            <a:endParaRPr/>
          </a:p>
          <a:p>
            <a:r>
              <a:t>SAMWISE is the paper's anchor case study for adapting a promptable foundation model to RVOS. The design inserts lightweight Cross-Modal Temporal adapters into intermediate image and text encoder layers. These adapters let the visual and language representations incorporate temporal information without retraining the whole backbone. SAM 2 continues to own the main key-value memory bank. The additional Conditional Memory Encoder addresses a specific risk: a tracking system can cling to an early appearance cue even when the language describes an action or a target change. CME compares memory-conditioned evidence with the current-frame representation and can shift tracking focus when a newly appearing object better matches the expression. The survey reports fewer than five million additional learnable parameters, while also noting substantial GPU requirements for training and limits around open-ended world knowledge. The lesson is not simply “add memory.” It is “use memory, but let language and current evidence correct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01:45</a:t>
            </a:r>
          </a:p>
          <a:p>
            <a:endParaRPr/>
          </a:p>
          <a:p>
            <a:r>
              <a:t>The survey's comparative discussion highlights three recurring trade-offs. Offline systems can use the whole clip, including future frames, but their compute and memory costs grow with video length. Online systems are better suited to live input, but they cannot use future evidence and early mistakes can propagate. Query propagation is compact and efficient; explicit memory offers richer history through occlusion but can preserve stale target associations. Foundation-model adaptation can benefit from strong segmentation priors and lighter adapters, while MLLM systems can handle implicit or causal language but often add inference overhead and reduce throughput. These are not absolute rankings. A real-time robot may prefer causal updates even if an offline method scores higher. A reasoning benchmark may justify a larger model, while a long video on constrained hardware may not. The best design depends on the expression, the video horizon, and the budget for latency and memory.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01:30</a:t>
            </a:r>
          </a:p>
          <a:p>
            <a:endParaRPr/>
          </a:p>
          <a:p>
            <a:r>
              <a:t>The paper identifies four future directions. First, open-world multimodal prompts: move beyond a fixed text query or known category and combine language with visual and audio cues. Second, long-term causal and counterfactual reasoning: infer how an event unfolds, not just what is visible in one frame. Third, parameter-efficient online foundation models that can run under edge-device limits using techniques such as quantization, pruning, and sparse temporal attention. Fourth, uncertainty-aware grounding and target absence. If an object is out of frame or fully occluded, a system should not always force a mask onto a distractor. These directions combine into a practical requirement: a system must get the pixels right, revise its target as evidence changes, run within a real resource budget, and know when the answer is not currently visible. This is especially important when segmentation outputs feed into robotics or other decision-making systems.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pacing: 01:05</a:t>
            </a:r>
          </a:p>
          <a:p>
            <a:endParaRPr/>
          </a:p>
          <a:p>
            <a:r>
              <a:t>Close with three takeaways. First, RVOS is the combination of language grounding and temporal identity: the system must map a sentence to a mask trajectory. Second, the survey shows that different failures call for different mechanisms. Motion modeling, memory, streaming queries, and high-level reasoning each contribute, but each has limits. Third, progress should be evaluated across more than mask overlap. We need to know whether a method can handle motion and implicit events, operate within latency and memory budgets, and avoid false masks when a target is absent. The overall direction is from maintaining a mask to understanding which object the sentence means as events unfold. End with the question on the slide and invite discussion.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B2B"/>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77240" y="658368"/>
            <a:ext cx="1444752" cy="274320"/>
          </a:xfrm>
          <a:prstGeom prst="roundRect">
            <a:avLst>
              <a:gd name="adj" fmla="val 12000"/>
            </a:avLst>
          </a:prstGeom>
          <a:solidFill>
            <a:srgbClr val="173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681228"/>
            <a:ext cx="1298448" cy="210312"/>
          </a:xfrm>
          <a:prstGeom prst="rect">
            <a:avLst/>
          </a:prstGeom>
          <a:noFill/>
        </p:spPr>
        <p:txBody>
          <a:bodyPr wrap="square" lIns="0" tIns="0" rIns="0" bIns="0" anchor="ctr">
            <a:spAutoFit/>
          </a:bodyPr>
          <a:lstStyle/>
          <a:p>
            <a:pPr algn="ctr">
              <a:spcBef>
                <a:spcPts val="0"/>
              </a:spcBef>
              <a:spcAft>
                <a:spcPts val="0"/>
              </a:spcAft>
              <a:defRPr sz="900" b="1" i="0">
                <a:solidFill>
                  <a:srgbClr val="65D5CC"/>
                </a:solidFill>
                <a:latin typeface="Aptos"/>
              </a:defRPr>
            </a:pPr>
            <a:r>
              <a:t>20-MINUTE TALK</a:t>
            </a:r>
          </a:p>
        </p:txBody>
      </p:sp>
      <p:sp>
        <p:nvSpPr>
          <p:cNvPr id="5" name="TextBox 4"/>
          <p:cNvSpPr txBox="1"/>
          <p:nvPr/>
        </p:nvSpPr>
        <p:spPr>
          <a:xfrm>
            <a:off x="768096" y="1353312"/>
            <a:ext cx="5486400" cy="1993392"/>
          </a:xfrm>
          <a:prstGeom prst="rect">
            <a:avLst/>
          </a:prstGeom>
          <a:noFill/>
        </p:spPr>
        <p:txBody>
          <a:bodyPr wrap="square" lIns="0" tIns="0" rIns="0" bIns="0" anchor="t">
            <a:spAutoFit/>
          </a:bodyPr>
          <a:lstStyle/>
          <a:p>
            <a:pPr algn="l">
              <a:spcBef>
                <a:spcPts val="0"/>
              </a:spcBef>
              <a:spcAft>
                <a:spcPts val="0"/>
              </a:spcAft>
              <a:defRPr sz="3200" b="1" i="0">
                <a:solidFill>
                  <a:srgbClr val="FFFFFF"/>
                </a:solidFill>
                <a:latin typeface="Aptos Display"/>
              </a:defRPr>
            </a:pPr>
            <a:r>
              <a:t>A Survey of</a:t>
            </a:r>
            <a:br/>
            <a:r>
              <a:t>Referring Video</a:t>
            </a:r>
            <a:br/>
            <a:r>
              <a:t>Object Segmentation</a:t>
            </a:r>
          </a:p>
        </p:txBody>
      </p:sp>
      <p:sp>
        <p:nvSpPr>
          <p:cNvPr id="6" name="TextBox 5"/>
          <p:cNvSpPr txBox="1"/>
          <p:nvPr/>
        </p:nvSpPr>
        <p:spPr>
          <a:xfrm>
            <a:off x="804672" y="3703320"/>
            <a:ext cx="4892040" cy="658368"/>
          </a:xfrm>
          <a:prstGeom prst="rect">
            <a:avLst/>
          </a:prstGeom>
          <a:noFill/>
        </p:spPr>
        <p:txBody>
          <a:bodyPr wrap="square" lIns="0" tIns="0" rIns="0" bIns="0" anchor="t">
            <a:spAutoFit/>
          </a:bodyPr>
          <a:lstStyle/>
          <a:p>
            <a:pPr algn="l">
              <a:spcBef>
                <a:spcPts val="0"/>
              </a:spcBef>
              <a:spcAft>
                <a:spcPts val="0"/>
              </a:spcAft>
              <a:defRPr sz="1700" b="0" i="0">
                <a:solidFill>
                  <a:srgbClr val="B9C9D6"/>
                </a:solidFill>
                <a:latin typeface="Aptos"/>
              </a:defRPr>
            </a:pPr>
            <a:r>
              <a:t>From language-guided masks to temporal reasoning</a:t>
            </a:r>
          </a:p>
        </p:txBody>
      </p:sp>
      <p:cxnSp>
        <p:nvCxnSpPr>
          <p:cNvPr id="7" name="Connector 6"/>
          <p:cNvCxnSpPr/>
          <p:nvPr/>
        </p:nvCxnSpPr>
        <p:spPr>
          <a:xfrm>
            <a:off x="822960" y="4736592"/>
            <a:ext cx="4526280" cy="0"/>
          </a:xfrm>
          <a:prstGeom prst="line">
            <a:avLst/>
          </a:prstGeom>
          <a:ln w="12700">
            <a:solidFill>
              <a:srgbClr val="36506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04672" y="4992624"/>
            <a:ext cx="4297680" cy="320040"/>
          </a:xfrm>
          <a:prstGeom prst="rect">
            <a:avLst/>
          </a:prstGeom>
          <a:noFill/>
        </p:spPr>
        <p:txBody>
          <a:bodyPr wrap="square" lIns="0" tIns="0" rIns="0" bIns="0" anchor="t">
            <a:spAutoFit/>
          </a:bodyPr>
          <a:lstStyle/>
          <a:p>
            <a:pPr algn="l">
              <a:spcBef>
                <a:spcPts val="0"/>
              </a:spcBef>
              <a:spcAft>
                <a:spcPts val="0"/>
              </a:spcAft>
              <a:defRPr sz="1200" b="1" i="0">
                <a:solidFill>
                  <a:srgbClr val="FFFFFF"/>
                </a:solidFill>
                <a:latin typeface="Aptos"/>
              </a:defRPr>
            </a:pPr>
            <a:r>
              <a:t>Shishir Regmi  ·  Troy University</a:t>
            </a:r>
          </a:p>
        </p:txBody>
      </p:sp>
      <p:sp>
        <p:nvSpPr>
          <p:cNvPr id="9" name="TextBox 8"/>
          <p:cNvSpPr txBox="1"/>
          <p:nvPr/>
        </p:nvSpPr>
        <p:spPr>
          <a:xfrm>
            <a:off x="804672" y="5376672"/>
            <a:ext cx="4297680" cy="256032"/>
          </a:xfrm>
          <a:prstGeom prst="rect">
            <a:avLst/>
          </a:prstGeom>
          <a:noFill/>
        </p:spPr>
        <p:txBody>
          <a:bodyPr wrap="square" lIns="0" tIns="0" rIns="0" bIns="0" anchor="t">
            <a:spAutoFit/>
          </a:bodyPr>
          <a:lstStyle/>
          <a:p>
            <a:pPr algn="l">
              <a:spcBef>
                <a:spcPts val="0"/>
              </a:spcBef>
              <a:spcAft>
                <a:spcPts val="0"/>
              </a:spcAft>
              <a:defRPr sz="1000" b="0" i="0">
                <a:solidFill>
                  <a:srgbClr val="9BB0C0"/>
                </a:solidFill>
                <a:latin typeface="Aptos"/>
              </a:defRPr>
            </a:pPr>
            <a:r>
              <a:t>Computer Science</a:t>
            </a:r>
          </a:p>
        </p:txBody>
      </p:sp>
      <p:sp>
        <p:nvSpPr>
          <p:cNvPr id="10" name="TextBox 9"/>
          <p:cNvSpPr txBox="1"/>
          <p:nvPr/>
        </p:nvSpPr>
        <p:spPr>
          <a:xfrm>
            <a:off x="6537960" y="713232"/>
            <a:ext cx="4480560" cy="256032"/>
          </a:xfrm>
          <a:prstGeom prst="rect">
            <a:avLst/>
          </a:prstGeom>
          <a:noFill/>
        </p:spPr>
        <p:txBody>
          <a:bodyPr wrap="square" lIns="0" tIns="0" rIns="0" bIns="0" anchor="t">
            <a:spAutoFit/>
          </a:bodyPr>
          <a:lstStyle/>
          <a:p>
            <a:pPr algn="l">
              <a:spcBef>
                <a:spcPts val="0"/>
              </a:spcBef>
              <a:spcAft>
                <a:spcPts val="0"/>
              </a:spcAft>
              <a:defRPr sz="900" b="1" i="0">
                <a:solidFill>
                  <a:srgbClr val="65D5CC"/>
                </a:solidFill>
                <a:latin typeface="Aptos"/>
              </a:defRPr>
            </a:pPr>
            <a:r>
              <a:t>ONE SENTENCE  →  ONE TARGET, THROUGH TIME</a:t>
            </a:r>
          </a:p>
        </p:txBody>
      </p:sp>
      <p:sp>
        <p:nvSpPr>
          <p:cNvPr id="11" name="Rounded Rectangle 10"/>
          <p:cNvSpPr/>
          <p:nvPr/>
        </p:nvSpPr>
        <p:spPr>
          <a:xfrm>
            <a:off x="6547104"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638544" y="3008376"/>
            <a:ext cx="804672"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74276" y="1856231"/>
            <a:ext cx="132039" cy="132039"/>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49953" y="1995220"/>
            <a:ext cx="180685" cy="257129"/>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6829104"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95891"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6752661"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009790"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780458" y="1807585"/>
            <a:ext cx="319674" cy="319674"/>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06477"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186635"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H="1">
            <a:off x="7169627"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05690"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107265"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317028"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620256" y="3127248"/>
            <a:ext cx="841248" cy="164592"/>
          </a:xfrm>
          <a:prstGeom prst="rect">
            <a:avLst/>
          </a:prstGeom>
          <a:noFill/>
        </p:spPr>
        <p:txBody>
          <a:bodyPr wrap="square" lIns="0" tIns="0" rIns="0" bIns="0" anchor="t">
            <a:spAutoFit/>
          </a:bodyPr>
          <a:lstStyle/>
          <a:p>
            <a:pPr algn="ctr">
              <a:spcBef>
                <a:spcPts val="0"/>
              </a:spcBef>
              <a:spcAft>
                <a:spcPts val="0"/>
              </a:spcAft>
              <a:defRPr sz="700" b="1" i="0">
                <a:solidFill>
                  <a:srgbClr val="B8C9D6"/>
                </a:solidFill>
                <a:latin typeface="Aptos"/>
              </a:defRPr>
            </a:pPr>
            <a:r>
              <a:t>FRAME 01</a:t>
            </a:r>
          </a:p>
        </p:txBody>
      </p:sp>
      <p:sp>
        <p:nvSpPr>
          <p:cNvPr id="27" name="Right Arrow 26"/>
          <p:cNvSpPr/>
          <p:nvPr/>
        </p:nvSpPr>
        <p:spPr>
          <a:xfrm>
            <a:off x="7552944" y="2130552"/>
            <a:ext cx="155448" cy="146304"/>
          </a:xfrm>
          <a:prstGeom prst="rightArrow">
            <a:avLst/>
          </a:prstGeom>
          <a:solidFill>
            <a:srgbClr val="65D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726679"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7818119" y="3008376"/>
            <a:ext cx="804673"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053852" y="1920239"/>
            <a:ext cx="132039" cy="132039"/>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029529" y="2059228"/>
            <a:ext cx="180685" cy="257129"/>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8008680" y="2281610"/>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175467" y="2281610"/>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932237" y="2121773"/>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189366" y="2121773"/>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960034" y="1871593"/>
            <a:ext cx="319674" cy="319674"/>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386053"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366211"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flipH="1">
            <a:off x="8349203"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485266"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286841"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496604"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799831" y="3127248"/>
            <a:ext cx="841248" cy="164592"/>
          </a:xfrm>
          <a:prstGeom prst="rect">
            <a:avLst/>
          </a:prstGeom>
          <a:noFill/>
        </p:spPr>
        <p:txBody>
          <a:bodyPr wrap="square" lIns="0" tIns="0" rIns="0" bIns="0" anchor="t">
            <a:spAutoFit/>
          </a:bodyPr>
          <a:lstStyle/>
          <a:p>
            <a:pPr algn="ctr">
              <a:spcBef>
                <a:spcPts val="0"/>
              </a:spcBef>
              <a:spcAft>
                <a:spcPts val="0"/>
              </a:spcAft>
              <a:defRPr sz="700" b="1" i="0">
                <a:solidFill>
                  <a:srgbClr val="B8C9D6"/>
                </a:solidFill>
                <a:latin typeface="Aptos"/>
              </a:defRPr>
            </a:pPr>
            <a:r>
              <a:t>FRAME 02</a:t>
            </a:r>
          </a:p>
        </p:txBody>
      </p:sp>
      <p:sp>
        <p:nvSpPr>
          <p:cNvPr id="44" name="Right Arrow 43"/>
          <p:cNvSpPr/>
          <p:nvPr/>
        </p:nvSpPr>
        <p:spPr>
          <a:xfrm>
            <a:off x="8732519" y="2130552"/>
            <a:ext cx="155448" cy="146304"/>
          </a:xfrm>
          <a:prstGeom prst="rightArrow">
            <a:avLst/>
          </a:prstGeom>
          <a:solidFill>
            <a:srgbClr val="65D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906256"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8997696" y="3008376"/>
            <a:ext cx="804672"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9233428" y="1920239"/>
            <a:ext cx="132039" cy="132039"/>
          </a:xfrm>
          <a:prstGeom prst="ellipse">
            <a:avLst/>
          </a:prstGeom>
          <a:solidFill>
            <a:srgbClr val="F5A4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209105" y="2059228"/>
            <a:ext cx="180685" cy="257129"/>
          </a:xfrm>
          <a:prstGeom prst="roundRect">
            <a:avLst>
              <a:gd name="adj" fmla="val 12000"/>
            </a:avLst>
          </a:prstGeom>
          <a:solidFill>
            <a:srgbClr val="F5A4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flipH="1">
            <a:off x="9188256" y="2281610"/>
            <a:ext cx="55596" cy="180686"/>
          </a:xfrm>
          <a:prstGeom prst="line">
            <a:avLst/>
          </a:prstGeom>
          <a:ln w="38100">
            <a:solidFill>
              <a:srgbClr val="F5A49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355043" y="2281610"/>
            <a:ext cx="55596" cy="180686"/>
          </a:xfrm>
          <a:prstGeom prst="line">
            <a:avLst/>
          </a:prstGeom>
          <a:ln w="38100">
            <a:solidFill>
              <a:srgbClr val="F5A49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111813" y="2121773"/>
            <a:ext cx="118140" cy="97292"/>
          </a:xfrm>
          <a:prstGeom prst="line">
            <a:avLst/>
          </a:prstGeom>
          <a:ln w="31750">
            <a:solidFill>
              <a:srgbClr val="F5A49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368942" y="2121773"/>
            <a:ext cx="118140" cy="97292"/>
          </a:xfrm>
          <a:prstGeom prst="line">
            <a:avLst/>
          </a:prstGeom>
          <a:ln w="31750">
            <a:solidFill>
              <a:srgbClr val="F5A49D"/>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9565629"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9545787"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flipH="1">
            <a:off x="9528779"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664842"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466417"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676180"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979408" y="3127248"/>
            <a:ext cx="841248" cy="164592"/>
          </a:xfrm>
          <a:prstGeom prst="rect">
            <a:avLst/>
          </a:prstGeom>
          <a:noFill/>
        </p:spPr>
        <p:txBody>
          <a:bodyPr wrap="square" lIns="0" tIns="0" rIns="0" bIns="0" anchor="t">
            <a:spAutoFit/>
          </a:bodyPr>
          <a:lstStyle/>
          <a:p>
            <a:pPr algn="ctr">
              <a:spcBef>
                <a:spcPts val="0"/>
              </a:spcBef>
              <a:spcAft>
                <a:spcPts val="0"/>
              </a:spcAft>
              <a:defRPr sz="700" b="1" i="0">
                <a:solidFill>
                  <a:srgbClr val="B8C9D6"/>
                </a:solidFill>
                <a:latin typeface="Aptos"/>
              </a:defRPr>
            </a:pPr>
            <a:r>
              <a:t>FRAME 03</a:t>
            </a:r>
          </a:p>
        </p:txBody>
      </p:sp>
      <p:sp>
        <p:nvSpPr>
          <p:cNvPr id="60" name="Right Arrow 59"/>
          <p:cNvSpPr/>
          <p:nvPr/>
        </p:nvSpPr>
        <p:spPr>
          <a:xfrm>
            <a:off x="9912096" y="2130552"/>
            <a:ext cx="155448" cy="146304"/>
          </a:xfrm>
          <a:prstGeom prst="rightArrow">
            <a:avLst/>
          </a:prstGeom>
          <a:solidFill>
            <a:srgbClr val="65D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10085832"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2" name="Connector 61"/>
          <p:cNvCxnSpPr/>
          <p:nvPr/>
        </p:nvCxnSpPr>
        <p:spPr>
          <a:xfrm>
            <a:off x="10177272" y="3008376"/>
            <a:ext cx="804672"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10413004" y="1856231"/>
            <a:ext cx="132039" cy="132039"/>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10388681" y="1995220"/>
            <a:ext cx="180685" cy="257129"/>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5" name="Connector 64"/>
          <p:cNvCxnSpPr/>
          <p:nvPr/>
        </p:nvCxnSpPr>
        <p:spPr>
          <a:xfrm flipH="1">
            <a:off x="10367832"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534619"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0291389"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548518"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0319186" y="1807585"/>
            <a:ext cx="319674" cy="319674"/>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0745205"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10725363"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flipH="1">
            <a:off x="10708355"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844418"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0645993"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855756"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10158984" y="3127248"/>
            <a:ext cx="841248" cy="164592"/>
          </a:xfrm>
          <a:prstGeom prst="rect">
            <a:avLst/>
          </a:prstGeom>
          <a:noFill/>
        </p:spPr>
        <p:txBody>
          <a:bodyPr wrap="square" lIns="0" tIns="0" rIns="0" bIns="0" anchor="t">
            <a:spAutoFit/>
          </a:bodyPr>
          <a:lstStyle/>
          <a:p>
            <a:pPr algn="ctr">
              <a:spcBef>
                <a:spcPts val="0"/>
              </a:spcBef>
              <a:spcAft>
                <a:spcPts val="0"/>
              </a:spcAft>
              <a:defRPr sz="700" b="1" i="0">
                <a:solidFill>
                  <a:srgbClr val="B8C9D6"/>
                </a:solidFill>
                <a:latin typeface="Aptos"/>
              </a:defRPr>
            </a:pPr>
            <a:r>
              <a:t>FRAME 04</a:t>
            </a:r>
          </a:p>
        </p:txBody>
      </p:sp>
      <p:sp>
        <p:nvSpPr>
          <p:cNvPr id="77" name="Rounded Rectangle 76"/>
          <p:cNvSpPr/>
          <p:nvPr/>
        </p:nvSpPr>
        <p:spPr>
          <a:xfrm>
            <a:off x="6537960" y="3822191"/>
            <a:ext cx="4535424" cy="749808"/>
          </a:xfrm>
          <a:prstGeom prst="roundRect">
            <a:avLst>
              <a:gd name="adj" fmla="val 12000"/>
            </a:avLst>
          </a:prstGeom>
          <a:solidFill>
            <a:srgbClr val="173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748272" y="3977639"/>
            <a:ext cx="4142232" cy="438912"/>
          </a:xfrm>
          <a:prstGeom prst="rect">
            <a:avLst/>
          </a:prstGeom>
          <a:noFill/>
        </p:spPr>
        <p:txBody>
          <a:bodyPr wrap="square" lIns="0" tIns="0" rIns="0" bIns="0" anchor="ctr">
            <a:spAutoFit/>
          </a:bodyPr>
          <a:lstStyle/>
          <a:p>
            <a:pPr algn="ctr">
              <a:spcBef>
                <a:spcPts val="0"/>
              </a:spcBef>
              <a:spcAft>
                <a:spcPts val="0"/>
              </a:spcAft>
              <a:defRPr sz="1400" b="0" i="0">
                <a:solidFill>
                  <a:srgbClr val="FFFFFF"/>
                </a:solidFill>
                <a:latin typeface="Aptos"/>
              </a:defRPr>
            </a:pPr>
            <a:r>
              <a:t>“the person who turns around and walks away”</a:t>
            </a:r>
          </a:p>
        </p:txBody>
      </p:sp>
      <p:sp>
        <p:nvSpPr>
          <p:cNvPr id="79" name="TextBox 78"/>
          <p:cNvSpPr txBox="1"/>
          <p:nvPr/>
        </p:nvSpPr>
        <p:spPr>
          <a:xfrm>
            <a:off x="6565392" y="5074920"/>
            <a:ext cx="4498848" cy="530352"/>
          </a:xfrm>
          <a:prstGeom prst="rect">
            <a:avLst/>
          </a:prstGeom>
          <a:noFill/>
        </p:spPr>
        <p:txBody>
          <a:bodyPr wrap="square" lIns="0" tIns="0" rIns="0" bIns="0" anchor="t">
            <a:spAutoFit/>
          </a:bodyPr>
          <a:lstStyle/>
          <a:p>
            <a:pPr algn="l">
              <a:spcBef>
                <a:spcPts val="0"/>
              </a:spcBef>
              <a:spcAft>
                <a:spcPts val="0"/>
              </a:spcAft>
              <a:defRPr sz="1200" b="0" i="0">
                <a:solidFill>
                  <a:srgbClr val="B9C9D6"/>
                </a:solidFill>
                <a:latin typeface="Aptos"/>
              </a:defRPr>
            </a:pPr>
            <a:r>
              <a:t>The central challenge: understand the words,</a:t>
            </a:r>
            <a:br/>
            <a:r>
              <a:t>then keep the right identity across frames.</a:t>
            </a:r>
          </a:p>
        </p:txBody>
      </p:sp>
      <p:sp>
        <p:nvSpPr>
          <p:cNvPr id="80" name="TextBox 79"/>
          <p:cNvSpPr txBox="1"/>
          <p:nvPr/>
        </p:nvSpPr>
        <p:spPr>
          <a:xfrm>
            <a:off x="822960" y="6510528"/>
            <a:ext cx="4572000" cy="164592"/>
          </a:xfrm>
          <a:prstGeom prst="rect">
            <a:avLst/>
          </a:prstGeom>
          <a:noFill/>
        </p:spPr>
        <p:txBody>
          <a:bodyPr wrap="square" lIns="0" tIns="0" rIns="0" bIns="0" anchor="t">
            <a:spAutoFit/>
          </a:bodyPr>
          <a:lstStyle/>
          <a:p>
            <a:pPr algn="l">
              <a:spcBef>
                <a:spcPts val="0"/>
              </a:spcBef>
              <a:spcAft>
                <a:spcPts val="0"/>
              </a:spcAft>
              <a:defRPr sz="800" b="0" i="0">
                <a:solidFill>
                  <a:srgbClr val="9BB0C0"/>
                </a:solidFill>
                <a:latin typeface="Aptos"/>
              </a:defRPr>
            </a:pPr>
            <a:r>
              <a:t>Source: uploaded survey paper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MOTIVATION</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What is RVOS?</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Sections I–III.</a:t>
            </a:r>
          </a:p>
        </p:txBody>
      </p:sp>
      <p:sp>
        <p:nvSpPr>
          <p:cNvPr id="8" name="Rounded Rectangle 7"/>
          <p:cNvSpPr/>
          <p:nvPr/>
        </p:nvSpPr>
        <p:spPr>
          <a:xfrm>
            <a:off x="749808" y="1591056"/>
            <a:ext cx="10049256" cy="786384"/>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709928"/>
            <a:ext cx="9628632" cy="219456"/>
          </a:xfrm>
          <a:prstGeom prst="rect">
            <a:avLst/>
          </a:prstGeom>
          <a:noFill/>
        </p:spPr>
        <p:txBody>
          <a:bodyPr wrap="square" lIns="0" tIns="0" rIns="0" bIns="0" anchor="t">
            <a:spAutoFit/>
          </a:bodyPr>
          <a:lstStyle/>
          <a:p>
            <a:pPr algn="ctr">
              <a:spcBef>
                <a:spcPts val="0"/>
              </a:spcBef>
              <a:spcAft>
                <a:spcPts val="0"/>
              </a:spcAft>
              <a:defRPr sz="1400" b="1" i="0">
                <a:solidFill>
                  <a:srgbClr val="087E78"/>
                </a:solidFill>
                <a:latin typeface="Aptos"/>
              </a:defRPr>
            </a:pPr>
            <a:r>
              <a:t>Referring Video Object Segmentation (RVOS)</a:t>
            </a:r>
          </a:p>
        </p:txBody>
      </p:sp>
      <p:sp>
        <p:nvSpPr>
          <p:cNvPr id="10" name="TextBox 9"/>
          <p:cNvSpPr txBox="1"/>
          <p:nvPr/>
        </p:nvSpPr>
        <p:spPr>
          <a:xfrm>
            <a:off x="960120" y="1984248"/>
            <a:ext cx="9628632" cy="310896"/>
          </a:xfrm>
          <a:prstGeom prst="rect">
            <a:avLst/>
          </a:prstGeom>
          <a:noFill/>
        </p:spPr>
        <p:txBody>
          <a:bodyPr wrap="square" lIns="0" tIns="0" rIns="0" bIns="0" anchor="ctr">
            <a:spAutoFit/>
          </a:bodyPr>
          <a:lstStyle/>
          <a:p>
            <a:pPr algn="ctr">
              <a:spcBef>
                <a:spcPts val="0"/>
              </a:spcBef>
              <a:spcAft>
                <a:spcPts val="0"/>
              </a:spcAft>
              <a:defRPr sz="1250" b="0" i="0">
                <a:solidFill>
                  <a:srgbClr val="122438"/>
                </a:solidFill>
                <a:latin typeface="Aptos"/>
              </a:defRPr>
            </a:pPr>
            <a:r>
              <a:t>Given a video and a natural-language description, identify the referred object and predict its pixel mask across frames.</a:t>
            </a:r>
          </a:p>
        </p:txBody>
      </p:sp>
      <p:sp>
        <p:nvSpPr>
          <p:cNvPr id="11" name="Rounded Rectangle 10"/>
          <p:cNvSpPr/>
          <p:nvPr/>
        </p:nvSpPr>
        <p:spPr>
          <a:xfrm>
            <a:off x="749808" y="2542032"/>
            <a:ext cx="10049256" cy="457200"/>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50976" y="2624328"/>
            <a:ext cx="9646920" cy="283464"/>
          </a:xfrm>
          <a:prstGeom prst="rect">
            <a:avLst/>
          </a:prstGeom>
          <a:noFill/>
        </p:spPr>
        <p:txBody>
          <a:bodyPr wrap="square" lIns="0" tIns="0" rIns="0" bIns="0" anchor="ctr">
            <a:spAutoFit/>
          </a:bodyPr>
          <a:lstStyle/>
          <a:p>
            <a:pPr algn="ctr">
              <a:spcBef>
                <a:spcPts val="0"/>
              </a:spcBef>
              <a:spcAft>
                <a:spcPts val="0"/>
              </a:spcAft>
              <a:defRPr sz="1400" b="1" i="0">
                <a:solidFill>
                  <a:srgbClr val="FFFFFF"/>
                </a:solidFill>
                <a:latin typeface="Aptos"/>
              </a:defRPr>
            </a:pPr>
            <a:r>
              <a:t>Example query: “the person who turns around and walks away”</a:t>
            </a:r>
          </a:p>
        </p:txBody>
      </p:sp>
      <p:sp>
        <p:nvSpPr>
          <p:cNvPr id="13" name="TextBox 12"/>
          <p:cNvSpPr txBox="1"/>
          <p:nvPr/>
        </p:nvSpPr>
        <p:spPr>
          <a:xfrm>
            <a:off x="777240" y="3127248"/>
            <a:ext cx="3017520" cy="219456"/>
          </a:xfrm>
          <a:prstGeom prst="rect">
            <a:avLst/>
          </a:prstGeom>
          <a:noFill/>
        </p:spPr>
        <p:txBody>
          <a:bodyPr wrap="square" lIns="0" tIns="0" rIns="0" bIns="0" anchor="t">
            <a:spAutoFit/>
          </a:bodyPr>
          <a:lstStyle/>
          <a:p>
            <a:pPr algn="l">
              <a:spcBef>
                <a:spcPts val="0"/>
              </a:spcBef>
              <a:spcAft>
                <a:spcPts val="0"/>
              </a:spcAft>
              <a:defRPr sz="900" b="1" i="0">
                <a:solidFill>
                  <a:srgbClr val="5E6D7B"/>
                </a:solidFill>
                <a:latin typeface="Aptos"/>
              </a:defRPr>
            </a:pPr>
            <a:r>
              <a:t>VIDEO FRAMES</a:t>
            </a:r>
          </a:p>
        </p:txBody>
      </p:sp>
      <p:sp>
        <p:nvSpPr>
          <p:cNvPr id="14" name="Rounded Rectangle 13"/>
          <p:cNvSpPr/>
          <p:nvPr/>
        </p:nvSpPr>
        <p:spPr>
          <a:xfrm>
            <a:off x="749808"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41247"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29030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27046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H="1">
            <a:off x="125345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8952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19109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0086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21377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004822"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988819"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H="1">
            <a:off x="1975103"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84831"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924811" y="3982211"/>
            <a:ext cx="77725"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93975" y="3982211"/>
            <a:ext cx="77725"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1247" y="5001768"/>
            <a:ext cx="1554480" cy="164592"/>
          </a:xfrm>
          <a:prstGeom prst="rect">
            <a:avLst/>
          </a:prstGeom>
          <a:noFill/>
        </p:spPr>
        <p:txBody>
          <a:bodyPr wrap="square" lIns="0" tIns="0" rIns="0" bIns="0" anchor="t">
            <a:spAutoFit/>
          </a:bodyPr>
          <a:lstStyle/>
          <a:p>
            <a:pPr algn="ctr">
              <a:spcBef>
                <a:spcPts val="0"/>
              </a:spcBef>
              <a:spcAft>
                <a:spcPts val="0"/>
              </a:spcAft>
              <a:defRPr sz="900" b="1" i="0">
                <a:solidFill>
                  <a:srgbClr val="5E6D7B"/>
                </a:solidFill>
                <a:latin typeface="Aptos"/>
              </a:defRPr>
            </a:pPr>
            <a:r>
              <a:t>t = 1</a:t>
            </a:r>
          </a:p>
        </p:txBody>
      </p:sp>
      <p:sp>
        <p:nvSpPr>
          <p:cNvPr id="30" name="Right Arrow 29"/>
          <p:cNvSpPr/>
          <p:nvPr/>
        </p:nvSpPr>
        <p:spPr>
          <a:xfrm>
            <a:off x="2514600"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2834640"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2926080"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53058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351074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flipH="1">
            <a:off x="349373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62980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343137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4114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45405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089653"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4073651"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H="1">
            <a:off x="4059935"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169663"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009644"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178807"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926080" y="5001768"/>
            <a:ext cx="1554480" cy="164592"/>
          </a:xfrm>
          <a:prstGeom prst="rect">
            <a:avLst/>
          </a:prstGeom>
          <a:noFill/>
        </p:spPr>
        <p:txBody>
          <a:bodyPr wrap="square" lIns="0" tIns="0" rIns="0" bIns="0" anchor="t">
            <a:spAutoFit/>
          </a:bodyPr>
          <a:lstStyle/>
          <a:p>
            <a:pPr algn="ctr">
              <a:spcBef>
                <a:spcPts val="0"/>
              </a:spcBef>
              <a:spcAft>
                <a:spcPts val="0"/>
              </a:spcAft>
              <a:defRPr sz="900" b="1" i="0">
                <a:solidFill>
                  <a:srgbClr val="5E6D7B"/>
                </a:solidFill>
                <a:latin typeface="Aptos"/>
              </a:defRPr>
            </a:pPr>
            <a:r>
              <a:t>t = 2</a:t>
            </a:r>
          </a:p>
        </p:txBody>
      </p:sp>
      <p:sp>
        <p:nvSpPr>
          <p:cNvPr id="47" name="Right Arrow 46"/>
          <p:cNvSpPr/>
          <p:nvPr/>
        </p:nvSpPr>
        <p:spPr>
          <a:xfrm>
            <a:off x="4599432"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919472"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5010912"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2514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570530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flipH="1">
            <a:off x="568829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82436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62593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83570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564861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6174486"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6158483"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flipH="1">
            <a:off x="6144768"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254496"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6094476"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263640"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10912" y="5001768"/>
            <a:ext cx="1554480" cy="164592"/>
          </a:xfrm>
          <a:prstGeom prst="rect">
            <a:avLst/>
          </a:prstGeom>
          <a:noFill/>
        </p:spPr>
        <p:txBody>
          <a:bodyPr wrap="square" lIns="0" tIns="0" rIns="0" bIns="0" anchor="t">
            <a:spAutoFit/>
          </a:bodyPr>
          <a:lstStyle/>
          <a:p>
            <a:pPr algn="ctr">
              <a:spcBef>
                <a:spcPts val="0"/>
              </a:spcBef>
              <a:spcAft>
                <a:spcPts val="0"/>
              </a:spcAft>
              <a:defRPr sz="900" b="1" i="0">
                <a:solidFill>
                  <a:srgbClr val="5E6D7B"/>
                </a:solidFill>
                <a:latin typeface="Aptos"/>
              </a:defRPr>
            </a:pPr>
            <a:r>
              <a:t>t = 3</a:t>
            </a:r>
          </a:p>
        </p:txBody>
      </p:sp>
      <p:sp>
        <p:nvSpPr>
          <p:cNvPr id="64" name="Right Arrow 63"/>
          <p:cNvSpPr/>
          <p:nvPr/>
        </p:nvSpPr>
        <p:spPr>
          <a:xfrm>
            <a:off x="6684264"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7004304"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7095744"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764538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762554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9" name="Connector 68"/>
          <p:cNvCxnSpPr/>
          <p:nvPr/>
        </p:nvCxnSpPr>
        <p:spPr>
          <a:xfrm flipH="1">
            <a:off x="760853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74460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754617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75594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756885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8259318"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8243316"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flipH="1">
            <a:off x="8229600"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339327"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8179308" y="3982211"/>
            <a:ext cx="77723"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348472"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7095744" y="5001768"/>
            <a:ext cx="1554480" cy="164592"/>
          </a:xfrm>
          <a:prstGeom prst="rect">
            <a:avLst/>
          </a:prstGeom>
          <a:noFill/>
        </p:spPr>
        <p:txBody>
          <a:bodyPr wrap="square" lIns="0" tIns="0" rIns="0" bIns="0" anchor="t">
            <a:spAutoFit/>
          </a:bodyPr>
          <a:lstStyle/>
          <a:p>
            <a:pPr algn="ctr">
              <a:spcBef>
                <a:spcPts val="0"/>
              </a:spcBef>
              <a:spcAft>
                <a:spcPts val="0"/>
              </a:spcAft>
              <a:defRPr sz="900" b="1" i="0">
                <a:solidFill>
                  <a:srgbClr val="5E6D7B"/>
                </a:solidFill>
                <a:latin typeface="Aptos"/>
              </a:defRPr>
            </a:pPr>
            <a:r>
              <a:t>t = 4</a:t>
            </a:r>
          </a:p>
        </p:txBody>
      </p:sp>
      <p:sp>
        <p:nvSpPr>
          <p:cNvPr id="81" name="Right Arrow 80"/>
          <p:cNvSpPr/>
          <p:nvPr/>
        </p:nvSpPr>
        <p:spPr>
          <a:xfrm>
            <a:off x="8769096"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9089136"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9180576"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92477"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9472635"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flipH="1">
            <a:off x="9455627"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591690"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9393265"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603028"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9415942"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10344150"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10328148"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3" name="Connector 92"/>
          <p:cNvCxnSpPr/>
          <p:nvPr/>
        </p:nvCxnSpPr>
        <p:spPr>
          <a:xfrm flipH="1">
            <a:off x="10314432"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424159"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0264140" y="3982211"/>
            <a:ext cx="77723"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433304"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9180576" y="5001768"/>
            <a:ext cx="1554480" cy="164592"/>
          </a:xfrm>
          <a:prstGeom prst="rect">
            <a:avLst/>
          </a:prstGeom>
          <a:noFill/>
        </p:spPr>
        <p:txBody>
          <a:bodyPr wrap="square" lIns="0" tIns="0" rIns="0" bIns="0" anchor="t">
            <a:spAutoFit/>
          </a:bodyPr>
          <a:lstStyle/>
          <a:p>
            <a:pPr algn="ctr">
              <a:spcBef>
                <a:spcPts val="0"/>
              </a:spcBef>
              <a:spcAft>
                <a:spcPts val="0"/>
              </a:spcAft>
              <a:defRPr sz="900" b="1" i="0">
                <a:solidFill>
                  <a:srgbClr val="5E6D7B"/>
                </a:solidFill>
                <a:latin typeface="Aptos"/>
              </a:defRPr>
            </a:pPr>
            <a:r>
              <a:t>t = 5</a:t>
            </a:r>
          </a:p>
        </p:txBody>
      </p:sp>
      <p:sp>
        <p:nvSpPr>
          <p:cNvPr id="98" name="Rounded Rectangle 97"/>
          <p:cNvSpPr/>
          <p:nvPr/>
        </p:nvSpPr>
        <p:spPr>
          <a:xfrm>
            <a:off x="749808" y="5422392"/>
            <a:ext cx="10049256" cy="566928"/>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950976" y="5541264"/>
            <a:ext cx="9646920" cy="310896"/>
          </a:xfrm>
          <a:prstGeom prst="rect">
            <a:avLst/>
          </a:prstGeom>
          <a:noFill/>
        </p:spPr>
        <p:txBody>
          <a:bodyPr wrap="square" lIns="0" tIns="0" rIns="0" bIns="0" anchor="ctr">
            <a:spAutoFit/>
          </a:bodyPr>
          <a:lstStyle/>
          <a:p>
            <a:pPr algn="ctr">
              <a:spcBef>
                <a:spcPts val="0"/>
              </a:spcBef>
              <a:spcAft>
                <a:spcPts val="0"/>
              </a:spcAft>
              <a:defRPr sz="1400" b="1" i="0">
                <a:solidFill>
                  <a:srgbClr val="122438"/>
                </a:solidFill>
                <a:latin typeface="Aptos"/>
              </a:defRPr>
            </a:pPr>
            <a:r>
              <a:t>Output: a pixel-level mask for the same referred instance across the video</a:t>
            </a:r>
          </a:p>
        </p:txBody>
      </p:sp>
      <p:sp>
        <p:nvSpPr>
          <p:cNvPr id="100" name="TextBox 99"/>
          <p:cNvSpPr txBox="1"/>
          <p:nvPr/>
        </p:nvSpPr>
        <p:spPr>
          <a:xfrm>
            <a:off x="777240" y="6099048"/>
            <a:ext cx="10195560" cy="201168"/>
          </a:xfrm>
          <a:prstGeom prst="rect">
            <a:avLst/>
          </a:prstGeom>
          <a:noFill/>
        </p:spPr>
        <p:txBody>
          <a:bodyPr wrap="square" lIns="0" tIns="0" rIns="0" bIns="0" anchor="t">
            <a:spAutoFit/>
          </a:bodyPr>
          <a:lstStyle/>
          <a:p>
            <a:pPr algn="ctr">
              <a:spcBef>
                <a:spcPts val="0"/>
              </a:spcBef>
              <a:spcAft>
                <a:spcPts val="0"/>
              </a:spcAft>
              <a:defRPr sz="1050" b="0" i="0">
                <a:solidFill>
                  <a:srgbClr val="5E6D7B"/>
                </a:solidFill>
                <a:latin typeface="Aptos"/>
              </a:defRPr>
            </a:pPr>
            <a:r>
              <a:t>Unlike semi-supervised VOS, RVOS specifies the target with language instead of a first-frame mask.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TASK FORMULATION</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The RVOS pipeline has three jobs</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III.</a:t>
            </a:r>
          </a:p>
        </p:txBody>
      </p:sp>
      <p:sp>
        <p:nvSpPr>
          <p:cNvPr id="8" name="Rounded Rectangle 7"/>
          <p:cNvSpPr/>
          <p:nvPr/>
        </p:nvSpPr>
        <p:spPr>
          <a:xfrm>
            <a:off x="713232" y="1874519"/>
            <a:ext cx="3127248" cy="1883664"/>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2057400"/>
            <a:ext cx="1920240"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2080260"/>
            <a:ext cx="1773936" cy="210312"/>
          </a:xfrm>
          <a:prstGeom prst="rect">
            <a:avLst/>
          </a:prstGeom>
          <a:noFill/>
        </p:spPr>
        <p:txBody>
          <a:bodyPr wrap="square" lIns="0" tIns="0" rIns="0" bIns="0" anchor="ctr">
            <a:spAutoFit/>
          </a:bodyPr>
          <a:lstStyle/>
          <a:p>
            <a:pPr algn="ctr">
              <a:spcBef>
                <a:spcPts val="0"/>
              </a:spcBef>
              <a:spcAft>
                <a:spcPts val="0"/>
              </a:spcAft>
              <a:defRPr sz="800" b="1" i="0">
                <a:solidFill>
                  <a:srgbClr val="5A8DEE"/>
                </a:solidFill>
                <a:latin typeface="Aptos"/>
              </a:defRPr>
            </a:pPr>
            <a:r>
              <a:t>01  ENCODE THE VIDEO</a:t>
            </a:r>
          </a:p>
        </p:txBody>
      </p:sp>
      <p:sp>
        <p:nvSpPr>
          <p:cNvPr id="11" name="TextBox 10"/>
          <p:cNvSpPr txBox="1"/>
          <p:nvPr/>
        </p:nvSpPr>
        <p:spPr>
          <a:xfrm>
            <a:off x="941832" y="2578608"/>
            <a:ext cx="2670048" cy="841248"/>
          </a:xfrm>
          <a:prstGeom prst="rect">
            <a:avLst/>
          </a:prstGeom>
          <a:noFill/>
        </p:spPr>
        <p:txBody>
          <a:bodyPr wrap="square" lIns="0" tIns="0" rIns="0" bIns="0" anchor="t">
            <a:spAutoFit/>
          </a:bodyPr>
          <a:lstStyle/>
          <a:p>
            <a:pPr algn="l">
              <a:spcBef>
                <a:spcPts val="0"/>
              </a:spcBef>
              <a:spcAft>
                <a:spcPts val="0"/>
              </a:spcAft>
              <a:defRPr sz="1500" b="0" i="0">
                <a:solidFill>
                  <a:srgbClr val="172A3A"/>
                </a:solidFill>
                <a:latin typeface="Aptos"/>
              </a:defRPr>
            </a:pPr>
            <a:r>
              <a:t>Extract spatial features from frames and retain information that can connect them.</a:t>
            </a:r>
          </a:p>
        </p:txBody>
      </p:sp>
      <p:sp>
        <p:nvSpPr>
          <p:cNvPr id="12" name="Rounded Rectangle 11"/>
          <p:cNvSpPr/>
          <p:nvPr/>
        </p:nvSpPr>
        <p:spPr>
          <a:xfrm>
            <a:off x="4517136" y="1874519"/>
            <a:ext cx="3127248" cy="1883664"/>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718304" y="2057400"/>
            <a:ext cx="192024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91456" y="2080260"/>
            <a:ext cx="1773936" cy="210312"/>
          </a:xfrm>
          <a:prstGeom prst="rect">
            <a:avLst/>
          </a:prstGeom>
          <a:noFill/>
        </p:spPr>
        <p:txBody>
          <a:bodyPr wrap="square" lIns="0" tIns="0" rIns="0" bIns="0" anchor="ctr">
            <a:spAutoFit/>
          </a:bodyPr>
          <a:lstStyle/>
          <a:p>
            <a:pPr algn="ctr">
              <a:spcBef>
                <a:spcPts val="0"/>
              </a:spcBef>
              <a:spcAft>
                <a:spcPts val="0"/>
              </a:spcAft>
              <a:defRPr sz="800" b="1" i="0">
                <a:solidFill>
                  <a:srgbClr val="087E78"/>
                </a:solidFill>
                <a:latin typeface="Aptos"/>
              </a:defRPr>
            </a:pPr>
            <a:r>
              <a:t>02  GROUND THE LANGUAGE</a:t>
            </a:r>
          </a:p>
        </p:txBody>
      </p:sp>
      <p:sp>
        <p:nvSpPr>
          <p:cNvPr id="15" name="TextBox 14"/>
          <p:cNvSpPr txBox="1"/>
          <p:nvPr/>
        </p:nvSpPr>
        <p:spPr>
          <a:xfrm>
            <a:off x="4745736" y="2578608"/>
            <a:ext cx="2670048" cy="841248"/>
          </a:xfrm>
          <a:prstGeom prst="rect">
            <a:avLst/>
          </a:prstGeom>
          <a:noFill/>
        </p:spPr>
        <p:txBody>
          <a:bodyPr wrap="square" lIns="0" tIns="0" rIns="0" bIns="0" anchor="t">
            <a:spAutoFit/>
          </a:bodyPr>
          <a:lstStyle/>
          <a:p>
            <a:pPr algn="l">
              <a:spcBef>
                <a:spcPts val="0"/>
              </a:spcBef>
              <a:spcAft>
                <a:spcPts val="0"/>
              </a:spcAft>
              <a:defRPr sz="1500" b="0" i="0">
                <a:solidFill>
                  <a:srgbClr val="172A3A"/>
                </a:solidFill>
                <a:latin typeface="Aptos"/>
              </a:defRPr>
            </a:pPr>
            <a:r>
              <a:t>Match words and phrases to candidate objects, actions, and temporal evidence.</a:t>
            </a:r>
          </a:p>
        </p:txBody>
      </p:sp>
      <p:sp>
        <p:nvSpPr>
          <p:cNvPr id="16" name="Rounded Rectangle 15"/>
          <p:cNvSpPr/>
          <p:nvPr/>
        </p:nvSpPr>
        <p:spPr>
          <a:xfrm>
            <a:off x="8321040" y="1874519"/>
            <a:ext cx="3127248" cy="1883664"/>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522208" y="2057400"/>
            <a:ext cx="1920240"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0" y="2080260"/>
            <a:ext cx="1773936" cy="210312"/>
          </a:xfrm>
          <a:prstGeom prst="rect">
            <a:avLst/>
          </a:prstGeom>
          <a:noFill/>
        </p:spPr>
        <p:txBody>
          <a:bodyPr wrap="square" lIns="0" tIns="0" rIns="0" bIns="0" anchor="ctr">
            <a:spAutoFit/>
          </a:bodyPr>
          <a:lstStyle/>
          <a:p>
            <a:pPr algn="ctr">
              <a:spcBef>
                <a:spcPts val="0"/>
              </a:spcBef>
              <a:spcAft>
                <a:spcPts val="0"/>
              </a:spcAft>
              <a:defRPr sz="800" b="1" i="0">
                <a:solidFill>
                  <a:srgbClr val="F07167"/>
                </a:solidFill>
                <a:latin typeface="Aptos"/>
              </a:defRPr>
            </a:pPr>
            <a:r>
              <a:t>03  PREDICT MASKS</a:t>
            </a:r>
          </a:p>
        </p:txBody>
      </p:sp>
      <p:sp>
        <p:nvSpPr>
          <p:cNvPr id="19" name="TextBox 18"/>
          <p:cNvSpPr txBox="1"/>
          <p:nvPr/>
        </p:nvSpPr>
        <p:spPr>
          <a:xfrm>
            <a:off x="8549640" y="2578608"/>
            <a:ext cx="2670048" cy="841248"/>
          </a:xfrm>
          <a:prstGeom prst="rect">
            <a:avLst/>
          </a:prstGeom>
          <a:noFill/>
        </p:spPr>
        <p:txBody>
          <a:bodyPr wrap="square" lIns="0" tIns="0" rIns="0" bIns="0" anchor="t">
            <a:spAutoFit/>
          </a:bodyPr>
          <a:lstStyle/>
          <a:p>
            <a:pPr algn="l">
              <a:spcBef>
                <a:spcPts val="0"/>
              </a:spcBef>
              <a:spcAft>
                <a:spcPts val="0"/>
              </a:spcAft>
              <a:defRPr sz="1500" b="0" i="0">
                <a:solidFill>
                  <a:srgbClr val="172A3A"/>
                </a:solidFill>
                <a:latin typeface="Aptos"/>
              </a:defRPr>
            </a:pPr>
            <a:r>
              <a:t>Decode one target mask per frame and keep the same instance over time.</a:t>
            </a:r>
          </a:p>
        </p:txBody>
      </p:sp>
      <p:sp>
        <p:nvSpPr>
          <p:cNvPr id="20" name="Right Arrow 19"/>
          <p:cNvSpPr/>
          <p:nvPr/>
        </p:nvSpPr>
        <p:spPr>
          <a:xfrm>
            <a:off x="3977639" y="2596896"/>
            <a:ext cx="347472"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7781544" y="2596896"/>
            <a:ext cx="347472"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13232" y="4224528"/>
            <a:ext cx="3950208" cy="1188720"/>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8" y="4416552"/>
            <a:ext cx="3520440" cy="201168"/>
          </a:xfrm>
          <a:prstGeom prst="rect">
            <a:avLst/>
          </a:prstGeom>
          <a:noFill/>
        </p:spPr>
        <p:txBody>
          <a:bodyPr wrap="square" lIns="0" tIns="0" rIns="0" bIns="0" anchor="t">
            <a:spAutoFit/>
          </a:bodyPr>
          <a:lstStyle/>
          <a:p>
            <a:pPr algn="l">
              <a:spcBef>
                <a:spcPts val="0"/>
              </a:spcBef>
              <a:spcAft>
                <a:spcPts val="0"/>
              </a:spcAft>
              <a:defRPr sz="900" b="1" i="0">
                <a:solidFill>
                  <a:srgbClr val="65D5CC"/>
                </a:solidFill>
                <a:latin typeface="Aptos"/>
              </a:defRPr>
            </a:pPr>
            <a:r>
              <a:t>INPUT</a:t>
            </a:r>
          </a:p>
        </p:txBody>
      </p:sp>
      <p:sp>
        <p:nvSpPr>
          <p:cNvPr id="24" name="TextBox 23"/>
          <p:cNvSpPr txBox="1"/>
          <p:nvPr/>
        </p:nvSpPr>
        <p:spPr>
          <a:xfrm>
            <a:off x="932688" y="4700016"/>
            <a:ext cx="3511296" cy="411480"/>
          </a:xfrm>
          <a:prstGeom prst="rect">
            <a:avLst/>
          </a:prstGeom>
          <a:noFill/>
        </p:spPr>
        <p:txBody>
          <a:bodyPr wrap="square" lIns="0" tIns="0" rIns="0" bIns="0" anchor="t">
            <a:spAutoFit/>
          </a:bodyPr>
          <a:lstStyle/>
          <a:p>
            <a:pPr algn="l">
              <a:spcBef>
                <a:spcPts val="0"/>
              </a:spcBef>
              <a:spcAft>
                <a:spcPts val="0"/>
              </a:spcAft>
              <a:defRPr sz="1800" b="1" i="0">
                <a:solidFill>
                  <a:srgbClr val="FFFFFF"/>
                </a:solidFill>
                <a:latin typeface="Aptos"/>
              </a:defRPr>
            </a:pPr>
            <a:r>
              <a:t>Video V  +  expression E</a:t>
            </a:r>
          </a:p>
        </p:txBody>
      </p:sp>
      <p:sp>
        <p:nvSpPr>
          <p:cNvPr id="25" name="Right Arrow 24"/>
          <p:cNvSpPr/>
          <p:nvPr/>
        </p:nvSpPr>
        <p:spPr>
          <a:xfrm>
            <a:off x="4910328" y="4617720"/>
            <a:ext cx="475488" cy="310896"/>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614416" y="4224528"/>
            <a:ext cx="5833872" cy="11887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852160" y="4416552"/>
            <a:ext cx="5394960" cy="201168"/>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OUTPUT</a:t>
            </a:r>
          </a:p>
        </p:txBody>
      </p:sp>
      <p:sp>
        <p:nvSpPr>
          <p:cNvPr id="28" name="Rounded Rectangle 27"/>
          <p:cNvSpPr/>
          <p:nvPr/>
        </p:nvSpPr>
        <p:spPr>
          <a:xfrm>
            <a:off x="5870448"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172200"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126480"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848856"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150608"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104888"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827264"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129016"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083296"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805672"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107424"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061704"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784080"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085832"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10040112"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9808" y="5779008"/>
            <a:ext cx="10698480" cy="329184"/>
          </a:xfrm>
          <a:prstGeom prst="rect">
            <a:avLst/>
          </a:prstGeom>
          <a:noFill/>
        </p:spPr>
        <p:txBody>
          <a:bodyPr wrap="square" lIns="0" tIns="0" rIns="0" bIns="0" anchor="t">
            <a:spAutoFit/>
          </a:bodyPr>
          <a:lstStyle/>
          <a:p>
            <a:pPr algn="ctr">
              <a:spcBef>
                <a:spcPts val="0"/>
              </a:spcBef>
              <a:spcAft>
                <a:spcPts val="0"/>
              </a:spcAft>
              <a:defRPr sz="1500" b="1" i="0">
                <a:solidFill>
                  <a:srgbClr val="122438"/>
                </a:solidFill>
                <a:latin typeface="Aptos"/>
              </a:defRPr>
            </a:pPr>
            <a:r>
              <a:t>Unlike first-frame-mask VOS: the initial target cue is a natural-language description.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FAILURE MODES</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Why language + video is hard</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IV, Table I.</a:t>
            </a:r>
          </a:p>
        </p:txBody>
      </p:sp>
      <p:sp>
        <p:nvSpPr>
          <p:cNvPr id="8" name="Rounded Rectangle 7"/>
          <p:cNvSpPr/>
          <p:nvPr/>
        </p:nvSpPr>
        <p:spPr>
          <a:xfrm>
            <a:off x="713232" y="1700784"/>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32688" y="1947672"/>
            <a:ext cx="438912" cy="438912"/>
          </a:xfrm>
          <a:prstGeom prst="ellipse">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1956816"/>
            <a:ext cx="438912" cy="365760"/>
          </a:xfrm>
          <a:prstGeom prst="rect">
            <a:avLst/>
          </a:prstGeom>
          <a:noFill/>
        </p:spPr>
        <p:txBody>
          <a:bodyPr wrap="square" lIns="0" tIns="0" rIns="0" bIns="0" anchor="ctr">
            <a:spAutoFit/>
          </a:bodyPr>
          <a:lstStyle/>
          <a:p>
            <a:pPr algn="ctr">
              <a:spcBef>
                <a:spcPts val="0"/>
              </a:spcBef>
              <a:spcAft>
                <a:spcPts val="0"/>
              </a:spcAft>
              <a:defRPr sz="1000" b="1" i="0">
                <a:solidFill>
                  <a:srgbClr val="F07167"/>
                </a:solidFill>
                <a:latin typeface="Aptos"/>
              </a:defRPr>
            </a:pPr>
            <a:r>
              <a:t>01</a:t>
            </a:r>
          </a:p>
        </p:txBody>
      </p:sp>
      <p:sp>
        <p:nvSpPr>
          <p:cNvPr id="11" name="TextBox 10"/>
          <p:cNvSpPr txBox="1"/>
          <p:nvPr/>
        </p:nvSpPr>
        <p:spPr>
          <a:xfrm>
            <a:off x="1517904" y="1929384"/>
            <a:ext cx="4297680" cy="384048"/>
          </a:xfrm>
          <a:prstGeom prst="rect">
            <a:avLst/>
          </a:prstGeom>
          <a:noFill/>
        </p:spPr>
        <p:txBody>
          <a:bodyPr wrap="square" lIns="0" tIns="0" rIns="0" bIns="0" anchor="t">
            <a:spAutoFit/>
          </a:bodyPr>
          <a:lstStyle/>
          <a:p>
            <a:pPr algn="l">
              <a:spcBef>
                <a:spcPts val="0"/>
              </a:spcBef>
              <a:spcAft>
                <a:spcPts val="0"/>
              </a:spcAft>
              <a:defRPr sz="1800" b="1" i="0">
                <a:solidFill>
                  <a:srgbClr val="122438"/>
                </a:solidFill>
                <a:latin typeface="Aptos"/>
              </a:defRPr>
            </a:pPr>
            <a:r>
              <a:t>Static bias</a:t>
            </a:r>
          </a:p>
        </p:txBody>
      </p:sp>
      <p:sp>
        <p:nvSpPr>
          <p:cNvPr id="12" name="TextBox 11"/>
          <p:cNvSpPr txBox="1"/>
          <p:nvPr/>
        </p:nvSpPr>
        <p:spPr>
          <a:xfrm>
            <a:off x="1517904" y="2459736"/>
            <a:ext cx="4242816" cy="768096"/>
          </a:xfrm>
          <a:prstGeom prst="rect">
            <a:avLst/>
          </a:prstGeom>
          <a:noFill/>
        </p:spPr>
        <p:txBody>
          <a:bodyPr wrap="square" lIns="0" tIns="0" rIns="0" bIns="0" anchor="t">
            <a:spAutoFit/>
          </a:bodyPr>
          <a:lstStyle/>
          <a:p>
            <a:pPr algn="l">
              <a:spcBef>
                <a:spcPts val="0"/>
              </a:spcBef>
              <a:spcAft>
                <a:spcPts val="0"/>
              </a:spcAft>
              <a:defRPr sz="1300" b="0" i="0">
                <a:solidFill>
                  <a:srgbClr val="5E6D7B"/>
                </a:solidFill>
                <a:latin typeface="Aptos"/>
              </a:defRPr>
            </a:pPr>
            <a:r>
              <a:t>The model follows a salient noun or color, even when the verb identifies a different instance.</a:t>
            </a:r>
          </a:p>
        </p:txBody>
      </p:sp>
      <p:sp>
        <p:nvSpPr>
          <p:cNvPr id="13" name="Rounded Rectangle 12"/>
          <p:cNvSpPr/>
          <p:nvPr/>
        </p:nvSpPr>
        <p:spPr>
          <a:xfrm>
            <a:off x="6181344" y="1700784"/>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00800" y="1947672"/>
            <a:ext cx="438912" cy="438912"/>
          </a:xfrm>
          <a:prstGeom prst="ellipse">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956816"/>
            <a:ext cx="438912" cy="365760"/>
          </a:xfrm>
          <a:prstGeom prst="rect">
            <a:avLst/>
          </a:prstGeom>
          <a:noFill/>
        </p:spPr>
        <p:txBody>
          <a:bodyPr wrap="square" lIns="0" tIns="0" rIns="0" bIns="0" anchor="ctr">
            <a:spAutoFit/>
          </a:bodyPr>
          <a:lstStyle/>
          <a:p>
            <a:pPr algn="ctr">
              <a:spcBef>
                <a:spcPts val="0"/>
              </a:spcBef>
              <a:spcAft>
                <a:spcPts val="0"/>
              </a:spcAft>
              <a:defRPr sz="1000" b="1" i="0">
                <a:solidFill>
                  <a:srgbClr val="5A8DEE"/>
                </a:solidFill>
                <a:latin typeface="Aptos"/>
              </a:defRPr>
            </a:pPr>
            <a:r>
              <a:t>02</a:t>
            </a:r>
          </a:p>
        </p:txBody>
      </p:sp>
      <p:sp>
        <p:nvSpPr>
          <p:cNvPr id="16" name="TextBox 15"/>
          <p:cNvSpPr txBox="1"/>
          <p:nvPr/>
        </p:nvSpPr>
        <p:spPr>
          <a:xfrm>
            <a:off x="6986016" y="1929384"/>
            <a:ext cx="4297680" cy="384048"/>
          </a:xfrm>
          <a:prstGeom prst="rect">
            <a:avLst/>
          </a:prstGeom>
          <a:noFill/>
        </p:spPr>
        <p:txBody>
          <a:bodyPr wrap="square" lIns="0" tIns="0" rIns="0" bIns="0" anchor="t">
            <a:spAutoFit/>
          </a:bodyPr>
          <a:lstStyle/>
          <a:p>
            <a:pPr algn="l">
              <a:spcBef>
                <a:spcPts val="0"/>
              </a:spcBef>
              <a:spcAft>
                <a:spcPts val="0"/>
              </a:spcAft>
              <a:defRPr sz="1800" b="1" i="0">
                <a:solidFill>
                  <a:srgbClr val="122438"/>
                </a:solidFill>
                <a:latin typeface="Aptos"/>
              </a:defRPr>
            </a:pPr>
            <a:r>
              <a:t>Occlusion &amp; reappearance</a:t>
            </a:r>
          </a:p>
        </p:txBody>
      </p:sp>
      <p:sp>
        <p:nvSpPr>
          <p:cNvPr id="17" name="TextBox 16"/>
          <p:cNvSpPr txBox="1"/>
          <p:nvPr/>
        </p:nvSpPr>
        <p:spPr>
          <a:xfrm>
            <a:off x="6986016" y="2459736"/>
            <a:ext cx="4242816" cy="768096"/>
          </a:xfrm>
          <a:prstGeom prst="rect">
            <a:avLst/>
          </a:prstGeom>
          <a:noFill/>
        </p:spPr>
        <p:txBody>
          <a:bodyPr wrap="square" lIns="0" tIns="0" rIns="0" bIns="0" anchor="t">
            <a:spAutoFit/>
          </a:bodyPr>
          <a:lstStyle/>
          <a:p>
            <a:pPr algn="l">
              <a:spcBef>
                <a:spcPts val="0"/>
              </a:spcBef>
              <a:spcAft>
                <a:spcPts val="0"/>
              </a:spcAft>
              <a:defRPr sz="1300" b="0" i="0">
                <a:solidFill>
                  <a:srgbClr val="5E6D7B"/>
                </a:solidFill>
                <a:latin typeface="Aptos"/>
              </a:defRPr>
            </a:pPr>
            <a:r>
              <a:t>The target disappears; memory can be lost—or an old wrong match can persist.</a:t>
            </a:r>
          </a:p>
        </p:txBody>
      </p:sp>
      <p:sp>
        <p:nvSpPr>
          <p:cNvPr id="18" name="Rounded Rectangle 17"/>
          <p:cNvSpPr/>
          <p:nvPr/>
        </p:nvSpPr>
        <p:spPr>
          <a:xfrm>
            <a:off x="713232" y="3767328"/>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32688" y="4014216"/>
            <a:ext cx="438912" cy="438912"/>
          </a:xfrm>
          <a:prstGeom prst="ellipse">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4023360"/>
            <a:ext cx="438912" cy="365760"/>
          </a:xfrm>
          <a:prstGeom prst="rect">
            <a:avLst/>
          </a:prstGeom>
          <a:noFill/>
        </p:spPr>
        <p:txBody>
          <a:bodyPr wrap="square" lIns="0" tIns="0" rIns="0" bIns="0" anchor="ctr">
            <a:spAutoFit/>
          </a:bodyPr>
          <a:lstStyle/>
          <a:p>
            <a:pPr algn="ctr">
              <a:spcBef>
                <a:spcPts val="0"/>
              </a:spcBef>
              <a:spcAft>
                <a:spcPts val="0"/>
              </a:spcAft>
              <a:defRPr sz="1000" b="1" i="0">
                <a:solidFill>
                  <a:srgbClr val="B17A00"/>
                </a:solidFill>
                <a:latin typeface="Aptos"/>
              </a:defRPr>
            </a:pPr>
            <a:r>
              <a:t>03</a:t>
            </a:r>
          </a:p>
        </p:txBody>
      </p:sp>
      <p:sp>
        <p:nvSpPr>
          <p:cNvPr id="21" name="TextBox 20"/>
          <p:cNvSpPr txBox="1"/>
          <p:nvPr/>
        </p:nvSpPr>
        <p:spPr>
          <a:xfrm>
            <a:off x="1517904" y="3995928"/>
            <a:ext cx="4297680" cy="384048"/>
          </a:xfrm>
          <a:prstGeom prst="rect">
            <a:avLst/>
          </a:prstGeom>
          <a:noFill/>
        </p:spPr>
        <p:txBody>
          <a:bodyPr wrap="square" lIns="0" tIns="0" rIns="0" bIns="0" anchor="t">
            <a:spAutoFit/>
          </a:bodyPr>
          <a:lstStyle/>
          <a:p>
            <a:pPr algn="l">
              <a:spcBef>
                <a:spcPts val="0"/>
              </a:spcBef>
              <a:spcAft>
                <a:spcPts val="0"/>
              </a:spcAft>
              <a:defRPr sz="1800" b="1" i="0">
                <a:solidFill>
                  <a:srgbClr val="122438"/>
                </a:solidFill>
                <a:latin typeface="Aptos"/>
              </a:defRPr>
            </a:pPr>
            <a:r>
              <a:t>Implicit reasoning</a:t>
            </a:r>
          </a:p>
        </p:txBody>
      </p:sp>
      <p:sp>
        <p:nvSpPr>
          <p:cNvPr id="22" name="TextBox 21"/>
          <p:cNvSpPr txBox="1"/>
          <p:nvPr/>
        </p:nvSpPr>
        <p:spPr>
          <a:xfrm>
            <a:off x="1517904" y="4526280"/>
            <a:ext cx="4242816" cy="768096"/>
          </a:xfrm>
          <a:prstGeom prst="rect">
            <a:avLst/>
          </a:prstGeom>
          <a:noFill/>
        </p:spPr>
        <p:txBody>
          <a:bodyPr wrap="square" lIns="0" tIns="0" rIns="0" bIns="0" anchor="t">
            <a:spAutoFit/>
          </a:bodyPr>
          <a:lstStyle/>
          <a:p>
            <a:pPr algn="l">
              <a:spcBef>
                <a:spcPts val="0"/>
              </a:spcBef>
              <a:spcAft>
                <a:spcPts val="0"/>
              </a:spcAft>
              <a:defRPr sz="1300" b="0" i="0">
                <a:solidFill>
                  <a:srgbClr val="5E6D7B"/>
                </a:solidFill>
                <a:latin typeface="Aptos"/>
              </a:defRPr>
            </a:pPr>
            <a:r>
              <a:t>The query names a role or outcome with no direct visual noun to match.</a:t>
            </a:r>
          </a:p>
        </p:txBody>
      </p:sp>
      <p:sp>
        <p:nvSpPr>
          <p:cNvPr id="23" name="Rounded Rectangle 22"/>
          <p:cNvSpPr/>
          <p:nvPr/>
        </p:nvSpPr>
        <p:spPr>
          <a:xfrm>
            <a:off x="6181344" y="3767328"/>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00800" y="4014216"/>
            <a:ext cx="438912" cy="438912"/>
          </a:xfrm>
          <a:prstGeom prst="ellipse">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4023360"/>
            <a:ext cx="438912" cy="365760"/>
          </a:xfrm>
          <a:prstGeom prst="rect">
            <a:avLst/>
          </a:prstGeom>
          <a:noFill/>
        </p:spPr>
        <p:txBody>
          <a:bodyPr wrap="square" lIns="0" tIns="0" rIns="0" bIns="0" anchor="ctr">
            <a:spAutoFit/>
          </a:bodyPr>
          <a:lstStyle/>
          <a:p>
            <a:pPr algn="ctr">
              <a:spcBef>
                <a:spcPts val="0"/>
              </a:spcBef>
              <a:spcAft>
                <a:spcPts val="0"/>
              </a:spcAft>
              <a:defRPr sz="1000" b="1" i="0">
                <a:solidFill>
                  <a:srgbClr val="087E78"/>
                </a:solidFill>
                <a:latin typeface="Aptos"/>
              </a:defRPr>
            </a:pPr>
            <a:r>
              <a:t>04</a:t>
            </a:r>
          </a:p>
        </p:txBody>
      </p:sp>
      <p:sp>
        <p:nvSpPr>
          <p:cNvPr id="26" name="TextBox 25"/>
          <p:cNvSpPr txBox="1"/>
          <p:nvPr/>
        </p:nvSpPr>
        <p:spPr>
          <a:xfrm>
            <a:off x="6986016" y="3995928"/>
            <a:ext cx="4297680" cy="384048"/>
          </a:xfrm>
          <a:prstGeom prst="rect">
            <a:avLst/>
          </a:prstGeom>
          <a:noFill/>
        </p:spPr>
        <p:txBody>
          <a:bodyPr wrap="square" lIns="0" tIns="0" rIns="0" bIns="0" anchor="t">
            <a:spAutoFit/>
          </a:bodyPr>
          <a:lstStyle/>
          <a:p>
            <a:pPr algn="l">
              <a:spcBef>
                <a:spcPts val="0"/>
              </a:spcBef>
              <a:spcAft>
                <a:spcPts val="0"/>
              </a:spcAft>
              <a:defRPr sz="1800" b="1" i="0">
                <a:solidFill>
                  <a:srgbClr val="122438"/>
                </a:solidFill>
                <a:latin typeface="Aptos"/>
              </a:defRPr>
            </a:pPr>
            <a:r>
              <a:t>Long-video cost</a:t>
            </a:r>
          </a:p>
        </p:txBody>
      </p:sp>
      <p:sp>
        <p:nvSpPr>
          <p:cNvPr id="27" name="TextBox 26"/>
          <p:cNvSpPr txBox="1"/>
          <p:nvPr/>
        </p:nvSpPr>
        <p:spPr>
          <a:xfrm>
            <a:off x="6986016" y="4526280"/>
            <a:ext cx="4242816" cy="768096"/>
          </a:xfrm>
          <a:prstGeom prst="rect">
            <a:avLst/>
          </a:prstGeom>
          <a:noFill/>
        </p:spPr>
        <p:txBody>
          <a:bodyPr wrap="square" lIns="0" tIns="0" rIns="0" bIns="0" anchor="t">
            <a:spAutoFit/>
          </a:bodyPr>
          <a:lstStyle/>
          <a:p>
            <a:pPr algn="l">
              <a:spcBef>
                <a:spcPts val="0"/>
              </a:spcBef>
              <a:spcAft>
                <a:spcPts val="0"/>
              </a:spcAft>
              <a:defRPr sz="1300" b="0" i="0">
                <a:solidFill>
                  <a:srgbClr val="5E6D7B"/>
                </a:solidFill>
                <a:latin typeface="Aptos"/>
              </a:defRPr>
            </a:pPr>
            <a:r>
              <a:t>Global attention sees more context, but compute and memory rise with clip length.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SURVEY MAP</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What this survey adds</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Sections II–III and VII.</a:t>
            </a:r>
          </a:p>
        </p:txBody>
      </p:sp>
      <p:sp>
        <p:nvSpPr>
          <p:cNvPr id="8" name="Rounded Rectangle 7"/>
          <p:cNvSpPr/>
          <p:nvPr/>
        </p:nvSpPr>
        <p:spPr>
          <a:xfrm>
            <a:off x="713232" y="1719072"/>
            <a:ext cx="3319272" cy="4233672"/>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1984248"/>
            <a:ext cx="2761488" cy="256032"/>
          </a:xfrm>
          <a:prstGeom prst="rect">
            <a:avLst/>
          </a:prstGeom>
          <a:noFill/>
        </p:spPr>
        <p:txBody>
          <a:bodyPr wrap="square" lIns="0" tIns="0" rIns="0" bIns="0" anchor="t">
            <a:spAutoFit/>
          </a:bodyPr>
          <a:lstStyle/>
          <a:p>
            <a:pPr algn="l">
              <a:spcBef>
                <a:spcPts val="0"/>
              </a:spcBef>
              <a:spcAft>
                <a:spcPts val="0"/>
              </a:spcAft>
              <a:defRPr sz="1000" b="1" i="0">
                <a:solidFill>
                  <a:srgbClr val="65D5CC"/>
                </a:solidFill>
                <a:latin typeface="Aptos"/>
              </a:defRPr>
            </a:pPr>
            <a:r>
              <a:t>SCOPE</a:t>
            </a:r>
          </a:p>
        </p:txBody>
      </p:sp>
      <p:sp>
        <p:nvSpPr>
          <p:cNvPr id="10" name="TextBox 9"/>
          <p:cNvSpPr txBox="1"/>
          <p:nvPr/>
        </p:nvSpPr>
        <p:spPr>
          <a:xfrm>
            <a:off x="987552" y="2450592"/>
            <a:ext cx="2761488" cy="987552"/>
          </a:xfrm>
          <a:prstGeom prst="rect">
            <a:avLst/>
          </a:prstGeom>
          <a:noFill/>
        </p:spPr>
        <p:txBody>
          <a:bodyPr wrap="square" lIns="0" tIns="0" rIns="0" bIns="0" anchor="t">
            <a:spAutoFit/>
          </a:bodyPr>
          <a:lstStyle/>
          <a:p>
            <a:pPr algn="l">
              <a:spcBef>
                <a:spcPts val="0"/>
              </a:spcBef>
              <a:spcAft>
                <a:spcPts val="0"/>
              </a:spcAft>
              <a:defRPr sz="1900" b="1" i="0">
                <a:solidFill>
                  <a:srgbClr val="FFFFFF"/>
                </a:solidFill>
                <a:latin typeface="Aptos Display"/>
              </a:defRPr>
            </a:pPr>
            <a:r>
              <a:t>From mask</a:t>
            </a:r>
            <a:br/>
            <a:r>
              <a:t>propagation to</a:t>
            </a:r>
            <a:br/>
            <a:r>
              <a:t>multimodal reasoning</a:t>
            </a:r>
          </a:p>
        </p:txBody>
      </p:sp>
      <p:cxnSp>
        <p:nvCxnSpPr>
          <p:cNvPr id="11" name="Connector 10"/>
          <p:cNvCxnSpPr/>
          <p:nvPr/>
        </p:nvCxnSpPr>
        <p:spPr>
          <a:xfrm>
            <a:off x="987552" y="3675887"/>
            <a:ext cx="2715768" cy="0"/>
          </a:xfrm>
          <a:prstGeom prst="line">
            <a:avLst/>
          </a:prstGeom>
          <a:ln w="12700">
            <a:solidFill>
              <a:srgbClr val="36506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87552" y="3913632"/>
            <a:ext cx="2697480" cy="1344168"/>
          </a:xfrm>
          <a:prstGeom prst="rect">
            <a:avLst/>
          </a:prstGeom>
          <a:noFill/>
        </p:spPr>
        <p:txBody>
          <a:bodyPr wrap="square" lIns="0" tIns="0" rIns="0" bIns="0" anchor="t">
            <a:spAutoFit/>
          </a:bodyPr>
          <a:lstStyle/>
          <a:p>
            <a:pPr algn="l">
              <a:spcBef>
                <a:spcPts val="0"/>
              </a:spcBef>
              <a:spcAft>
                <a:spcPts val="0"/>
              </a:spcAft>
              <a:defRPr sz="1400" b="0" i="0">
                <a:solidFill>
                  <a:srgbClr val="C5D3DD"/>
                </a:solidFill>
                <a:latin typeface="Aptos"/>
              </a:defRPr>
            </a:pPr>
            <a:r>
              <a:t>Methods • failure modes</a:t>
            </a:r>
            <a:br/>
            <a:r>
              <a:t>Benchmarks • trade-offs</a:t>
            </a:r>
            <a:br/>
            <a:r>
              <a:t>SAMWISE case study</a:t>
            </a:r>
          </a:p>
        </p:txBody>
      </p:sp>
      <p:sp>
        <p:nvSpPr>
          <p:cNvPr id="13" name="Rounded Rectangle 12"/>
          <p:cNvSpPr/>
          <p:nvPr/>
        </p:nvSpPr>
        <p:spPr>
          <a:xfrm>
            <a:off x="4370832" y="1810512"/>
            <a:ext cx="7114032" cy="11430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0" y="1993392"/>
            <a:ext cx="5029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45152" y="2016252"/>
            <a:ext cx="356616" cy="210312"/>
          </a:xfrm>
          <a:prstGeom prst="rect">
            <a:avLst/>
          </a:prstGeom>
          <a:noFill/>
        </p:spPr>
        <p:txBody>
          <a:bodyPr wrap="square" lIns="0" tIns="0" rIns="0" bIns="0" anchor="ctr">
            <a:spAutoFit/>
          </a:bodyPr>
          <a:lstStyle/>
          <a:p>
            <a:pPr algn="ctr">
              <a:spcBef>
                <a:spcPts val="0"/>
              </a:spcBef>
              <a:spcAft>
                <a:spcPts val="0"/>
              </a:spcAft>
              <a:defRPr sz="900" b="1" i="0">
                <a:solidFill>
                  <a:srgbClr val="087E78"/>
                </a:solidFill>
                <a:latin typeface="Aptos"/>
              </a:defRPr>
            </a:pPr>
            <a:r>
              <a:t>01</a:t>
            </a:r>
          </a:p>
        </p:txBody>
      </p:sp>
      <p:sp>
        <p:nvSpPr>
          <p:cNvPr id="16" name="TextBox 15"/>
          <p:cNvSpPr txBox="1"/>
          <p:nvPr/>
        </p:nvSpPr>
        <p:spPr>
          <a:xfrm>
            <a:off x="5248656" y="1975104"/>
            <a:ext cx="5852160" cy="283464"/>
          </a:xfrm>
          <a:prstGeom prst="rect">
            <a:avLst/>
          </a:prstGeom>
          <a:noFill/>
        </p:spPr>
        <p:txBody>
          <a:bodyPr wrap="square" lIns="0" tIns="0" rIns="0" bIns="0" anchor="t">
            <a:spAutoFit/>
          </a:bodyPr>
          <a:lstStyle/>
          <a:p>
            <a:pPr algn="l">
              <a:spcBef>
                <a:spcPts val="0"/>
              </a:spcBef>
              <a:spcAft>
                <a:spcPts val="0"/>
              </a:spcAft>
              <a:defRPr sz="1600" b="1" i="0">
                <a:solidFill>
                  <a:srgbClr val="122438"/>
                </a:solidFill>
                <a:latin typeface="Aptos"/>
              </a:defRPr>
            </a:pPr>
            <a:r>
              <a:t>Organizes methods by mechanism</a:t>
            </a:r>
          </a:p>
        </p:txBody>
      </p:sp>
      <p:sp>
        <p:nvSpPr>
          <p:cNvPr id="17" name="TextBox 16"/>
          <p:cNvSpPr txBox="1"/>
          <p:nvPr/>
        </p:nvSpPr>
        <p:spPr>
          <a:xfrm>
            <a:off x="5248656" y="2340864"/>
            <a:ext cx="5852160" cy="448056"/>
          </a:xfrm>
          <a:prstGeom prst="rect">
            <a:avLst/>
          </a:prstGeom>
          <a:noFill/>
        </p:spPr>
        <p:txBody>
          <a:bodyPr wrap="square" lIns="0" tIns="0" rIns="0" bIns="0" anchor="t">
            <a:spAutoFit/>
          </a:bodyPr>
          <a:lstStyle/>
          <a:p>
            <a:pPr algn="l">
              <a:spcBef>
                <a:spcPts val="0"/>
              </a:spcBef>
              <a:spcAft>
                <a:spcPts val="0"/>
              </a:spcAft>
              <a:defRPr sz="1150" b="0" i="0">
                <a:solidFill>
                  <a:srgbClr val="5E6D7B"/>
                </a:solidFill>
                <a:latin typeface="Aptos"/>
              </a:defRPr>
            </a:pPr>
            <a:r>
              <a:t>Transformers, motion modeling, online inference, memory, and MLLM reasoning.</a:t>
            </a:r>
          </a:p>
        </p:txBody>
      </p:sp>
      <p:sp>
        <p:nvSpPr>
          <p:cNvPr id="18" name="Rounded Rectangle 17"/>
          <p:cNvSpPr/>
          <p:nvPr/>
        </p:nvSpPr>
        <p:spPr>
          <a:xfrm>
            <a:off x="4370832" y="3163824"/>
            <a:ext cx="7114032" cy="11430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0" y="3346704"/>
            <a:ext cx="5029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45152" y="3369564"/>
            <a:ext cx="356616" cy="210312"/>
          </a:xfrm>
          <a:prstGeom prst="rect">
            <a:avLst/>
          </a:prstGeom>
          <a:noFill/>
        </p:spPr>
        <p:txBody>
          <a:bodyPr wrap="square" lIns="0" tIns="0" rIns="0" bIns="0" anchor="ctr">
            <a:spAutoFit/>
          </a:bodyPr>
          <a:lstStyle/>
          <a:p>
            <a:pPr algn="ctr">
              <a:spcBef>
                <a:spcPts val="0"/>
              </a:spcBef>
              <a:spcAft>
                <a:spcPts val="0"/>
              </a:spcAft>
              <a:defRPr sz="900" b="1" i="0">
                <a:solidFill>
                  <a:srgbClr val="087E78"/>
                </a:solidFill>
                <a:latin typeface="Aptos"/>
              </a:defRPr>
            </a:pPr>
            <a:r>
              <a:t>02</a:t>
            </a:r>
          </a:p>
        </p:txBody>
      </p:sp>
      <p:sp>
        <p:nvSpPr>
          <p:cNvPr id="21" name="TextBox 20"/>
          <p:cNvSpPr txBox="1"/>
          <p:nvPr/>
        </p:nvSpPr>
        <p:spPr>
          <a:xfrm>
            <a:off x="5248656" y="3328416"/>
            <a:ext cx="5852160" cy="283464"/>
          </a:xfrm>
          <a:prstGeom prst="rect">
            <a:avLst/>
          </a:prstGeom>
          <a:noFill/>
        </p:spPr>
        <p:txBody>
          <a:bodyPr wrap="square" lIns="0" tIns="0" rIns="0" bIns="0" anchor="t">
            <a:spAutoFit/>
          </a:bodyPr>
          <a:lstStyle/>
          <a:p>
            <a:pPr algn="l">
              <a:spcBef>
                <a:spcPts val="0"/>
              </a:spcBef>
              <a:spcAft>
                <a:spcPts val="0"/>
              </a:spcAft>
              <a:defRPr sz="1600" b="1" i="0">
                <a:solidFill>
                  <a:srgbClr val="122438"/>
                </a:solidFill>
                <a:latin typeface="Aptos"/>
              </a:defRPr>
            </a:pPr>
            <a:r>
              <a:t>Compares what systems can do</a:t>
            </a:r>
          </a:p>
        </p:txBody>
      </p:sp>
      <p:sp>
        <p:nvSpPr>
          <p:cNvPr id="22" name="TextBox 21"/>
          <p:cNvSpPr txBox="1"/>
          <p:nvPr/>
        </p:nvSpPr>
        <p:spPr>
          <a:xfrm>
            <a:off x="5248656" y="3694176"/>
            <a:ext cx="5852160" cy="448056"/>
          </a:xfrm>
          <a:prstGeom prst="rect">
            <a:avLst/>
          </a:prstGeom>
          <a:noFill/>
        </p:spPr>
        <p:txBody>
          <a:bodyPr wrap="square" lIns="0" tIns="0" rIns="0" bIns="0" anchor="t">
            <a:spAutoFit/>
          </a:bodyPr>
          <a:lstStyle/>
          <a:p>
            <a:pPr algn="l">
              <a:spcBef>
                <a:spcPts val="0"/>
              </a:spcBef>
              <a:spcAft>
                <a:spcPts val="0"/>
              </a:spcAft>
              <a:defRPr sz="1150" b="0" i="0">
                <a:solidFill>
                  <a:srgbClr val="5E6D7B"/>
                </a:solidFill>
                <a:latin typeface="Aptos"/>
              </a:defRPr>
            </a:pPr>
            <a:r>
              <a:t>Shared benchmark view plus the costs and limitations behind reported scores.</a:t>
            </a:r>
          </a:p>
        </p:txBody>
      </p:sp>
      <p:sp>
        <p:nvSpPr>
          <p:cNvPr id="23" name="Rounded Rectangle 22"/>
          <p:cNvSpPr/>
          <p:nvPr/>
        </p:nvSpPr>
        <p:spPr>
          <a:xfrm>
            <a:off x="4370832" y="4517136"/>
            <a:ext cx="7114032" cy="11430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572000" y="4700016"/>
            <a:ext cx="5029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45152" y="4722876"/>
            <a:ext cx="356616" cy="210312"/>
          </a:xfrm>
          <a:prstGeom prst="rect">
            <a:avLst/>
          </a:prstGeom>
          <a:noFill/>
        </p:spPr>
        <p:txBody>
          <a:bodyPr wrap="square" lIns="0" tIns="0" rIns="0" bIns="0" anchor="ctr">
            <a:spAutoFit/>
          </a:bodyPr>
          <a:lstStyle/>
          <a:p>
            <a:pPr algn="ctr">
              <a:spcBef>
                <a:spcPts val="0"/>
              </a:spcBef>
              <a:spcAft>
                <a:spcPts val="0"/>
              </a:spcAft>
              <a:defRPr sz="900" b="1" i="0">
                <a:solidFill>
                  <a:srgbClr val="087E78"/>
                </a:solidFill>
                <a:latin typeface="Aptos"/>
              </a:defRPr>
            </a:pPr>
            <a:r>
              <a:t>03</a:t>
            </a:r>
          </a:p>
        </p:txBody>
      </p:sp>
      <p:sp>
        <p:nvSpPr>
          <p:cNvPr id="26" name="TextBox 25"/>
          <p:cNvSpPr txBox="1"/>
          <p:nvPr/>
        </p:nvSpPr>
        <p:spPr>
          <a:xfrm>
            <a:off x="5248656" y="4681727"/>
            <a:ext cx="5852160" cy="283464"/>
          </a:xfrm>
          <a:prstGeom prst="rect">
            <a:avLst/>
          </a:prstGeom>
          <a:noFill/>
        </p:spPr>
        <p:txBody>
          <a:bodyPr wrap="square" lIns="0" tIns="0" rIns="0" bIns="0" anchor="t">
            <a:spAutoFit/>
          </a:bodyPr>
          <a:lstStyle/>
          <a:p>
            <a:pPr algn="l">
              <a:spcBef>
                <a:spcPts val="0"/>
              </a:spcBef>
              <a:spcAft>
                <a:spcPts val="0"/>
              </a:spcAft>
              <a:defRPr sz="1600" b="1" i="0">
                <a:solidFill>
                  <a:srgbClr val="122438"/>
                </a:solidFill>
                <a:latin typeface="Aptos"/>
              </a:defRPr>
            </a:pPr>
            <a:r>
              <a:t>Proposes a temporal-capability lens</a:t>
            </a:r>
          </a:p>
        </p:txBody>
      </p:sp>
      <p:sp>
        <p:nvSpPr>
          <p:cNvPr id="27" name="TextBox 26"/>
          <p:cNvSpPr txBox="1"/>
          <p:nvPr/>
        </p:nvSpPr>
        <p:spPr>
          <a:xfrm>
            <a:off x="5248656" y="5047488"/>
            <a:ext cx="5852160" cy="448056"/>
          </a:xfrm>
          <a:prstGeom prst="rect">
            <a:avLst/>
          </a:prstGeom>
          <a:noFill/>
        </p:spPr>
        <p:txBody>
          <a:bodyPr wrap="square" lIns="0" tIns="0" rIns="0" bIns="0" anchor="t">
            <a:spAutoFit/>
          </a:bodyPr>
          <a:lstStyle/>
          <a:p>
            <a:pPr algn="l">
              <a:spcBef>
                <a:spcPts val="0"/>
              </a:spcBef>
              <a:spcAft>
                <a:spcPts val="0"/>
              </a:spcAft>
              <a:defRPr sz="1150" b="0" i="0">
                <a:solidFill>
                  <a:srgbClr val="5E6D7B"/>
                </a:solidFill>
                <a:latin typeface="Aptos"/>
              </a:defRPr>
            </a:pPr>
            <a:r>
              <a:t>Consistency → understanding → reasoning (an analytical framework proposed by this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METHOD LANDSCAPE</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The field’s design space is expanding</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V.</a:t>
            </a:r>
          </a:p>
        </p:txBody>
      </p:sp>
      <p:cxnSp>
        <p:nvCxnSpPr>
          <p:cNvPr id="8" name="Connector 7"/>
          <p:cNvCxnSpPr/>
          <p:nvPr/>
        </p:nvCxnSpPr>
        <p:spPr>
          <a:xfrm>
            <a:off x="1024128" y="2432304"/>
            <a:ext cx="10104120" cy="0"/>
          </a:xfrm>
          <a:prstGeom prst="line">
            <a:avLst/>
          </a:prstGeom>
          <a:ln w="25400">
            <a:solidFill>
              <a:srgbClr val="BCC9D1"/>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41247" y="2276856"/>
            <a:ext cx="310896" cy="310896"/>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9808"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86968" y="2926080"/>
            <a:ext cx="1938528"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2948940"/>
            <a:ext cx="1792224" cy="210312"/>
          </a:xfrm>
          <a:prstGeom prst="rect">
            <a:avLst/>
          </a:prstGeom>
          <a:noFill/>
        </p:spPr>
        <p:txBody>
          <a:bodyPr wrap="square" lIns="0" tIns="0" rIns="0" bIns="0" anchor="ctr">
            <a:spAutoFit/>
          </a:bodyPr>
          <a:lstStyle/>
          <a:p>
            <a:pPr algn="ctr">
              <a:spcBef>
                <a:spcPts val="0"/>
              </a:spcBef>
              <a:spcAft>
                <a:spcPts val="0"/>
              </a:spcAft>
              <a:defRPr sz="740" b="1" i="0">
                <a:solidFill>
                  <a:srgbClr val="5A8DEE"/>
                </a:solidFill>
                <a:latin typeface="Aptos"/>
              </a:defRPr>
            </a:pPr>
            <a:r>
              <a:t>GROUND THEN PROPAGATE</a:t>
            </a:r>
          </a:p>
        </p:txBody>
      </p:sp>
      <p:sp>
        <p:nvSpPr>
          <p:cNvPr id="13" name="TextBox 12"/>
          <p:cNvSpPr txBox="1"/>
          <p:nvPr/>
        </p:nvSpPr>
        <p:spPr>
          <a:xfrm>
            <a:off x="905256" y="3474720"/>
            <a:ext cx="1901952" cy="640080"/>
          </a:xfrm>
          <a:prstGeom prst="rect">
            <a:avLst/>
          </a:prstGeom>
          <a:noFill/>
        </p:spPr>
        <p:txBody>
          <a:bodyPr wrap="square" lIns="0" tIns="0" rIns="0" bIns="0" anchor="t">
            <a:spAutoFit/>
          </a:bodyPr>
          <a:lstStyle/>
          <a:p>
            <a:pPr algn="ctr">
              <a:spcBef>
                <a:spcPts val="0"/>
              </a:spcBef>
              <a:spcAft>
                <a:spcPts val="0"/>
              </a:spcAft>
              <a:defRPr sz="1300" b="0" i="0">
                <a:solidFill>
                  <a:srgbClr val="172A3A"/>
                </a:solidFill>
                <a:latin typeface="Aptos"/>
              </a:defRPr>
            </a:pPr>
            <a:r>
              <a:t>Cross-modal frame grounding</a:t>
            </a:r>
            <a:br/>
            <a:r>
              <a:t>+ mask propagation</a:t>
            </a:r>
          </a:p>
        </p:txBody>
      </p:sp>
      <p:cxnSp>
        <p:nvCxnSpPr>
          <p:cNvPr id="14" name="Connector 13"/>
          <p:cNvCxnSpPr/>
          <p:nvPr/>
        </p:nvCxnSpPr>
        <p:spPr>
          <a:xfrm>
            <a:off x="1005840"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05256" y="4489704"/>
            <a:ext cx="1901952" cy="438912"/>
          </a:xfrm>
          <a:prstGeom prst="rect">
            <a:avLst/>
          </a:prstGeom>
          <a:noFill/>
        </p:spPr>
        <p:txBody>
          <a:bodyPr wrap="square" lIns="0" tIns="0" rIns="0" bIns="0" anchor="t">
            <a:spAutoFit/>
          </a:bodyPr>
          <a:lstStyle/>
          <a:p>
            <a:pPr algn="ctr">
              <a:spcBef>
                <a:spcPts val="0"/>
              </a:spcBef>
              <a:spcAft>
                <a:spcPts val="0"/>
              </a:spcAft>
              <a:defRPr sz="1000" b="1" i="0">
                <a:solidFill>
                  <a:srgbClr val="5A8DEE"/>
                </a:solidFill>
                <a:latin typeface="Aptos"/>
              </a:defRPr>
            </a:pPr>
            <a:r>
              <a:t>URVOS</a:t>
            </a:r>
          </a:p>
        </p:txBody>
      </p:sp>
      <p:sp>
        <p:nvSpPr>
          <p:cNvPr id="16" name="Right Arrow 15"/>
          <p:cNvSpPr/>
          <p:nvPr/>
        </p:nvSpPr>
        <p:spPr>
          <a:xfrm>
            <a:off x="3072384" y="3584448"/>
            <a:ext cx="338328" cy="192024"/>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730752" y="2276856"/>
            <a:ext cx="310896" cy="310896"/>
          </a:xfrm>
          <a:prstGeom prst="ellipse">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639312"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776472" y="2926080"/>
            <a:ext cx="1938528"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9624" y="2948940"/>
            <a:ext cx="1792224" cy="210312"/>
          </a:xfrm>
          <a:prstGeom prst="rect">
            <a:avLst/>
          </a:prstGeom>
          <a:noFill/>
        </p:spPr>
        <p:txBody>
          <a:bodyPr wrap="square" lIns="0" tIns="0" rIns="0" bIns="0" anchor="ctr">
            <a:spAutoFit/>
          </a:bodyPr>
          <a:lstStyle/>
          <a:p>
            <a:pPr algn="ctr">
              <a:spcBef>
                <a:spcPts val="0"/>
              </a:spcBef>
              <a:spcAft>
                <a:spcPts val="0"/>
              </a:spcAft>
              <a:defRPr sz="740" b="1" i="0">
                <a:solidFill>
                  <a:srgbClr val="087E78"/>
                </a:solidFill>
                <a:latin typeface="Aptos"/>
              </a:defRPr>
            </a:pPr>
            <a:r>
              <a:t>JOINT TEMPORAL TRANSFORMERS</a:t>
            </a:r>
          </a:p>
        </p:txBody>
      </p:sp>
      <p:sp>
        <p:nvSpPr>
          <p:cNvPr id="21" name="TextBox 20"/>
          <p:cNvSpPr txBox="1"/>
          <p:nvPr/>
        </p:nvSpPr>
        <p:spPr>
          <a:xfrm>
            <a:off x="3794760" y="3474720"/>
            <a:ext cx="1901952" cy="640080"/>
          </a:xfrm>
          <a:prstGeom prst="rect">
            <a:avLst/>
          </a:prstGeom>
          <a:noFill/>
        </p:spPr>
        <p:txBody>
          <a:bodyPr wrap="square" lIns="0" tIns="0" rIns="0" bIns="0" anchor="t">
            <a:spAutoFit/>
          </a:bodyPr>
          <a:lstStyle/>
          <a:p>
            <a:pPr algn="ctr">
              <a:spcBef>
                <a:spcPts val="0"/>
              </a:spcBef>
              <a:spcAft>
                <a:spcPts val="0"/>
              </a:spcAft>
              <a:defRPr sz="1300" b="0" i="0">
                <a:solidFill>
                  <a:srgbClr val="172A3A"/>
                </a:solidFill>
                <a:latin typeface="Aptos"/>
              </a:defRPr>
            </a:pPr>
            <a:r>
              <a:t>Video-level queries</a:t>
            </a:r>
            <a:br/>
            <a:r>
              <a:t>+ inter-frame interaction</a:t>
            </a:r>
          </a:p>
        </p:txBody>
      </p:sp>
      <p:cxnSp>
        <p:nvCxnSpPr>
          <p:cNvPr id="22" name="Connector 21"/>
          <p:cNvCxnSpPr/>
          <p:nvPr/>
        </p:nvCxnSpPr>
        <p:spPr>
          <a:xfrm>
            <a:off x="3895344"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94760" y="4489704"/>
            <a:ext cx="1901952" cy="438912"/>
          </a:xfrm>
          <a:prstGeom prst="rect">
            <a:avLst/>
          </a:prstGeom>
          <a:noFill/>
        </p:spPr>
        <p:txBody>
          <a:bodyPr wrap="square" lIns="0" tIns="0" rIns="0" bIns="0" anchor="t">
            <a:spAutoFit/>
          </a:bodyPr>
          <a:lstStyle/>
          <a:p>
            <a:pPr algn="ctr">
              <a:spcBef>
                <a:spcPts val="0"/>
              </a:spcBef>
              <a:spcAft>
                <a:spcPts val="0"/>
              </a:spcAft>
              <a:defRPr sz="1000" b="1" i="0">
                <a:solidFill>
                  <a:srgbClr val="087E78"/>
                </a:solidFill>
                <a:latin typeface="Aptos"/>
              </a:defRPr>
            </a:pPr>
            <a:r>
              <a:t>ReferFormer · MUTR</a:t>
            </a:r>
          </a:p>
        </p:txBody>
      </p:sp>
      <p:sp>
        <p:nvSpPr>
          <p:cNvPr id="24" name="Right Arrow 23"/>
          <p:cNvSpPr/>
          <p:nvPr/>
        </p:nvSpPr>
        <p:spPr>
          <a:xfrm>
            <a:off x="5961888" y="3584448"/>
            <a:ext cx="338328" cy="192024"/>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620255" y="2276856"/>
            <a:ext cx="310896" cy="310896"/>
          </a:xfrm>
          <a:prstGeom prst="ellipse">
            <a:avLst/>
          </a:prstGeom>
          <a:solidFill>
            <a:srgbClr val="A1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528816"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665976" y="2926080"/>
            <a:ext cx="1938528"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39128" y="2948940"/>
            <a:ext cx="1792224" cy="210312"/>
          </a:xfrm>
          <a:prstGeom prst="rect">
            <a:avLst/>
          </a:prstGeom>
          <a:noFill/>
        </p:spPr>
        <p:txBody>
          <a:bodyPr wrap="square" lIns="0" tIns="0" rIns="0" bIns="0" anchor="ctr">
            <a:spAutoFit/>
          </a:bodyPr>
          <a:lstStyle/>
          <a:p>
            <a:pPr algn="ctr">
              <a:spcBef>
                <a:spcPts val="0"/>
              </a:spcBef>
              <a:spcAft>
                <a:spcPts val="0"/>
              </a:spcAft>
              <a:defRPr sz="740" b="1" i="0">
                <a:solidFill>
                  <a:srgbClr val="A16F00"/>
                </a:solidFill>
                <a:latin typeface="Aptos"/>
              </a:defRPr>
            </a:pPr>
            <a:r>
              <a:t>MODEL MOTION OR STREAM</a:t>
            </a:r>
          </a:p>
        </p:txBody>
      </p:sp>
      <p:sp>
        <p:nvSpPr>
          <p:cNvPr id="29" name="TextBox 28"/>
          <p:cNvSpPr txBox="1"/>
          <p:nvPr/>
        </p:nvSpPr>
        <p:spPr>
          <a:xfrm>
            <a:off x="6684264" y="3474720"/>
            <a:ext cx="1901952" cy="640080"/>
          </a:xfrm>
          <a:prstGeom prst="rect">
            <a:avLst/>
          </a:prstGeom>
          <a:noFill/>
        </p:spPr>
        <p:txBody>
          <a:bodyPr wrap="square" lIns="0" tIns="0" rIns="0" bIns="0" anchor="t">
            <a:spAutoFit/>
          </a:bodyPr>
          <a:lstStyle/>
          <a:p>
            <a:pPr algn="ctr">
              <a:spcBef>
                <a:spcPts val="0"/>
              </a:spcBef>
              <a:spcAft>
                <a:spcPts val="0"/>
              </a:spcAft>
              <a:defRPr sz="1300" b="0" i="0">
                <a:solidFill>
                  <a:srgbClr val="172A3A"/>
                </a:solidFill>
                <a:latin typeface="Aptos"/>
              </a:defRPr>
            </a:pPr>
            <a:r>
              <a:t>Motion-specific features,</a:t>
            </a:r>
            <a:br/>
            <a:r>
              <a:t>causal query/memory updates</a:t>
            </a:r>
          </a:p>
        </p:txBody>
      </p:sp>
      <p:cxnSp>
        <p:nvCxnSpPr>
          <p:cNvPr id="30" name="Connector 29"/>
          <p:cNvCxnSpPr/>
          <p:nvPr/>
        </p:nvCxnSpPr>
        <p:spPr>
          <a:xfrm>
            <a:off x="6784848"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684264" y="4489704"/>
            <a:ext cx="1901952" cy="438912"/>
          </a:xfrm>
          <a:prstGeom prst="rect">
            <a:avLst/>
          </a:prstGeom>
          <a:noFill/>
        </p:spPr>
        <p:txBody>
          <a:bodyPr wrap="square" lIns="0" tIns="0" rIns="0" bIns="0" anchor="t">
            <a:spAutoFit/>
          </a:bodyPr>
          <a:lstStyle/>
          <a:p>
            <a:pPr algn="ctr">
              <a:spcBef>
                <a:spcPts val="0"/>
              </a:spcBef>
              <a:spcAft>
                <a:spcPts val="0"/>
              </a:spcAft>
              <a:defRPr sz="1000" b="1" i="0">
                <a:solidFill>
                  <a:srgbClr val="A16F00"/>
                </a:solidFill>
                <a:latin typeface="Aptos"/>
              </a:defRPr>
            </a:pPr>
            <a:r>
              <a:t>LMPM · DsHmp · OnlineRefer</a:t>
            </a:r>
          </a:p>
        </p:txBody>
      </p:sp>
      <p:sp>
        <p:nvSpPr>
          <p:cNvPr id="32" name="Right Arrow 31"/>
          <p:cNvSpPr/>
          <p:nvPr/>
        </p:nvSpPr>
        <p:spPr>
          <a:xfrm>
            <a:off x="8851392" y="3584448"/>
            <a:ext cx="338328" cy="192024"/>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509760" y="2276856"/>
            <a:ext cx="310896" cy="31089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418320"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55480" y="2926080"/>
            <a:ext cx="1938528"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28632" y="2948940"/>
            <a:ext cx="1792224" cy="210312"/>
          </a:xfrm>
          <a:prstGeom prst="rect">
            <a:avLst/>
          </a:prstGeom>
          <a:noFill/>
        </p:spPr>
        <p:txBody>
          <a:bodyPr wrap="square" lIns="0" tIns="0" rIns="0" bIns="0" anchor="ctr">
            <a:spAutoFit/>
          </a:bodyPr>
          <a:lstStyle/>
          <a:p>
            <a:pPr algn="ctr">
              <a:spcBef>
                <a:spcPts val="0"/>
              </a:spcBef>
              <a:spcAft>
                <a:spcPts val="0"/>
              </a:spcAft>
              <a:defRPr sz="740" b="1" i="0">
                <a:solidFill>
                  <a:srgbClr val="F07167"/>
                </a:solidFill>
                <a:latin typeface="Aptos"/>
              </a:defRPr>
            </a:pPr>
            <a:r>
              <a:t>ADAPT &amp; REASON</a:t>
            </a:r>
          </a:p>
        </p:txBody>
      </p:sp>
      <p:sp>
        <p:nvSpPr>
          <p:cNvPr id="37" name="TextBox 36"/>
          <p:cNvSpPr txBox="1"/>
          <p:nvPr/>
        </p:nvSpPr>
        <p:spPr>
          <a:xfrm>
            <a:off x="9573768" y="3474720"/>
            <a:ext cx="1901952" cy="640080"/>
          </a:xfrm>
          <a:prstGeom prst="rect">
            <a:avLst/>
          </a:prstGeom>
          <a:noFill/>
        </p:spPr>
        <p:txBody>
          <a:bodyPr wrap="square" lIns="0" tIns="0" rIns="0" bIns="0" anchor="t">
            <a:spAutoFit/>
          </a:bodyPr>
          <a:lstStyle/>
          <a:p>
            <a:pPr algn="ctr">
              <a:spcBef>
                <a:spcPts val="0"/>
              </a:spcBef>
              <a:spcAft>
                <a:spcPts val="0"/>
              </a:spcAft>
              <a:defRPr sz="1300" b="0" i="0">
                <a:solidFill>
                  <a:srgbClr val="172A3A"/>
                </a:solidFill>
                <a:latin typeface="Aptos"/>
              </a:defRPr>
            </a:pPr>
            <a:r>
              <a:t>Foundation-model memory</a:t>
            </a:r>
            <a:br/>
            <a:r>
              <a:t>+ MLLM semantic reasoning</a:t>
            </a:r>
          </a:p>
        </p:txBody>
      </p:sp>
      <p:cxnSp>
        <p:nvCxnSpPr>
          <p:cNvPr id="38" name="Connector 37"/>
          <p:cNvCxnSpPr/>
          <p:nvPr/>
        </p:nvCxnSpPr>
        <p:spPr>
          <a:xfrm>
            <a:off x="9674352"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573768" y="4489704"/>
            <a:ext cx="1901952" cy="438912"/>
          </a:xfrm>
          <a:prstGeom prst="rect">
            <a:avLst/>
          </a:prstGeom>
          <a:noFill/>
        </p:spPr>
        <p:txBody>
          <a:bodyPr wrap="square" lIns="0" tIns="0" rIns="0" bIns="0" anchor="t">
            <a:spAutoFit/>
          </a:bodyPr>
          <a:lstStyle/>
          <a:p>
            <a:pPr algn="ctr">
              <a:spcBef>
                <a:spcPts val="0"/>
              </a:spcBef>
              <a:spcAft>
                <a:spcPts val="0"/>
              </a:spcAft>
              <a:defRPr sz="1000" b="1" i="0">
                <a:solidFill>
                  <a:srgbClr val="F07167"/>
                </a:solidFill>
                <a:latin typeface="Aptos"/>
              </a:defRPr>
            </a:pPr>
            <a:r>
              <a:t>RefSAM · SAMWISE · VISA</a:t>
            </a:r>
          </a:p>
        </p:txBody>
      </p:sp>
      <p:sp>
        <p:nvSpPr>
          <p:cNvPr id="40" name="TextBox 39"/>
          <p:cNvSpPr txBox="1"/>
          <p:nvPr/>
        </p:nvSpPr>
        <p:spPr>
          <a:xfrm>
            <a:off x="804672" y="5541264"/>
            <a:ext cx="10652760" cy="393192"/>
          </a:xfrm>
          <a:prstGeom prst="rect">
            <a:avLst/>
          </a:prstGeom>
          <a:noFill/>
        </p:spPr>
        <p:txBody>
          <a:bodyPr wrap="square" lIns="0" tIns="0" rIns="0" bIns="0" anchor="t">
            <a:spAutoFit/>
          </a:bodyPr>
          <a:lstStyle/>
          <a:p>
            <a:pPr algn="ctr">
              <a:spcBef>
                <a:spcPts val="0"/>
              </a:spcBef>
              <a:spcAft>
                <a:spcPts val="0"/>
              </a:spcAft>
              <a:defRPr sz="1300" b="1" i="0">
                <a:solidFill>
                  <a:srgbClr val="122438"/>
                </a:solidFill>
                <a:latin typeface="Aptos"/>
              </a:defRPr>
            </a:pPr>
            <a:r>
              <a:t>These paradigms overlap: each shifts where the system stores context and how it uses language over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ANALYTICAL FRAMEWORK</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Temporal ability comes in three levels</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VII; three-level framework proposed by this survey.</a:t>
            </a:r>
          </a:p>
        </p:txBody>
      </p:sp>
      <p:sp>
        <p:nvSpPr>
          <p:cNvPr id="8" name="Rounded Rectangle 7"/>
          <p:cNvSpPr/>
          <p:nvPr/>
        </p:nvSpPr>
        <p:spPr>
          <a:xfrm>
            <a:off x="768096" y="1737360"/>
            <a:ext cx="10570464" cy="11612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8096" y="1737360"/>
            <a:ext cx="109728" cy="1161288"/>
          </a:xfrm>
          <a:prstGeom prst="rect">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42415" y="1883664"/>
            <a:ext cx="1078992" cy="192024"/>
          </a:xfrm>
          <a:prstGeom prst="rect">
            <a:avLst/>
          </a:prstGeom>
          <a:noFill/>
        </p:spPr>
        <p:txBody>
          <a:bodyPr wrap="square" lIns="0" tIns="0" rIns="0" bIns="0" anchor="t">
            <a:spAutoFit/>
          </a:bodyPr>
          <a:lstStyle/>
          <a:p>
            <a:pPr algn="l">
              <a:spcBef>
                <a:spcPts val="0"/>
              </a:spcBef>
              <a:spcAft>
                <a:spcPts val="0"/>
              </a:spcAft>
              <a:defRPr sz="900" b="1" i="0">
                <a:solidFill>
                  <a:srgbClr val="5A8DEE"/>
                </a:solidFill>
                <a:latin typeface="Aptos"/>
              </a:defRPr>
            </a:pPr>
            <a:r>
              <a:t>LEVEL 1</a:t>
            </a:r>
          </a:p>
        </p:txBody>
      </p:sp>
      <p:sp>
        <p:nvSpPr>
          <p:cNvPr id="11" name="TextBox 10"/>
          <p:cNvSpPr txBox="1"/>
          <p:nvPr/>
        </p:nvSpPr>
        <p:spPr>
          <a:xfrm>
            <a:off x="2121408" y="1856231"/>
            <a:ext cx="2999232" cy="283464"/>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TEMPORAL CONSISTENCY</a:t>
            </a:r>
          </a:p>
        </p:txBody>
      </p:sp>
      <p:sp>
        <p:nvSpPr>
          <p:cNvPr id="12" name="TextBox 11"/>
          <p:cNvSpPr txBox="1"/>
          <p:nvPr/>
        </p:nvSpPr>
        <p:spPr>
          <a:xfrm>
            <a:off x="2121408" y="2212848"/>
            <a:ext cx="4407408" cy="420624"/>
          </a:xfrm>
          <a:prstGeom prst="rect">
            <a:avLst/>
          </a:prstGeom>
          <a:noFill/>
        </p:spPr>
        <p:txBody>
          <a:bodyPr wrap="square" lIns="0" tIns="0" rIns="0" bIns="0" anchor="t">
            <a:spAutoFit/>
          </a:bodyPr>
          <a:lstStyle/>
          <a:p>
            <a:pPr algn="l">
              <a:spcBef>
                <a:spcPts val="0"/>
              </a:spcBef>
              <a:spcAft>
                <a:spcPts val="0"/>
              </a:spcAft>
              <a:defRPr sz="1150" b="0" i="0">
                <a:solidFill>
                  <a:srgbClr val="5E6D7B"/>
                </a:solidFill>
                <a:latin typeface="Aptos"/>
              </a:defRPr>
            </a:pPr>
            <a:r>
              <a:t>Keep the same object mask stable as it moves or reappears.</a:t>
            </a:r>
          </a:p>
        </p:txBody>
      </p:sp>
      <p:sp>
        <p:nvSpPr>
          <p:cNvPr id="13" name="TextBox 12"/>
          <p:cNvSpPr txBox="1"/>
          <p:nvPr/>
        </p:nvSpPr>
        <p:spPr>
          <a:xfrm>
            <a:off x="6821424" y="1874519"/>
            <a:ext cx="4169664" cy="237744"/>
          </a:xfrm>
          <a:prstGeom prst="rect">
            <a:avLst/>
          </a:prstGeom>
          <a:noFill/>
        </p:spPr>
        <p:txBody>
          <a:bodyPr wrap="square" lIns="0" tIns="0" rIns="0" bIns="0" anchor="t">
            <a:spAutoFit/>
          </a:bodyPr>
          <a:lstStyle/>
          <a:p>
            <a:pPr algn="l">
              <a:spcBef>
                <a:spcPts val="0"/>
              </a:spcBef>
              <a:spcAft>
                <a:spcPts val="0"/>
              </a:spcAft>
              <a:defRPr sz="1200" b="1" i="0">
                <a:solidFill>
                  <a:srgbClr val="172A3A"/>
                </a:solidFill>
                <a:latin typeface="Aptos"/>
              </a:defRPr>
            </a:pPr>
            <a:r>
              <a:t>“Where is this same object now?”</a:t>
            </a:r>
          </a:p>
        </p:txBody>
      </p:sp>
      <p:sp>
        <p:nvSpPr>
          <p:cNvPr id="14" name="TextBox 13"/>
          <p:cNvSpPr txBox="1"/>
          <p:nvPr/>
        </p:nvSpPr>
        <p:spPr>
          <a:xfrm>
            <a:off x="6821424" y="2276856"/>
            <a:ext cx="4169664" cy="228600"/>
          </a:xfrm>
          <a:prstGeom prst="rect">
            <a:avLst/>
          </a:prstGeom>
          <a:noFill/>
        </p:spPr>
        <p:txBody>
          <a:bodyPr wrap="square" lIns="0" tIns="0" rIns="0" bIns="0" anchor="t">
            <a:spAutoFit/>
          </a:bodyPr>
          <a:lstStyle/>
          <a:p>
            <a:pPr algn="l">
              <a:spcBef>
                <a:spcPts val="0"/>
              </a:spcBef>
              <a:spcAft>
                <a:spcPts val="0"/>
              </a:spcAft>
              <a:defRPr sz="940" b="1" i="0">
                <a:solidFill>
                  <a:srgbClr val="5A8DEE"/>
                </a:solidFill>
                <a:latin typeface="Aptos"/>
              </a:defRPr>
            </a:pPr>
            <a:r>
              <a:t>URVOS · OnlineRefer · RefSAM</a:t>
            </a:r>
          </a:p>
        </p:txBody>
      </p:sp>
      <p:sp>
        <p:nvSpPr>
          <p:cNvPr id="15" name="Rounded Rectangle 14"/>
          <p:cNvSpPr/>
          <p:nvPr/>
        </p:nvSpPr>
        <p:spPr>
          <a:xfrm>
            <a:off x="1152144" y="3127248"/>
            <a:ext cx="9802368" cy="11612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52144" y="3127248"/>
            <a:ext cx="109728" cy="1161288"/>
          </a:xfrm>
          <a:prstGeom prst="rect">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26464" y="3273552"/>
            <a:ext cx="1078992" cy="192024"/>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LEVEL 2</a:t>
            </a:r>
          </a:p>
        </p:txBody>
      </p:sp>
      <p:sp>
        <p:nvSpPr>
          <p:cNvPr id="18" name="TextBox 17"/>
          <p:cNvSpPr txBox="1"/>
          <p:nvPr/>
        </p:nvSpPr>
        <p:spPr>
          <a:xfrm>
            <a:off x="2505456" y="3246120"/>
            <a:ext cx="2999232" cy="283464"/>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TEMPORAL UNDERSTANDING</a:t>
            </a:r>
          </a:p>
        </p:txBody>
      </p:sp>
      <p:sp>
        <p:nvSpPr>
          <p:cNvPr id="19" name="TextBox 18"/>
          <p:cNvSpPr txBox="1"/>
          <p:nvPr/>
        </p:nvSpPr>
        <p:spPr>
          <a:xfrm>
            <a:off x="2505456" y="3602736"/>
            <a:ext cx="4407408" cy="420624"/>
          </a:xfrm>
          <a:prstGeom prst="rect">
            <a:avLst/>
          </a:prstGeom>
          <a:noFill/>
        </p:spPr>
        <p:txBody>
          <a:bodyPr wrap="square" lIns="0" tIns="0" rIns="0" bIns="0" anchor="t">
            <a:spAutoFit/>
          </a:bodyPr>
          <a:lstStyle/>
          <a:p>
            <a:pPr algn="l">
              <a:spcBef>
                <a:spcPts val="0"/>
              </a:spcBef>
              <a:spcAft>
                <a:spcPts val="0"/>
              </a:spcAft>
              <a:defRPr sz="1150" b="0" i="0">
                <a:solidFill>
                  <a:srgbClr val="5E6D7B"/>
                </a:solidFill>
                <a:latin typeface="Aptos"/>
              </a:defRPr>
            </a:pPr>
            <a:r>
              <a:t>Use action and motion cues to distinguish similar instances.</a:t>
            </a:r>
          </a:p>
        </p:txBody>
      </p:sp>
      <p:sp>
        <p:nvSpPr>
          <p:cNvPr id="20" name="TextBox 19"/>
          <p:cNvSpPr txBox="1"/>
          <p:nvPr/>
        </p:nvSpPr>
        <p:spPr>
          <a:xfrm>
            <a:off x="7205472" y="3264408"/>
            <a:ext cx="3401568" cy="237744"/>
          </a:xfrm>
          <a:prstGeom prst="rect">
            <a:avLst/>
          </a:prstGeom>
          <a:noFill/>
        </p:spPr>
        <p:txBody>
          <a:bodyPr wrap="square" lIns="0" tIns="0" rIns="0" bIns="0" anchor="t">
            <a:spAutoFit/>
          </a:bodyPr>
          <a:lstStyle/>
          <a:p>
            <a:pPr algn="l">
              <a:spcBef>
                <a:spcPts val="0"/>
              </a:spcBef>
              <a:spcAft>
                <a:spcPts val="0"/>
              </a:spcAft>
              <a:defRPr sz="1200" b="1" i="0">
                <a:solidFill>
                  <a:srgbClr val="172A3A"/>
                </a:solidFill>
                <a:latin typeface="Aptos"/>
              </a:defRPr>
            </a:pPr>
            <a:r>
              <a:t>“Which person is running?”</a:t>
            </a:r>
          </a:p>
        </p:txBody>
      </p:sp>
      <p:sp>
        <p:nvSpPr>
          <p:cNvPr id="21" name="TextBox 20"/>
          <p:cNvSpPr txBox="1"/>
          <p:nvPr/>
        </p:nvSpPr>
        <p:spPr>
          <a:xfrm>
            <a:off x="7205472" y="3666744"/>
            <a:ext cx="3401568" cy="228600"/>
          </a:xfrm>
          <a:prstGeom prst="rect">
            <a:avLst/>
          </a:prstGeom>
          <a:noFill/>
        </p:spPr>
        <p:txBody>
          <a:bodyPr wrap="square" lIns="0" tIns="0" rIns="0" bIns="0" anchor="t">
            <a:spAutoFit/>
          </a:bodyPr>
          <a:lstStyle/>
          <a:p>
            <a:pPr algn="l">
              <a:spcBef>
                <a:spcPts val="0"/>
              </a:spcBef>
              <a:spcAft>
                <a:spcPts val="0"/>
              </a:spcAft>
              <a:defRPr sz="940" b="1" i="0">
                <a:solidFill>
                  <a:srgbClr val="087E78"/>
                </a:solidFill>
                <a:latin typeface="Aptos"/>
              </a:defRPr>
            </a:pPr>
            <a:r>
              <a:t>MUTR · HTML · DsHmp · SAMWISE</a:t>
            </a:r>
          </a:p>
        </p:txBody>
      </p:sp>
      <p:sp>
        <p:nvSpPr>
          <p:cNvPr id="22" name="Rounded Rectangle 21"/>
          <p:cNvSpPr/>
          <p:nvPr/>
        </p:nvSpPr>
        <p:spPr>
          <a:xfrm>
            <a:off x="1536192" y="4517136"/>
            <a:ext cx="9034272" cy="11612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536192" y="4517136"/>
            <a:ext cx="109728" cy="1161288"/>
          </a:xfrm>
          <a:prstGeom prst="rect">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810512" y="4663440"/>
            <a:ext cx="1078992" cy="192024"/>
          </a:xfrm>
          <a:prstGeom prst="rect">
            <a:avLst/>
          </a:prstGeom>
          <a:noFill/>
        </p:spPr>
        <p:txBody>
          <a:bodyPr wrap="square" lIns="0" tIns="0" rIns="0" bIns="0" anchor="t">
            <a:spAutoFit/>
          </a:bodyPr>
          <a:lstStyle/>
          <a:p>
            <a:pPr algn="l">
              <a:spcBef>
                <a:spcPts val="0"/>
              </a:spcBef>
              <a:spcAft>
                <a:spcPts val="0"/>
              </a:spcAft>
              <a:defRPr sz="900" b="1" i="0">
                <a:solidFill>
                  <a:srgbClr val="F07167"/>
                </a:solidFill>
                <a:latin typeface="Aptos"/>
              </a:defRPr>
            </a:pPr>
            <a:r>
              <a:t>LEVEL 3</a:t>
            </a:r>
          </a:p>
        </p:txBody>
      </p:sp>
      <p:sp>
        <p:nvSpPr>
          <p:cNvPr id="25" name="TextBox 24"/>
          <p:cNvSpPr txBox="1"/>
          <p:nvPr/>
        </p:nvSpPr>
        <p:spPr>
          <a:xfrm>
            <a:off x="2889504" y="4636007"/>
            <a:ext cx="2999232" cy="283464"/>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TEMPORAL REASONING</a:t>
            </a:r>
          </a:p>
        </p:txBody>
      </p:sp>
      <p:sp>
        <p:nvSpPr>
          <p:cNvPr id="26" name="TextBox 25"/>
          <p:cNvSpPr txBox="1"/>
          <p:nvPr/>
        </p:nvSpPr>
        <p:spPr>
          <a:xfrm>
            <a:off x="2889504" y="4992623"/>
            <a:ext cx="4407408" cy="420624"/>
          </a:xfrm>
          <a:prstGeom prst="rect">
            <a:avLst/>
          </a:prstGeom>
          <a:noFill/>
        </p:spPr>
        <p:txBody>
          <a:bodyPr wrap="square" lIns="0" tIns="0" rIns="0" bIns="0" anchor="t">
            <a:spAutoFit/>
          </a:bodyPr>
          <a:lstStyle/>
          <a:p>
            <a:pPr algn="l">
              <a:spcBef>
                <a:spcPts val="0"/>
              </a:spcBef>
              <a:spcAft>
                <a:spcPts val="0"/>
              </a:spcAft>
              <a:defRPr sz="1150" b="0" i="0">
                <a:solidFill>
                  <a:srgbClr val="5E6D7B"/>
                </a:solidFill>
                <a:latin typeface="Aptos"/>
              </a:defRPr>
            </a:pPr>
            <a:r>
              <a:t>Infer a target from event meaning, role, or causal context.</a:t>
            </a:r>
          </a:p>
        </p:txBody>
      </p:sp>
      <p:sp>
        <p:nvSpPr>
          <p:cNvPr id="27" name="TextBox 26"/>
          <p:cNvSpPr txBox="1"/>
          <p:nvPr/>
        </p:nvSpPr>
        <p:spPr>
          <a:xfrm>
            <a:off x="7589520" y="4654296"/>
            <a:ext cx="2633472" cy="237744"/>
          </a:xfrm>
          <a:prstGeom prst="rect">
            <a:avLst/>
          </a:prstGeom>
          <a:noFill/>
        </p:spPr>
        <p:txBody>
          <a:bodyPr wrap="square" lIns="0" tIns="0" rIns="0" bIns="0" anchor="t">
            <a:spAutoFit/>
          </a:bodyPr>
          <a:lstStyle/>
          <a:p>
            <a:pPr algn="l">
              <a:spcBef>
                <a:spcPts val="0"/>
              </a:spcBef>
              <a:spcAft>
                <a:spcPts val="0"/>
              </a:spcAft>
              <a:defRPr sz="1200" b="1" i="0">
                <a:solidFill>
                  <a:srgbClr val="172A3A"/>
                </a:solidFill>
                <a:latin typeface="Aptos"/>
              </a:defRPr>
            </a:pPr>
            <a:r>
              <a:t>“Which object caused the result?”</a:t>
            </a:r>
          </a:p>
        </p:txBody>
      </p:sp>
      <p:sp>
        <p:nvSpPr>
          <p:cNvPr id="28" name="TextBox 27"/>
          <p:cNvSpPr txBox="1"/>
          <p:nvPr/>
        </p:nvSpPr>
        <p:spPr>
          <a:xfrm>
            <a:off x="7589520" y="5056631"/>
            <a:ext cx="2633472" cy="228600"/>
          </a:xfrm>
          <a:prstGeom prst="rect">
            <a:avLst/>
          </a:prstGeom>
          <a:noFill/>
        </p:spPr>
        <p:txBody>
          <a:bodyPr wrap="square" lIns="0" tIns="0" rIns="0" bIns="0" anchor="t">
            <a:spAutoFit/>
          </a:bodyPr>
          <a:lstStyle/>
          <a:p>
            <a:pPr algn="l">
              <a:spcBef>
                <a:spcPts val="0"/>
              </a:spcBef>
              <a:spcAft>
                <a:spcPts val="0"/>
              </a:spcAft>
              <a:defRPr sz="940" b="1" i="0">
                <a:solidFill>
                  <a:srgbClr val="F07167"/>
                </a:solidFill>
                <a:latin typeface="Aptos"/>
              </a:defRPr>
            </a:pPr>
            <a:r>
              <a:t>VISA · LISA · VideoLISA</a:t>
            </a:r>
          </a:p>
        </p:txBody>
      </p:sp>
      <p:sp>
        <p:nvSpPr>
          <p:cNvPr id="29" name="TextBox 28"/>
          <p:cNvSpPr txBox="1"/>
          <p:nvPr/>
        </p:nvSpPr>
        <p:spPr>
          <a:xfrm>
            <a:off x="804672" y="5998464"/>
            <a:ext cx="10515600" cy="219456"/>
          </a:xfrm>
          <a:prstGeom prst="rect">
            <a:avLst/>
          </a:prstGeom>
          <a:noFill/>
        </p:spPr>
        <p:txBody>
          <a:bodyPr wrap="square" lIns="0" tIns="0" rIns="0" bIns="0" anchor="t">
            <a:spAutoFit/>
          </a:bodyPr>
          <a:lstStyle/>
          <a:p>
            <a:pPr algn="ctr">
              <a:spcBef>
                <a:spcPts val="0"/>
              </a:spcBef>
              <a:spcAft>
                <a:spcPts val="0"/>
              </a:spcAft>
              <a:defRPr sz="1200" b="1" i="0">
                <a:solidFill>
                  <a:srgbClr val="087E78"/>
                </a:solidFill>
                <a:latin typeface="Aptos"/>
              </a:defRPr>
            </a:pPr>
            <a:r>
              <a:t>Progression: preserve identity  →  interpret motion  →  infer event meaning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ARCHITECTURE CHOICES</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Four architectural levers address different failures</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Sections V, VII–VIII; Table II.</a:t>
            </a:r>
          </a:p>
        </p:txBody>
      </p:sp>
      <p:sp>
        <p:nvSpPr>
          <p:cNvPr id="8" name="Rounded Rectangle 7"/>
          <p:cNvSpPr/>
          <p:nvPr/>
        </p:nvSpPr>
        <p:spPr>
          <a:xfrm>
            <a:off x="731520" y="1700784"/>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32688" y="1883664"/>
            <a:ext cx="2331720"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906524"/>
            <a:ext cx="2185415" cy="210312"/>
          </a:xfrm>
          <a:prstGeom prst="rect">
            <a:avLst/>
          </a:prstGeom>
          <a:noFill/>
        </p:spPr>
        <p:txBody>
          <a:bodyPr wrap="square" lIns="0" tIns="0" rIns="0" bIns="0" anchor="ctr">
            <a:spAutoFit/>
          </a:bodyPr>
          <a:lstStyle/>
          <a:p>
            <a:pPr algn="ctr">
              <a:spcBef>
                <a:spcPts val="0"/>
              </a:spcBef>
              <a:spcAft>
                <a:spcPts val="0"/>
              </a:spcAft>
              <a:defRPr sz="800" b="1" i="0">
                <a:solidFill>
                  <a:srgbClr val="5A8DEE"/>
                </a:solidFill>
                <a:latin typeface="Aptos"/>
              </a:defRPr>
            </a:pPr>
            <a:r>
              <a:t>QUERY PROPAGATION</a:t>
            </a:r>
          </a:p>
        </p:txBody>
      </p:sp>
      <p:sp>
        <p:nvSpPr>
          <p:cNvPr id="11" name="TextBox 10"/>
          <p:cNvSpPr txBox="1"/>
          <p:nvPr/>
        </p:nvSpPr>
        <p:spPr>
          <a:xfrm>
            <a:off x="960120" y="2340864"/>
            <a:ext cx="4828032" cy="438912"/>
          </a:xfrm>
          <a:prstGeom prst="rect">
            <a:avLst/>
          </a:prstGeom>
          <a:noFill/>
        </p:spPr>
        <p:txBody>
          <a:bodyPr wrap="square" lIns="0" tIns="0" rIns="0" bIns="0" anchor="t">
            <a:spAutoFit/>
          </a:bodyPr>
          <a:lstStyle/>
          <a:p>
            <a:pPr algn="l">
              <a:spcBef>
                <a:spcPts val="0"/>
              </a:spcBef>
              <a:spcAft>
                <a:spcPts val="0"/>
              </a:spcAft>
              <a:defRPr sz="1300" b="1" i="0">
                <a:solidFill>
                  <a:srgbClr val="172A3A"/>
                </a:solidFill>
                <a:latin typeface="Aptos"/>
              </a:defRPr>
            </a:pPr>
            <a:r>
              <a:t>Carry compact object queries frame to frame.</a:t>
            </a:r>
          </a:p>
        </p:txBody>
      </p:sp>
      <p:sp>
        <p:nvSpPr>
          <p:cNvPr id="12" name="TextBox 11"/>
          <p:cNvSpPr txBox="1"/>
          <p:nvPr/>
        </p:nvSpPr>
        <p:spPr>
          <a:xfrm>
            <a:off x="960120" y="2807208"/>
            <a:ext cx="4828032" cy="329184"/>
          </a:xfrm>
          <a:prstGeom prst="rect">
            <a:avLst/>
          </a:prstGeom>
          <a:noFill/>
        </p:spPr>
        <p:txBody>
          <a:bodyPr wrap="square" lIns="0" tIns="0" rIns="0" bIns="0" anchor="t">
            <a:spAutoFit/>
          </a:bodyPr>
          <a:lstStyle/>
          <a:p>
            <a:pPr algn="l">
              <a:spcBef>
                <a:spcPts val="0"/>
              </a:spcBef>
              <a:spcAft>
                <a:spcPts val="0"/>
              </a:spcAft>
              <a:defRPr sz="1060" b="0" i="0">
                <a:solidFill>
                  <a:srgbClr val="5E6D7B"/>
                </a:solidFill>
                <a:latin typeface="Aptos"/>
              </a:defRPr>
            </a:pPr>
            <a:r>
              <a:t>Lightweight identity state; can lose rich context.</a:t>
            </a:r>
          </a:p>
        </p:txBody>
      </p:sp>
      <p:sp>
        <p:nvSpPr>
          <p:cNvPr id="13" name="TextBox 12"/>
          <p:cNvSpPr txBox="1"/>
          <p:nvPr/>
        </p:nvSpPr>
        <p:spPr>
          <a:xfrm>
            <a:off x="960120" y="3255264"/>
            <a:ext cx="4828032" cy="182880"/>
          </a:xfrm>
          <a:prstGeom prst="rect">
            <a:avLst/>
          </a:prstGeom>
          <a:noFill/>
        </p:spPr>
        <p:txBody>
          <a:bodyPr wrap="square" lIns="0" tIns="0" rIns="0" bIns="0" anchor="t">
            <a:spAutoFit/>
          </a:bodyPr>
          <a:lstStyle/>
          <a:p>
            <a:pPr algn="l">
              <a:spcBef>
                <a:spcPts val="0"/>
              </a:spcBef>
              <a:spcAft>
                <a:spcPts val="0"/>
              </a:spcAft>
              <a:defRPr sz="900" b="1" i="0">
                <a:solidFill>
                  <a:srgbClr val="5A8DEE"/>
                </a:solidFill>
                <a:latin typeface="Aptos"/>
              </a:defRPr>
            </a:pPr>
            <a:r>
              <a:t>ReferFormer · OnlineRefer</a:t>
            </a:r>
          </a:p>
        </p:txBody>
      </p:sp>
      <p:sp>
        <p:nvSpPr>
          <p:cNvPr id="14" name="Rounded Rectangle 13"/>
          <p:cNvSpPr/>
          <p:nvPr/>
        </p:nvSpPr>
        <p:spPr>
          <a:xfrm>
            <a:off x="6181344" y="1700784"/>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82512" y="1883664"/>
            <a:ext cx="23317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1906524"/>
            <a:ext cx="2185415" cy="210312"/>
          </a:xfrm>
          <a:prstGeom prst="rect">
            <a:avLst/>
          </a:prstGeom>
          <a:noFill/>
        </p:spPr>
        <p:txBody>
          <a:bodyPr wrap="square" lIns="0" tIns="0" rIns="0" bIns="0" anchor="ctr">
            <a:spAutoFit/>
          </a:bodyPr>
          <a:lstStyle/>
          <a:p>
            <a:pPr algn="ctr">
              <a:spcBef>
                <a:spcPts val="0"/>
              </a:spcBef>
              <a:spcAft>
                <a:spcPts val="0"/>
              </a:spcAft>
              <a:defRPr sz="800" b="1" i="0">
                <a:solidFill>
                  <a:srgbClr val="087E78"/>
                </a:solidFill>
                <a:latin typeface="Aptos"/>
              </a:defRPr>
            </a:pPr>
            <a:r>
              <a:t>EXPLICIT MEMORY</a:t>
            </a:r>
          </a:p>
        </p:txBody>
      </p:sp>
      <p:sp>
        <p:nvSpPr>
          <p:cNvPr id="17" name="TextBox 16"/>
          <p:cNvSpPr txBox="1"/>
          <p:nvPr/>
        </p:nvSpPr>
        <p:spPr>
          <a:xfrm>
            <a:off x="6409944" y="2340864"/>
            <a:ext cx="4828032" cy="438912"/>
          </a:xfrm>
          <a:prstGeom prst="rect">
            <a:avLst/>
          </a:prstGeom>
          <a:noFill/>
        </p:spPr>
        <p:txBody>
          <a:bodyPr wrap="square" lIns="0" tIns="0" rIns="0" bIns="0" anchor="t">
            <a:spAutoFit/>
          </a:bodyPr>
          <a:lstStyle/>
          <a:p>
            <a:pPr algn="l">
              <a:spcBef>
                <a:spcPts val="0"/>
              </a:spcBef>
              <a:spcAft>
                <a:spcPts val="0"/>
              </a:spcAft>
              <a:defRPr sz="1300" b="1" i="0">
                <a:solidFill>
                  <a:srgbClr val="172A3A"/>
                </a:solidFill>
                <a:latin typeface="Aptos"/>
              </a:defRPr>
            </a:pPr>
            <a:r>
              <a:t>Store past visual features or mask evidence.</a:t>
            </a:r>
          </a:p>
        </p:txBody>
      </p:sp>
      <p:sp>
        <p:nvSpPr>
          <p:cNvPr id="18" name="TextBox 17"/>
          <p:cNvSpPr txBox="1"/>
          <p:nvPr/>
        </p:nvSpPr>
        <p:spPr>
          <a:xfrm>
            <a:off x="6409944" y="2807208"/>
            <a:ext cx="4828032" cy="329184"/>
          </a:xfrm>
          <a:prstGeom prst="rect">
            <a:avLst/>
          </a:prstGeom>
          <a:noFill/>
        </p:spPr>
        <p:txBody>
          <a:bodyPr wrap="square" lIns="0" tIns="0" rIns="0" bIns="0" anchor="t">
            <a:spAutoFit/>
          </a:bodyPr>
          <a:lstStyle/>
          <a:p>
            <a:pPr algn="l">
              <a:spcBef>
                <a:spcPts val="0"/>
              </a:spcBef>
              <a:spcAft>
                <a:spcPts val="0"/>
              </a:spcAft>
              <a:defRPr sz="1060" b="0" i="0">
                <a:solidFill>
                  <a:srgbClr val="5E6D7B"/>
                </a:solidFill>
                <a:latin typeface="Aptos"/>
              </a:defRPr>
            </a:pPr>
            <a:r>
              <a:t>Helps reappearance; stale memory can lock onto the wrong target.</a:t>
            </a:r>
          </a:p>
        </p:txBody>
      </p:sp>
      <p:sp>
        <p:nvSpPr>
          <p:cNvPr id="19" name="TextBox 18"/>
          <p:cNvSpPr txBox="1"/>
          <p:nvPr/>
        </p:nvSpPr>
        <p:spPr>
          <a:xfrm>
            <a:off x="6409944" y="3255264"/>
            <a:ext cx="4828032" cy="182880"/>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SAM 2 · SAMWISE · RefSAM</a:t>
            </a:r>
          </a:p>
        </p:txBody>
      </p:sp>
      <p:sp>
        <p:nvSpPr>
          <p:cNvPr id="20" name="Rounded Rectangle 19"/>
          <p:cNvSpPr/>
          <p:nvPr/>
        </p:nvSpPr>
        <p:spPr>
          <a:xfrm>
            <a:off x="731520" y="3822191"/>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32688" y="4005072"/>
            <a:ext cx="2331720"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027932"/>
            <a:ext cx="2185415" cy="210312"/>
          </a:xfrm>
          <a:prstGeom prst="rect">
            <a:avLst/>
          </a:prstGeom>
          <a:noFill/>
        </p:spPr>
        <p:txBody>
          <a:bodyPr wrap="square" lIns="0" tIns="0" rIns="0" bIns="0" anchor="ctr">
            <a:spAutoFit/>
          </a:bodyPr>
          <a:lstStyle/>
          <a:p>
            <a:pPr algn="ctr">
              <a:spcBef>
                <a:spcPts val="0"/>
              </a:spcBef>
              <a:spcAft>
                <a:spcPts val="0"/>
              </a:spcAft>
              <a:defRPr sz="800" b="1" i="0">
                <a:solidFill>
                  <a:srgbClr val="A16F00"/>
                </a:solidFill>
                <a:latin typeface="Aptos"/>
              </a:defRPr>
            </a:pPr>
            <a:r>
              <a:t>MOTION-AWARE GROUNDING</a:t>
            </a:r>
          </a:p>
        </p:txBody>
      </p:sp>
      <p:sp>
        <p:nvSpPr>
          <p:cNvPr id="23" name="TextBox 22"/>
          <p:cNvSpPr txBox="1"/>
          <p:nvPr/>
        </p:nvSpPr>
        <p:spPr>
          <a:xfrm>
            <a:off x="960120" y="4462272"/>
            <a:ext cx="4828032" cy="438912"/>
          </a:xfrm>
          <a:prstGeom prst="rect">
            <a:avLst/>
          </a:prstGeom>
          <a:noFill/>
        </p:spPr>
        <p:txBody>
          <a:bodyPr wrap="square" lIns="0" tIns="0" rIns="0" bIns="0" anchor="t">
            <a:spAutoFit/>
          </a:bodyPr>
          <a:lstStyle/>
          <a:p>
            <a:pPr algn="l">
              <a:spcBef>
                <a:spcPts val="0"/>
              </a:spcBef>
              <a:spcAft>
                <a:spcPts val="0"/>
              </a:spcAft>
              <a:defRPr sz="1300" b="1" i="0">
                <a:solidFill>
                  <a:srgbClr val="172A3A"/>
                </a:solidFill>
                <a:latin typeface="Aptos"/>
              </a:defRPr>
            </a:pPr>
            <a:r>
              <a:t>Separate or align verbs, trajectories, and multi-scale motion.</a:t>
            </a:r>
          </a:p>
        </p:txBody>
      </p:sp>
      <p:sp>
        <p:nvSpPr>
          <p:cNvPr id="24" name="TextBox 23"/>
          <p:cNvSpPr txBox="1"/>
          <p:nvPr/>
        </p:nvSpPr>
        <p:spPr>
          <a:xfrm>
            <a:off x="960120" y="4928616"/>
            <a:ext cx="4828032" cy="329184"/>
          </a:xfrm>
          <a:prstGeom prst="rect">
            <a:avLst/>
          </a:prstGeom>
          <a:noFill/>
        </p:spPr>
        <p:txBody>
          <a:bodyPr wrap="square" lIns="0" tIns="0" rIns="0" bIns="0" anchor="t">
            <a:spAutoFit/>
          </a:bodyPr>
          <a:lstStyle/>
          <a:p>
            <a:pPr algn="l">
              <a:spcBef>
                <a:spcPts val="0"/>
              </a:spcBef>
              <a:spcAft>
                <a:spcPts val="0"/>
              </a:spcAft>
              <a:defRPr sz="1060" b="0" i="0">
                <a:solidFill>
                  <a:srgbClr val="5E6D7B"/>
                </a:solidFill>
                <a:latin typeface="Aptos"/>
              </a:defRPr>
            </a:pPr>
            <a:r>
              <a:t>Targets action-dependent expressions; subtle motion remains hard.</a:t>
            </a:r>
          </a:p>
        </p:txBody>
      </p:sp>
      <p:sp>
        <p:nvSpPr>
          <p:cNvPr id="25" name="TextBox 24"/>
          <p:cNvSpPr txBox="1"/>
          <p:nvPr/>
        </p:nvSpPr>
        <p:spPr>
          <a:xfrm>
            <a:off x="960120" y="5376672"/>
            <a:ext cx="4828032" cy="182880"/>
          </a:xfrm>
          <a:prstGeom prst="rect">
            <a:avLst/>
          </a:prstGeom>
          <a:noFill/>
        </p:spPr>
        <p:txBody>
          <a:bodyPr wrap="square" lIns="0" tIns="0" rIns="0" bIns="0" anchor="t">
            <a:spAutoFit/>
          </a:bodyPr>
          <a:lstStyle/>
          <a:p>
            <a:pPr algn="l">
              <a:spcBef>
                <a:spcPts val="0"/>
              </a:spcBef>
              <a:spcAft>
                <a:spcPts val="0"/>
              </a:spcAft>
              <a:defRPr sz="900" b="1" i="0">
                <a:solidFill>
                  <a:srgbClr val="A16F00"/>
                </a:solidFill>
                <a:latin typeface="Aptos"/>
              </a:defRPr>
            </a:pPr>
            <a:r>
              <a:t>LMPM · HTML · DsHmp</a:t>
            </a:r>
          </a:p>
        </p:txBody>
      </p:sp>
      <p:sp>
        <p:nvSpPr>
          <p:cNvPr id="26" name="Rounded Rectangle 25"/>
          <p:cNvSpPr/>
          <p:nvPr/>
        </p:nvSpPr>
        <p:spPr>
          <a:xfrm>
            <a:off x="6181344" y="3822191"/>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382512" y="4005072"/>
            <a:ext cx="2331720"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55664" y="4027932"/>
            <a:ext cx="2185415" cy="210312"/>
          </a:xfrm>
          <a:prstGeom prst="rect">
            <a:avLst/>
          </a:prstGeom>
          <a:noFill/>
        </p:spPr>
        <p:txBody>
          <a:bodyPr wrap="square" lIns="0" tIns="0" rIns="0" bIns="0" anchor="ctr">
            <a:spAutoFit/>
          </a:bodyPr>
          <a:lstStyle/>
          <a:p>
            <a:pPr algn="ctr">
              <a:spcBef>
                <a:spcPts val="0"/>
              </a:spcBef>
              <a:spcAft>
                <a:spcPts val="0"/>
              </a:spcAft>
              <a:defRPr sz="800" b="1" i="0">
                <a:solidFill>
                  <a:srgbClr val="F07167"/>
                </a:solidFill>
                <a:latin typeface="Aptos"/>
              </a:defRPr>
            </a:pPr>
            <a:r>
              <a:t>MLLM-BASED REASONING</a:t>
            </a:r>
          </a:p>
        </p:txBody>
      </p:sp>
      <p:sp>
        <p:nvSpPr>
          <p:cNvPr id="29" name="TextBox 28"/>
          <p:cNvSpPr txBox="1"/>
          <p:nvPr/>
        </p:nvSpPr>
        <p:spPr>
          <a:xfrm>
            <a:off x="6409944" y="4462272"/>
            <a:ext cx="4828032" cy="438912"/>
          </a:xfrm>
          <a:prstGeom prst="rect">
            <a:avLst/>
          </a:prstGeom>
          <a:noFill/>
        </p:spPr>
        <p:txBody>
          <a:bodyPr wrap="square" lIns="0" tIns="0" rIns="0" bIns="0" anchor="t">
            <a:spAutoFit/>
          </a:bodyPr>
          <a:lstStyle/>
          <a:p>
            <a:pPr algn="l">
              <a:spcBef>
                <a:spcPts val="0"/>
              </a:spcBef>
              <a:spcAft>
                <a:spcPts val="0"/>
              </a:spcAft>
              <a:defRPr sz="1300" b="1" i="0">
                <a:solidFill>
                  <a:srgbClr val="172A3A"/>
                </a:solidFill>
                <a:latin typeface="Aptos"/>
              </a:defRPr>
            </a:pPr>
            <a:r>
              <a:t>Use broad semantic knowledge to interpret implicit queries.</a:t>
            </a:r>
          </a:p>
        </p:txBody>
      </p:sp>
      <p:sp>
        <p:nvSpPr>
          <p:cNvPr id="30" name="TextBox 29"/>
          <p:cNvSpPr txBox="1"/>
          <p:nvPr/>
        </p:nvSpPr>
        <p:spPr>
          <a:xfrm>
            <a:off x="6409944" y="4928616"/>
            <a:ext cx="4828032" cy="329184"/>
          </a:xfrm>
          <a:prstGeom prst="rect">
            <a:avLst/>
          </a:prstGeom>
          <a:noFill/>
        </p:spPr>
        <p:txBody>
          <a:bodyPr wrap="square" lIns="0" tIns="0" rIns="0" bIns="0" anchor="t">
            <a:spAutoFit/>
          </a:bodyPr>
          <a:lstStyle/>
          <a:p>
            <a:pPr algn="l">
              <a:spcBef>
                <a:spcPts val="0"/>
              </a:spcBef>
              <a:spcAft>
                <a:spcPts val="0"/>
              </a:spcAft>
              <a:defRPr sz="1060" b="0" i="0">
                <a:solidFill>
                  <a:srgbClr val="5E6D7B"/>
                </a:solidFill>
                <a:latin typeface="Aptos"/>
              </a:defRPr>
            </a:pPr>
            <a:r>
              <a:t>Can resolve nonvisual wording; adds latency and compute.</a:t>
            </a:r>
          </a:p>
        </p:txBody>
      </p:sp>
      <p:sp>
        <p:nvSpPr>
          <p:cNvPr id="31" name="TextBox 30"/>
          <p:cNvSpPr txBox="1"/>
          <p:nvPr/>
        </p:nvSpPr>
        <p:spPr>
          <a:xfrm>
            <a:off x="6409944" y="5376672"/>
            <a:ext cx="4828032" cy="182880"/>
          </a:xfrm>
          <a:prstGeom prst="rect">
            <a:avLst/>
          </a:prstGeom>
          <a:noFill/>
        </p:spPr>
        <p:txBody>
          <a:bodyPr wrap="square" lIns="0" tIns="0" rIns="0" bIns="0" anchor="t">
            <a:spAutoFit/>
          </a:bodyPr>
          <a:lstStyle/>
          <a:p>
            <a:pPr algn="l">
              <a:spcBef>
                <a:spcPts val="0"/>
              </a:spcBef>
              <a:spcAft>
                <a:spcPts val="0"/>
              </a:spcAft>
              <a:defRPr sz="900" b="1" i="0">
                <a:solidFill>
                  <a:srgbClr val="F07167"/>
                </a:solidFill>
                <a:latin typeface="Aptos"/>
              </a:defRPr>
            </a:pPr>
            <a:r>
              <a:t>VISA · LISA · VideoLISA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EVALUATION</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Benchmarks test different capabilities</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III; Tables III–IV.</a:t>
            </a:r>
          </a:p>
        </p:txBody>
      </p:sp>
      <p:sp>
        <p:nvSpPr>
          <p:cNvPr id="8" name="Rounded Rectangle 7"/>
          <p:cNvSpPr/>
          <p:nvPr/>
        </p:nvSpPr>
        <p:spPr>
          <a:xfrm>
            <a:off x="731520" y="175564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96112" y="1901952"/>
            <a:ext cx="1883664"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9264" y="1924812"/>
            <a:ext cx="1737360" cy="210312"/>
          </a:xfrm>
          <a:prstGeom prst="rect">
            <a:avLst/>
          </a:prstGeom>
          <a:noFill/>
        </p:spPr>
        <p:txBody>
          <a:bodyPr wrap="square" lIns="0" tIns="0" rIns="0" bIns="0" anchor="ctr">
            <a:spAutoFit/>
          </a:bodyPr>
          <a:lstStyle/>
          <a:p>
            <a:pPr algn="ctr">
              <a:spcBef>
                <a:spcPts val="0"/>
              </a:spcBef>
              <a:spcAft>
                <a:spcPts val="0"/>
              </a:spcAft>
              <a:defRPr sz="750" b="1" i="0">
                <a:solidFill>
                  <a:srgbClr val="5A8DEE"/>
                </a:solidFill>
                <a:latin typeface="Aptos"/>
              </a:defRPr>
            </a:pPr>
            <a:r>
              <a:t>GENERAL REFERRING VIDEO</a:t>
            </a:r>
          </a:p>
        </p:txBody>
      </p:sp>
      <p:sp>
        <p:nvSpPr>
          <p:cNvPr id="11" name="TextBox 10"/>
          <p:cNvSpPr txBox="1"/>
          <p:nvPr/>
        </p:nvSpPr>
        <p:spPr>
          <a:xfrm>
            <a:off x="932688" y="2286000"/>
            <a:ext cx="4828031" cy="256032"/>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Ref-YouTube-VOS  ·  Ref-DAVIS17</a:t>
            </a:r>
          </a:p>
        </p:txBody>
      </p:sp>
      <p:sp>
        <p:nvSpPr>
          <p:cNvPr id="12" name="TextBox 11"/>
          <p:cNvSpPr txBox="1"/>
          <p:nvPr/>
        </p:nvSpPr>
        <p:spPr>
          <a:xfrm>
            <a:off x="932688" y="2651760"/>
            <a:ext cx="4828031" cy="36576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Ground a described object and preserve its mask over time.</a:t>
            </a:r>
          </a:p>
        </p:txBody>
      </p:sp>
      <p:sp>
        <p:nvSpPr>
          <p:cNvPr id="13" name="Rounded Rectangle 12"/>
          <p:cNvSpPr/>
          <p:nvPr/>
        </p:nvSpPr>
        <p:spPr>
          <a:xfrm>
            <a:off x="6199632" y="175564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64224" y="1901952"/>
            <a:ext cx="1883664"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7376" y="1924812"/>
            <a:ext cx="1737360" cy="210312"/>
          </a:xfrm>
          <a:prstGeom prst="rect">
            <a:avLst/>
          </a:prstGeom>
          <a:noFill/>
        </p:spPr>
        <p:txBody>
          <a:bodyPr wrap="square" lIns="0" tIns="0" rIns="0" bIns="0" anchor="ctr">
            <a:spAutoFit/>
          </a:bodyPr>
          <a:lstStyle/>
          <a:p>
            <a:pPr algn="ctr">
              <a:spcBef>
                <a:spcPts val="0"/>
              </a:spcBef>
              <a:spcAft>
                <a:spcPts val="0"/>
              </a:spcAft>
              <a:defRPr sz="750" b="1" i="0">
                <a:solidFill>
                  <a:srgbClr val="087E78"/>
                </a:solidFill>
                <a:latin typeface="Aptos"/>
              </a:defRPr>
            </a:pPr>
            <a:r>
              <a:t>MOTION-CENTRIC</a:t>
            </a:r>
          </a:p>
        </p:txBody>
      </p:sp>
      <p:sp>
        <p:nvSpPr>
          <p:cNvPr id="16" name="TextBox 15"/>
          <p:cNvSpPr txBox="1"/>
          <p:nvPr/>
        </p:nvSpPr>
        <p:spPr>
          <a:xfrm>
            <a:off x="6400800" y="2286000"/>
            <a:ext cx="4828031" cy="256032"/>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MeViS</a:t>
            </a:r>
          </a:p>
        </p:txBody>
      </p:sp>
      <p:sp>
        <p:nvSpPr>
          <p:cNvPr id="17" name="TextBox 16"/>
          <p:cNvSpPr txBox="1"/>
          <p:nvPr/>
        </p:nvSpPr>
        <p:spPr>
          <a:xfrm>
            <a:off x="6400800" y="2651760"/>
            <a:ext cx="4828031" cy="36576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Use movement to distinguish targets that look similar.</a:t>
            </a:r>
          </a:p>
        </p:txBody>
      </p:sp>
      <p:sp>
        <p:nvSpPr>
          <p:cNvPr id="18" name="Rounded Rectangle 17"/>
          <p:cNvSpPr/>
          <p:nvPr/>
        </p:nvSpPr>
        <p:spPr>
          <a:xfrm>
            <a:off x="731520" y="340156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6112" y="3547872"/>
            <a:ext cx="1883664"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9264" y="3570732"/>
            <a:ext cx="1737360" cy="210312"/>
          </a:xfrm>
          <a:prstGeom prst="rect">
            <a:avLst/>
          </a:prstGeom>
          <a:noFill/>
        </p:spPr>
        <p:txBody>
          <a:bodyPr wrap="square" lIns="0" tIns="0" rIns="0" bIns="0" anchor="ctr">
            <a:spAutoFit/>
          </a:bodyPr>
          <a:lstStyle/>
          <a:p>
            <a:pPr algn="ctr">
              <a:spcBef>
                <a:spcPts val="0"/>
              </a:spcBef>
              <a:spcAft>
                <a:spcPts val="0"/>
              </a:spcAft>
              <a:defRPr sz="750" b="1" i="0">
                <a:solidFill>
                  <a:srgbClr val="A16F00"/>
                </a:solidFill>
                <a:latin typeface="Aptos"/>
              </a:defRPr>
            </a:pPr>
            <a:r>
              <a:t>ACTION-CENTRIC</a:t>
            </a:r>
          </a:p>
        </p:txBody>
      </p:sp>
      <p:sp>
        <p:nvSpPr>
          <p:cNvPr id="21" name="TextBox 20"/>
          <p:cNvSpPr txBox="1"/>
          <p:nvPr/>
        </p:nvSpPr>
        <p:spPr>
          <a:xfrm>
            <a:off x="932688" y="3931920"/>
            <a:ext cx="4828031" cy="256032"/>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A2D-Sentences  ·  JHMDB-Sentences</a:t>
            </a:r>
          </a:p>
        </p:txBody>
      </p:sp>
      <p:sp>
        <p:nvSpPr>
          <p:cNvPr id="22" name="TextBox 21"/>
          <p:cNvSpPr txBox="1"/>
          <p:nvPr/>
        </p:nvSpPr>
        <p:spPr>
          <a:xfrm>
            <a:off x="932688" y="4297680"/>
            <a:ext cx="4828031" cy="36576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Evaluate language-guided segmentation in action scenes.</a:t>
            </a:r>
          </a:p>
        </p:txBody>
      </p:sp>
      <p:sp>
        <p:nvSpPr>
          <p:cNvPr id="23" name="Rounded Rectangle 22"/>
          <p:cNvSpPr/>
          <p:nvPr/>
        </p:nvSpPr>
        <p:spPr>
          <a:xfrm>
            <a:off x="6199632" y="340156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64224" y="3547872"/>
            <a:ext cx="1883664"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37376" y="3570732"/>
            <a:ext cx="1737360" cy="210312"/>
          </a:xfrm>
          <a:prstGeom prst="rect">
            <a:avLst/>
          </a:prstGeom>
          <a:noFill/>
        </p:spPr>
        <p:txBody>
          <a:bodyPr wrap="square" lIns="0" tIns="0" rIns="0" bIns="0" anchor="ctr">
            <a:spAutoFit/>
          </a:bodyPr>
          <a:lstStyle/>
          <a:p>
            <a:pPr algn="ctr">
              <a:spcBef>
                <a:spcPts val="0"/>
              </a:spcBef>
              <a:spcAft>
                <a:spcPts val="0"/>
              </a:spcAft>
              <a:defRPr sz="750" b="1" i="0">
                <a:solidFill>
                  <a:srgbClr val="F07167"/>
                </a:solidFill>
                <a:latin typeface="Aptos"/>
              </a:defRPr>
            </a:pPr>
            <a:r>
              <a:t>REASONING-ORIENTED</a:t>
            </a:r>
          </a:p>
        </p:txBody>
      </p:sp>
      <p:sp>
        <p:nvSpPr>
          <p:cNvPr id="26" name="TextBox 25"/>
          <p:cNvSpPr txBox="1"/>
          <p:nvPr/>
        </p:nvSpPr>
        <p:spPr>
          <a:xfrm>
            <a:off x="6400800" y="3931920"/>
            <a:ext cx="4828031" cy="256032"/>
          </a:xfrm>
          <a:prstGeom prst="rect">
            <a:avLst/>
          </a:prstGeom>
          <a:noFill/>
        </p:spPr>
        <p:txBody>
          <a:bodyPr wrap="square" lIns="0" tIns="0" rIns="0" bIns="0" anchor="t">
            <a:spAutoFit/>
          </a:bodyPr>
          <a:lstStyle/>
          <a:p>
            <a:pPr algn="l">
              <a:spcBef>
                <a:spcPts val="0"/>
              </a:spcBef>
              <a:spcAft>
                <a:spcPts val="0"/>
              </a:spcAft>
              <a:defRPr sz="1400" b="1" i="0">
                <a:solidFill>
                  <a:srgbClr val="122438"/>
                </a:solidFill>
                <a:latin typeface="Aptos"/>
              </a:defRPr>
            </a:pPr>
            <a:r>
              <a:t>ReVOS</a:t>
            </a:r>
          </a:p>
        </p:txBody>
      </p:sp>
      <p:sp>
        <p:nvSpPr>
          <p:cNvPr id="27" name="TextBox 26"/>
          <p:cNvSpPr txBox="1"/>
          <p:nvPr/>
        </p:nvSpPr>
        <p:spPr>
          <a:xfrm>
            <a:off x="6400800" y="4297680"/>
            <a:ext cx="4828031" cy="36576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Test expressions that require event or semantic inference.</a:t>
            </a:r>
          </a:p>
        </p:txBody>
      </p:sp>
      <p:sp>
        <p:nvSpPr>
          <p:cNvPr id="28" name="Rounded Rectangle 27"/>
          <p:cNvSpPr/>
          <p:nvPr/>
        </p:nvSpPr>
        <p:spPr>
          <a:xfrm>
            <a:off x="749808" y="5175504"/>
            <a:ext cx="10652760" cy="740664"/>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 y="5330952"/>
            <a:ext cx="2084831" cy="219456"/>
          </a:xfrm>
          <a:prstGeom prst="rect">
            <a:avLst/>
          </a:prstGeom>
          <a:noFill/>
        </p:spPr>
        <p:txBody>
          <a:bodyPr wrap="square" lIns="0" tIns="0" rIns="0" bIns="0" anchor="t">
            <a:spAutoFit/>
          </a:bodyPr>
          <a:lstStyle/>
          <a:p>
            <a:pPr algn="l">
              <a:spcBef>
                <a:spcPts val="0"/>
              </a:spcBef>
              <a:spcAft>
                <a:spcPts val="0"/>
              </a:spcAft>
              <a:defRPr sz="900" b="1" i="0">
                <a:solidFill>
                  <a:srgbClr val="65D5CC"/>
                </a:solidFill>
                <a:latin typeface="Aptos"/>
              </a:defRPr>
            </a:pPr>
            <a:r>
              <a:t>COMMON METRICS</a:t>
            </a:r>
          </a:p>
        </p:txBody>
      </p:sp>
      <p:sp>
        <p:nvSpPr>
          <p:cNvPr id="30" name="TextBox 29"/>
          <p:cNvSpPr txBox="1"/>
          <p:nvPr/>
        </p:nvSpPr>
        <p:spPr>
          <a:xfrm>
            <a:off x="2788920" y="5285232"/>
            <a:ext cx="3383280" cy="384048"/>
          </a:xfrm>
          <a:prstGeom prst="rect">
            <a:avLst/>
          </a:prstGeom>
          <a:noFill/>
        </p:spPr>
        <p:txBody>
          <a:bodyPr wrap="square" lIns="0" tIns="0" rIns="0" bIns="0" anchor="t">
            <a:spAutoFit/>
          </a:bodyPr>
          <a:lstStyle/>
          <a:p>
            <a:pPr algn="l">
              <a:spcBef>
                <a:spcPts val="0"/>
              </a:spcBef>
              <a:spcAft>
                <a:spcPts val="0"/>
              </a:spcAft>
              <a:defRPr sz="1100" b="1" i="0">
                <a:solidFill>
                  <a:srgbClr val="FFFFFF"/>
                </a:solidFill>
                <a:latin typeface="Aptos"/>
              </a:defRPr>
            </a:pPr>
            <a:r>
              <a:t>J&amp;F  ·  region overlap + boundary quality</a:t>
            </a:r>
          </a:p>
        </p:txBody>
      </p:sp>
      <p:cxnSp>
        <p:nvCxnSpPr>
          <p:cNvPr id="31" name="Connector 30"/>
          <p:cNvCxnSpPr/>
          <p:nvPr/>
        </p:nvCxnSpPr>
        <p:spPr>
          <a:xfrm>
            <a:off x="6172200" y="5303520"/>
            <a:ext cx="0" cy="484632"/>
          </a:xfrm>
          <a:prstGeom prst="line">
            <a:avLst/>
          </a:prstGeom>
          <a:ln w="12700">
            <a:solidFill>
              <a:srgbClr val="48607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28232" y="5285232"/>
            <a:ext cx="4617720" cy="384048"/>
          </a:xfrm>
          <a:prstGeom prst="rect">
            <a:avLst/>
          </a:prstGeom>
          <a:noFill/>
        </p:spPr>
        <p:txBody>
          <a:bodyPr wrap="square" lIns="0" tIns="0" rIns="0" bIns="0" anchor="t">
            <a:spAutoFit/>
          </a:bodyPr>
          <a:lstStyle/>
          <a:p>
            <a:pPr algn="l">
              <a:spcBef>
                <a:spcPts val="0"/>
              </a:spcBef>
              <a:spcAft>
                <a:spcPts val="0"/>
              </a:spcAft>
              <a:defRPr sz="1100" b="1" i="0">
                <a:solidFill>
                  <a:srgbClr val="FFFFFF"/>
                </a:solidFill>
                <a:latin typeface="Aptos"/>
              </a:defRPr>
            </a:pPr>
            <a:r>
              <a:t>mAP / IoU  ·  action-centric evaluations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EVIDENCE FROM REPORTED SCORES</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Motion benchmarks reveal the appearance gap</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Table III. Published scores compiled from original papers; not independently reproduced.</a:t>
            </a:r>
          </a:p>
        </p:txBody>
      </p:sp>
      <p:sp>
        <p:nvSpPr>
          <p:cNvPr id="8" name="TextBox 7"/>
          <p:cNvSpPr txBox="1"/>
          <p:nvPr/>
        </p:nvSpPr>
        <p:spPr>
          <a:xfrm>
            <a:off x="786384" y="1591056"/>
            <a:ext cx="7406640" cy="310896"/>
          </a:xfrm>
          <a:prstGeom prst="rect">
            <a:avLst/>
          </a:prstGeom>
          <a:noFill/>
        </p:spPr>
        <p:txBody>
          <a:bodyPr wrap="square" lIns="0" tIns="0" rIns="0" bIns="0" anchor="t">
            <a:spAutoFit/>
          </a:bodyPr>
          <a:lstStyle/>
          <a:p>
            <a:pPr algn="l">
              <a:spcBef>
                <a:spcPts val="0"/>
              </a:spcBef>
              <a:spcAft>
                <a:spcPts val="0"/>
              </a:spcAft>
              <a:defRPr sz="1700" b="1" i="0">
                <a:solidFill>
                  <a:srgbClr val="122438"/>
                </a:solidFill>
                <a:latin typeface="Aptos"/>
              </a:defRPr>
            </a:pPr>
            <a:r>
              <a:t>Selected reported MeViS J&amp;F scores</a:t>
            </a:r>
          </a:p>
        </p:txBody>
      </p:sp>
      <p:sp>
        <p:nvSpPr>
          <p:cNvPr id="9" name="TextBox 8"/>
          <p:cNvSpPr txBox="1"/>
          <p:nvPr/>
        </p:nvSpPr>
        <p:spPr>
          <a:xfrm>
            <a:off x="786384" y="1938528"/>
            <a:ext cx="8046720" cy="256032"/>
          </a:xfrm>
          <a:prstGeom prst="rect">
            <a:avLst/>
          </a:prstGeom>
          <a:noFill/>
        </p:spPr>
        <p:txBody>
          <a:bodyPr wrap="square" lIns="0" tIns="0" rIns="0" bIns="0" anchor="t">
            <a:spAutoFit/>
          </a:bodyPr>
          <a:lstStyle/>
          <a:p>
            <a:pPr algn="l">
              <a:spcBef>
                <a:spcPts val="0"/>
              </a:spcBef>
              <a:spcAft>
                <a:spcPts val="0"/>
              </a:spcAft>
              <a:defRPr sz="1100" b="0" i="0">
                <a:solidFill>
                  <a:srgbClr val="5E6D7B"/>
                </a:solidFill>
                <a:latin typeface="Aptos"/>
              </a:defRPr>
            </a:pPr>
            <a:r>
              <a:t>MeViS emphasizes motion-dependent referring expressions.</a:t>
            </a:r>
          </a:p>
        </p:txBody>
      </p:sp>
      <p:cxnSp>
        <p:nvCxnSpPr>
          <p:cNvPr id="10" name="Connector 9"/>
          <p:cNvCxnSpPr/>
          <p:nvPr/>
        </p:nvCxnSpPr>
        <p:spPr>
          <a:xfrm>
            <a:off x="3611880"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4720" y="5404104"/>
            <a:ext cx="320040" cy="164592"/>
          </a:xfrm>
          <a:prstGeom prst="rect">
            <a:avLst/>
          </a:prstGeom>
          <a:noFill/>
        </p:spPr>
        <p:txBody>
          <a:bodyPr wrap="square" lIns="0" tIns="0" rIns="0" bIns="0" anchor="t">
            <a:spAutoFit/>
          </a:bodyPr>
          <a:lstStyle/>
          <a:p>
            <a:pPr algn="ctr">
              <a:spcBef>
                <a:spcPts val="0"/>
              </a:spcBef>
              <a:spcAft>
                <a:spcPts val="0"/>
              </a:spcAft>
              <a:defRPr sz="800" b="0" i="0">
                <a:solidFill>
                  <a:srgbClr val="5E6D7B"/>
                </a:solidFill>
                <a:latin typeface="Aptos"/>
              </a:defRPr>
            </a:pPr>
            <a:r>
              <a:t>0</a:t>
            </a:r>
          </a:p>
        </p:txBody>
      </p:sp>
      <p:cxnSp>
        <p:nvCxnSpPr>
          <p:cNvPr id="12" name="Connector 11"/>
          <p:cNvCxnSpPr/>
          <p:nvPr/>
        </p:nvCxnSpPr>
        <p:spPr>
          <a:xfrm>
            <a:off x="4694529"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57369" y="5404104"/>
            <a:ext cx="320040" cy="164592"/>
          </a:xfrm>
          <a:prstGeom prst="rect">
            <a:avLst/>
          </a:prstGeom>
          <a:noFill/>
        </p:spPr>
        <p:txBody>
          <a:bodyPr wrap="square" lIns="0" tIns="0" rIns="0" bIns="0" anchor="t">
            <a:spAutoFit/>
          </a:bodyPr>
          <a:lstStyle/>
          <a:p>
            <a:pPr algn="ctr">
              <a:spcBef>
                <a:spcPts val="0"/>
              </a:spcBef>
              <a:spcAft>
                <a:spcPts val="0"/>
              </a:spcAft>
              <a:defRPr sz="800" b="0" i="0">
                <a:solidFill>
                  <a:srgbClr val="5E6D7B"/>
                </a:solidFill>
                <a:latin typeface="Aptos"/>
              </a:defRPr>
            </a:pPr>
            <a:r>
              <a:t>10</a:t>
            </a:r>
          </a:p>
        </p:txBody>
      </p:sp>
      <p:cxnSp>
        <p:nvCxnSpPr>
          <p:cNvPr id="14" name="Connector 13"/>
          <p:cNvCxnSpPr/>
          <p:nvPr/>
        </p:nvCxnSpPr>
        <p:spPr>
          <a:xfrm>
            <a:off x="5777179"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40019" y="5404104"/>
            <a:ext cx="320040" cy="164592"/>
          </a:xfrm>
          <a:prstGeom prst="rect">
            <a:avLst/>
          </a:prstGeom>
          <a:noFill/>
        </p:spPr>
        <p:txBody>
          <a:bodyPr wrap="square" lIns="0" tIns="0" rIns="0" bIns="0" anchor="t">
            <a:spAutoFit/>
          </a:bodyPr>
          <a:lstStyle/>
          <a:p>
            <a:pPr algn="ctr">
              <a:spcBef>
                <a:spcPts val="0"/>
              </a:spcBef>
              <a:spcAft>
                <a:spcPts val="0"/>
              </a:spcAft>
              <a:defRPr sz="800" b="0" i="0">
                <a:solidFill>
                  <a:srgbClr val="5E6D7B"/>
                </a:solidFill>
                <a:latin typeface="Aptos"/>
              </a:defRPr>
            </a:pPr>
            <a:r>
              <a:t>20</a:t>
            </a:r>
          </a:p>
        </p:txBody>
      </p:sp>
      <p:cxnSp>
        <p:nvCxnSpPr>
          <p:cNvPr id="16" name="Connector 15"/>
          <p:cNvCxnSpPr/>
          <p:nvPr/>
        </p:nvCxnSpPr>
        <p:spPr>
          <a:xfrm>
            <a:off x="6859828"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722668" y="5404104"/>
            <a:ext cx="320040" cy="164592"/>
          </a:xfrm>
          <a:prstGeom prst="rect">
            <a:avLst/>
          </a:prstGeom>
          <a:noFill/>
        </p:spPr>
        <p:txBody>
          <a:bodyPr wrap="square" lIns="0" tIns="0" rIns="0" bIns="0" anchor="t">
            <a:spAutoFit/>
          </a:bodyPr>
          <a:lstStyle/>
          <a:p>
            <a:pPr algn="ctr">
              <a:spcBef>
                <a:spcPts val="0"/>
              </a:spcBef>
              <a:spcAft>
                <a:spcPts val="0"/>
              </a:spcAft>
              <a:defRPr sz="800" b="0" i="0">
                <a:solidFill>
                  <a:srgbClr val="5E6D7B"/>
                </a:solidFill>
                <a:latin typeface="Aptos"/>
              </a:defRPr>
            </a:pPr>
            <a:r>
              <a:t>30</a:t>
            </a:r>
          </a:p>
        </p:txBody>
      </p:sp>
      <p:cxnSp>
        <p:nvCxnSpPr>
          <p:cNvPr id="18" name="Connector 17"/>
          <p:cNvCxnSpPr/>
          <p:nvPr/>
        </p:nvCxnSpPr>
        <p:spPr>
          <a:xfrm>
            <a:off x="7942478"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05318" y="5404104"/>
            <a:ext cx="320040" cy="164592"/>
          </a:xfrm>
          <a:prstGeom prst="rect">
            <a:avLst/>
          </a:prstGeom>
          <a:noFill/>
        </p:spPr>
        <p:txBody>
          <a:bodyPr wrap="square" lIns="0" tIns="0" rIns="0" bIns="0" anchor="t">
            <a:spAutoFit/>
          </a:bodyPr>
          <a:lstStyle/>
          <a:p>
            <a:pPr algn="ctr">
              <a:spcBef>
                <a:spcPts val="0"/>
              </a:spcBef>
              <a:spcAft>
                <a:spcPts val="0"/>
              </a:spcAft>
              <a:defRPr sz="800" b="0" i="0">
                <a:solidFill>
                  <a:srgbClr val="5E6D7B"/>
                </a:solidFill>
                <a:latin typeface="Aptos"/>
              </a:defRPr>
            </a:pPr>
            <a:r>
              <a:t>40</a:t>
            </a:r>
          </a:p>
        </p:txBody>
      </p:sp>
      <p:cxnSp>
        <p:nvCxnSpPr>
          <p:cNvPr id="20" name="Connector 19"/>
          <p:cNvCxnSpPr/>
          <p:nvPr/>
        </p:nvCxnSpPr>
        <p:spPr>
          <a:xfrm>
            <a:off x="9025128"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887968" y="5404104"/>
            <a:ext cx="320040" cy="164592"/>
          </a:xfrm>
          <a:prstGeom prst="rect">
            <a:avLst/>
          </a:prstGeom>
          <a:noFill/>
        </p:spPr>
        <p:txBody>
          <a:bodyPr wrap="square" lIns="0" tIns="0" rIns="0" bIns="0" anchor="t">
            <a:spAutoFit/>
          </a:bodyPr>
          <a:lstStyle/>
          <a:p>
            <a:pPr algn="ctr">
              <a:spcBef>
                <a:spcPts val="0"/>
              </a:spcBef>
              <a:spcAft>
                <a:spcPts val="0"/>
              </a:spcAft>
              <a:defRPr sz="800" b="0" i="0">
                <a:solidFill>
                  <a:srgbClr val="5E6D7B"/>
                </a:solidFill>
                <a:latin typeface="Aptos"/>
              </a:defRPr>
            </a:pPr>
            <a:r>
              <a:t>50</a:t>
            </a:r>
          </a:p>
        </p:txBody>
      </p:sp>
      <p:sp>
        <p:nvSpPr>
          <p:cNvPr id="22" name="TextBox 21"/>
          <p:cNvSpPr txBox="1"/>
          <p:nvPr/>
        </p:nvSpPr>
        <p:spPr>
          <a:xfrm>
            <a:off x="813816" y="2743200"/>
            <a:ext cx="2578608" cy="228600"/>
          </a:xfrm>
          <a:prstGeom prst="rect">
            <a:avLst/>
          </a:prstGeom>
          <a:noFill/>
        </p:spPr>
        <p:txBody>
          <a:bodyPr wrap="square" lIns="0" tIns="0" rIns="0" bIns="0" anchor="t">
            <a:spAutoFit/>
          </a:bodyPr>
          <a:lstStyle/>
          <a:p>
            <a:pPr algn="l">
              <a:spcBef>
                <a:spcPts val="0"/>
              </a:spcBef>
              <a:spcAft>
                <a:spcPts val="0"/>
              </a:spcAft>
              <a:defRPr sz="1100" b="1" i="0">
                <a:solidFill>
                  <a:srgbClr val="172A3A"/>
                </a:solidFill>
                <a:latin typeface="Aptos"/>
              </a:defRPr>
            </a:pPr>
            <a:r>
              <a:t>LMPM · Swin-T</a:t>
            </a:r>
          </a:p>
        </p:txBody>
      </p:sp>
      <p:sp>
        <p:nvSpPr>
          <p:cNvPr id="23" name="Rounded Rectangle 22"/>
          <p:cNvSpPr/>
          <p:nvPr/>
        </p:nvSpPr>
        <p:spPr>
          <a:xfrm>
            <a:off x="3611880" y="2679192"/>
            <a:ext cx="4027456" cy="365760"/>
          </a:xfrm>
          <a:prstGeom prst="roundRect">
            <a:avLst>
              <a:gd name="adj" fmla="val 12000"/>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49064" y="2734056"/>
            <a:ext cx="502920" cy="201168"/>
          </a:xfrm>
          <a:prstGeom prst="rect">
            <a:avLst/>
          </a:prstGeom>
          <a:noFill/>
        </p:spPr>
        <p:txBody>
          <a:bodyPr wrap="square" lIns="0" tIns="0" rIns="0" bIns="0" anchor="t">
            <a:spAutoFit/>
          </a:bodyPr>
          <a:lstStyle/>
          <a:p>
            <a:pPr algn="l">
              <a:spcBef>
                <a:spcPts val="0"/>
              </a:spcBef>
              <a:spcAft>
                <a:spcPts val="0"/>
              </a:spcAft>
              <a:defRPr sz="1100" b="1" i="0">
                <a:solidFill>
                  <a:srgbClr val="122438"/>
                </a:solidFill>
                <a:latin typeface="Aptos"/>
              </a:defRPr>
            </a:pPr>
            <a:r>
              <a:t>37.2</a:t>
            </a:r>
          </a:p>
        </p:txBody>
      </p:sp>
      <p:sp>
        <p:nvSpPr>
          <p:cNvPr id="25" name="TextBox 24"/>
          <p:cNvSpPr txBox="1"/>
          <p:nvPr/>
        </p:nvSpPr>
        <p:spPr>
          <a:xfrm>
            <a:off x="813816" y="3374136"/>
            <a:ext cx="2578608" cy="228600"/>
          </a:xfrm>
          <a:prstGeom prst="rect">
            <a:avLst/>
          </a:prstGeom>
          <a:noFill/>
        </p:spPr>
        <p:txBody>
          <a:bodyPr wrap="square" lIns="0" tIns="0" rIns="0" bIns="0" anchor="t">
            <a:spAutoFit/>
          </a:bodyPr>
          <a:lstStyle/>
          <a:p>
            <a:pPr algn="l">
              <a:spcBef>
                <a:spcPts val="0"/>
              </a:spcBef>
              <a:spcAft>
                <a:spcPts val="0"/>
              </a:spcAft>
              <a:defRPr sz="1100" b="1" i="0">
                <a:solidFill>
                  <a:srgbClr val="172A3A"/>
                </a:solidFill>
                <a:latin typeface="Aptos"/>
              </a:defRPr>
            </a:pPr>
            <a:r>
              <a:t>DsHmp · reported setup</a:t>
            </a:r>
          </a:p>
        </p:txBody>
      </p:sp>
      <p:sp>
        <p:nvSpPr>
          <p:cNvPr id="26" name="Rounded Rectangle 25"/>
          <p:cNvSpPr/>
          <p:nvPr/>
        </p:nvSpPr>
        <p:spPr>
          <a:xfrm>
            <a:off x="3611880" y="3310128"/>
            <a:ext cx="5023494" cy="365760"/>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45102" y="3364992"/>
            <a:ext cx="502920" cy="201168"/>
          </a:xfrm>
          <a:prstGeom prst="rect">
            <a:avLst/>
          </a:prstGeom>
          <a:noFill/>
        </p:spPr>
        <p:txBody>
          <a:bodyPr wrap="square" lIns="0" tIns="0" rIns="0" bIns="0" anchor="t">
            <a:spAutoFit/>
          </a:bodyPr>
          <a:lstStyle/>
          <a:p>
            <a:pPr algn="l">
              <a:spcBef>
                <a:spcPts val="0"/>
              </a:spcBef>
              <a:spcAft>
                <a:spcPts val="0"/>
              </a:spcAft>
              <a:defRPr sz="1100" b="1" i="0">
                <a:solidFill>
                  <a:srgbClr val="122438"/>
                </a:solidFill>
                <a:latin typeface="Aptos"/>
              </a:defRPr>
            </a:pPr>
            <a:r>
              <a:t>46.4</a:t>
            </a:r>
          </a:p>
        </p:txBody>
      </p:sp>
      <p:sp>
        <p:nvSpPr>
          <p:cNvPr id="28" name="TextBox 27"/>
          <p:cNvSpPr txBox="1"/>
          <p:nvPr/>
        </p:nvSpPr>
        <p:spPr>
          <a:xfrm>
            <a:off x="813816" y="4005072"/>
            <a:ext cx="2578608" cy="228600"/>
          </a:xfrm>
          <a:prstGeom prst="rect">
            <a:avLst/>
          </a:prstGeom>
          <a:noFill/>
        </p:spPr>
        <p:txBody>
          <a:bodyPr wrap="square" lIns="0" tIns="0" rIns="0" bIns="0" anchor="t">
            <a:spAutoFit/>
          </a:bodyPr>
          <a:lstStyle/>
          <a:p>
            <a:pPr algn="l">
              <a:spcBef>
                <a:spcPts val="0"/>
              </a:spcBef>
              <a:spcAft>
                <a:spcPts val="0"/>
              </a:spcAft>
              <a:defRPr sz="1100" b="1" i="0">
                <a:solidFill>
                  <a:srgbClr val="172A3A"/>
                </a:solidFill>
                <a:latin typeface="Aptos"/>
              </a:defRPr>
            </a:pPr>
            <a:r>
              <a:t>VISA · Chat-UniVi-7B</a:t>
            </a:r>
          </a:p>
        </p:txBody>
      </p:sp>
      <p:sp>
        <p:nvSpPr>
          <p:cNvPr id="29" name="Rounded Rectangle 28"/>
          <p:cNvSpPr/>
          <p:nvPr/>
        </p:nvSpPr>
        <p:spPr>
          <a:xfrm>
            <a:off x="3611880" y="3941064"/>
            <a:ext cx="4709525" cy="365760"/>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31133" y="3995928"/>
            <a:ext cx="502920" cy="201168"/>
          </a:xfrm>
          <a:prstGeom prst="rect">
            <a:avLst/>
          </a:prstGeom>
          <a:noFill/>
        </p:spPr>
        <p:txBody>
          <a:bodyPr wrap="square" lIns="0" tIns="0" rIns="0" bIns="0" anchor="t">
            <a:spAutoFit/>
          </a:bodyPr>
          <a:lstStyle/>
          <a:p>
            <a:pPr algn="l">
              <a:spcBef>
                <a:spcPts val="0"/>
              </a:spcBef>
              <a:spcAft>
                <a:spcPts val="0"/>
              </a:spcAft>
              <a:defRPr sz="1100" b="1" i="0">
                <a:solidFill>
                  <a:srgbClr val="122438"/>
                </a:solidFill>
                <a:latin typeface="Aptos"/>
              </a:defRPr>
            </a:pPr>
            <a:r>
              <a:t>43.5</a:t>
            </a:r>
          </a:p>
        </p:txBody>
      </p:sp>
      <p:sp>
        <p:nvSpPr>
          <p:cNvPr id="31" name="TextBox 30"/>
          <p:cNvSpPr txBox="1"/>
          <p:nvPr/>
        </p:nvSpPr>
        <p:spPr>
          <a:xfrm>
            <a:off x="813816" y="4636008"/>
            <a:ext cx="2578608" cy="228600"/>
          </a:xfrm>
          <a:prstGeom prst="rect">
            <a:avLst/>
          </a:prstGeom>
          <a:noFill/>
        </p:spPr>
        <p:txBody>
          <a:bodyPr wrap="square" lIns="0" tIns="0" rIns="0" bIns="0" anchor="t">
            <a:spAutoFit/>
          </a:bodyPr>
          <a:lstStyle/>
          <a:p>
            <a:pPr algn="l">
              <a:spcBef>
                <a:spcPts val="0"/>
              </a:spcBef>
              <a:spcAft>
                <a:spcPts val="0"/>
              </a:spcAft>
              <a:defRPr sz="1100" b="1" i="0">
                <a:solidFill>
                  <a:srgbClr val="172A3A"/>
                </a:solidFill>
                <a:latin typeface="Aptos"/>
              </a:defRPr>
            </a:pPr>
            <a:r>
              <a:t>VISA · Chat-UniVi-13B</a:t>
            </a:r>
          </a:p>
        </p:txBody>
      </p:sp>
      <p:sp>
        <p:nvSpPr>
          <p:cNvPr id="32" name="Rounded Rectangle 31"/>
          <p:cNvSpPr/>
          <p:nvPr/>
        </p:nvSpPr>
        <p:spPr>
          <a:xfrm>
            <a:off x="3611880" y="4572000"/>
            <a:ext cx="4817790" cy="365760"/>
          </a:xfrm>
          <a:prstGeom prst="roundRect">
            <a:avLst>
              <a:gd name="adj" fmla="val 12000"/>
            </a:avLst>
          </a:prstGeom>
          <a:solidFill>
            <a:srgbClr val="7B73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39398" y="4626864"/>
            <a:ext cx="502920" cy="201168"/>
          </a:xfrm>
          <a:prstGeom prst="rect">
            <a:avLst/>
          </a:prstGeom>
          <a:noFill/>
        </p:spPr>
        <p:txBody>
          <a:bodyPr wrap="square" lIns="0" tIns="0" rIns="0" bIns="0" anchor="t">
            <a:spAutoFit/>
          </a:bodyPr>
          <a:lstStyle/>
          <a:p>
            <a:pPr algn="l">
              <a:spcBef>
                <a:spcPts val="0"/>
              </a:spcBef>
              <a:spcAft>
                <a:spcPts val="0"/>
              </a:spcAft>
              <a:defRPr sz="1100" b="1" i="0">
                <a:solidFill>
                  <a:srgbClr val="122438"/>
                </a:solidFill>
                <a:latin typeface="Aptos"/>
              </a:defRPr>
            </a:pPr>
            <a:r>
              <a:t>44.5</a:t>
            </a:r>
          </a:p>
        </p:txBody>
      </p:sp>
      <p:sp>
        <p:nvSpPr>
          <p:cNvPr id="34" name="TextBox 33"/>
          <p:cNvSpPr txBox="1"/>
          <p:nvPr/>
        </p:nvSpPr>
        <p:spPr>
          <a:xfrm>
            <a:off x="3611880" y="5660136"/>
            <a:ext cx="6126480" cy="201168"/>
          </a:xfrm>
          <a:prstGeom prst="rect">
            <a:avLst/>
          </a:prstGeom>
          <a:noFill/>
        </p:spPr>
        <p:txBody>
          <a:bodyPr wrap="square" lIns="0" tIns="0" rIns="0" bIns="0" anchor="t">
            <a:spAutoFit/>
          </a:bodyPr>
          <a:lstStyle/>
          <a:p>
            <a:pPr algn="ctr">
              <a:spcBef>
                <a:spcPts val="0"/>
              </a:spcBef>
              <a:spcAft>
                <a:spcPts val="0"/>
              </a:spcAft>
              <a:defRPr sz="900" b="0" i="0">
                <a:solidFill>
                  <a:srgbClr val="5E6D7B"/>
                </a:solidFill>
                <a:latin typeface="Aptos"/>
              </a:defRPr>
            </a:pPr>
            <a:r>
              <a:t>Reported J&amp;F score  ·  higher is better</a:t>
            </a:r>
          </a:p>
        </p:txBody>
      </p:sp>
      <p:sp>
        <p:nvSpPr>
          <p:cNvPr id="35" name="Rounded Rectangle 34"/>
          <p:cNvSpPr/>
          <p:nvPr/>
        </p:nvSpPr>
        <p:spPr>
          <a:xfrm>
            <a:off x="9189720" y="2423160"/>
            <a:ext cx="2221992" cy="3136392"/>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436608" y="3218688"/>
            <a:ext cx="1728216" cy="1975104"/>
          </a:xfrm>
          <a:prstGeom prst="rect">
            <a:avLst/>
          </a:prstGeom>
          <a:noFill/>
        </p:spPr>
        <p:txBody>
          <a:bodyPr wrap="square" lIns="0" tIns="0" rIns="0" bIns="0" anchor="t">
            <a:spAutoFit/>
          </a:bodyPr>
          <a:lstStyle/>
          <a:p>
            <a:pPr algn="ctr">
              <a:spcBef>
                <a:spcPts val="0"/>
              </a:spcBef>
              <a:spcAft>
                <a:spcPts val="0"/>
              </a:spcAft>
              <a:defRPr sz="1050" b="0" i="0">
                <a:solidFill>
                  <a:srgbClr val="172A3A"/>
                </a:solidFill>
                <a:latin typeface="Aptos"/>
              </a:defRPr>
            </a:pPr>
            <a:r>
              <a:t>Backbones and evaluation setups differ.</a:t>
            </a:r>
            <a:br/>
            <a:br/>
            <a:r>
              <a:t>This is not a controlled head-to-head ranking.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ANCHOR CASE STUDY</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SAMWISE couples language with SAM 2 memory</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VI.</a:t>
            </a:r>
          </a:p>
        </p:txBody>
      </p:sp>
      <p:sp>
        <p:nvSpPr>
          <p:cNvPr id="8" name="Rounded Rectangle 7"/>
          <p:cNvSpPr/>
          <p:nvPr/>
        </p:nvSpPr>
        <p:spPr>
          <a:xfrm>
            <a:off x="713232" y="1691640"/>
            <a:ext cx="7360920" cy="43434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32688" y="1920240"/>
            <a:ext cx="1353312" cy="658368"/>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42415" y="2093976"/>
            <a:ext cx="1124712" cy="292608"/>
          </a:xfrm>
          <a:prstGeom prst="rect">
            <a:avLst/>
          </a:prstGeom>
          <a:noFill/>
        </p:spPr>
        <p:txBody>
          <a:bodyPr wrap="square" lIns="0" tIns="0" rIns="0" bIns="0" anchor="t">
            <a:spAutoFit/>
          </a:bodyPr>
          <a:lstStyle/>
          <a:p>
            <a:pPr algn="ctr">
              <a:spcBef>
                <a:spcPts val="0"/>
              </a:spcBef>
              <a:spcAft>
                <a:spcPts val="0"/>
              </a:spcAft>
              <a:defRPr sz="1200" b="1" i="0">
                <a:solidFill>
                  <a:srgbClr val="5A8DEE"/>
                </a:solidFill>
                <a:latin typeface="Aptos"/>
              </a:defRPr>
            </a:pPr>
            <a:r>
              <a:t>VIDEO</a:t>
            </a:r>
          </a:p>
        </p:txBody>
      </p:sp>
      <p:sp>
        <p:nvSpPr>
          <p:cNvPr id="11" name="Rounded Rectangle 10"/>
          <p:cNvSpPr/>
          <p:nvPr/>
        </p:nvSpPr>
        <p:spPr>
          <a:xfrm>
            <a:off x="932688" y="2807208"/>
            <a:ext cx="1353312" cy="658368"/>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3271" y="2971800"/>
            <a:ext cx="1152144" cy="292608"/>
          </a:xfrm>
          <a:prstGeom prst="rect">
            <a:avLst/>
          </a:prstGeom>
          <a:noFill/>
        </p:spPr>
        <p:txBody>
          <a:bodyPr wrap="square" lIns="0" tIns="0" rIns="0" bIns="0" anchor="t">
            <a:spAutoFit/>
          </a:bodyPr>
          <a:lstStyle/>
          <a:p>
            <a:pPr algn="ctr">
              <a:spcBef>
                <a:spcPts val="0"/>
              </a:spcBef>
              <a:spcAft>
                <a:spcPts val="0"/>
              </a:spcAft>
              <a:defRPr sz="1200" b="1" i="0">
                <a:solidFill>
                  <a:srgbClr val="F07167"/>
                </a:solidFill>
                <a:latin typeface="Aptos"/>
              </a:defRPr>
            </a:pPr>
            <a:r>
              <a:t>TEXT</a:t>
            </a:r>
          </a:p>
        </p:txBody>
      </p:sp>
      <p:sp>
        <p:nvSpPr>
          <p:cNvPr id="13" name="Right Arrow 12"/>
          <p:cNvSpPr/>
          <p:nvPr/>
        </p:nvSpPr>
        <p:spPr>
          <a:xfrm>
            <a:off x="2423160" y="2523744"/>
            <a:ext cx="411480"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926080" y="1929384"/>
            <a:ext cx="1947672" cy="1527048"/>
          </a:xfrm>
          <a:prstGeom prst="roundRect">
            <a:avLst>
              <a:gd name="adj" fmla="val 12000"/>
            </a:avLst>
          </a:prstGeom>
          <a:solidFill>
            <a:srgbClr val="E4F4F1"/>
          </a:solidFill>
          <a:ln w="12700">
            <a:solidFill>
              <a:srgbClr val="B9DF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90672" y="2130552"/>
            <a:ext cx="1618488" cy="237744"/>
          </a:xfrm>
          <a:prstGeom prst="rect">
            <a:avLst/>
          </a:prstGeom>
          <a:noFill/>
        </p:spPr>
        <p:txBody>
          <a:bodyPr wrap="square" lIns="0" tIns="0" rIns="0" bIns="0" anchor="t">
            <a:spAutoFit/>
          </a:bodyPr>
          <a:lstStyle/>
          <a:p>
            <a:pPr algn="ctr">
              <a:spcBef>
                <a:spcPts val="0"/>
              </a:spcBef>
              <a:spcAft>
                <a:spcPts val="0"/>
              </a:spcAft>
              <a:defRPr sz="1100" b="1" i="0">
                <a:solidFill>
                  <a:srgbClr val="087E78"/>
                </a:solidFill>
                <a:latin typeface="Aptos"/>
              </a:defRPr>
            </a:pPr>
            <a:r>
              <a:t>CMT ADAPTERS</a:t>
            </a:r>
          </a:p>
        </p:txBody>
      </p:sp>
      <p:sp>
        <p:nvSpPr>
          <p:cNvPr id="16" name="TextBox 15"/>
          <p:cNvSpPr txBox="1"/>
          <p:nvPr/>
        </p:nvSpPr>
        <p:spPr>
          <a:xfrm>
            <a:off x="3099816" y="2496312"/>
            <a:ext cx="1600200" cy="640080"/>
          </a:xfrm>
          <a:prstGeom prst="rect">
            <a:avLst/>
          </a:prstGeom>
          <a:noFill/>
        </p:spPr>
        <p:txBody>
          <a:bodyPr wrap="square" lIns="0" tIns="0" rIns="0" bIns="0" anchor="t">
            <a:spAutoFit/>
          </a:bodyPr>
          <a:lstStyle/>
          <a:p>
            <a:pPr algn="ctr">
              <a:spcBef>
                <a:spcPts val="0"/>
              </a:spcBef>
              <a:spcAft>
                <a:spcPts val="0"/>
              </a:spcAft>
              <a:defRPr sz="1000" b="0" i="0">
                <a:solidFill>
                  <a:srgbClr val="172A3A"/>
                </a:solidFill>
                <a:latin typeface="Aptos"/>
              </a:defRPr>
            </a:pPr>
            <a:r>
              <a:t>Inject temporal</a:t>
            </a:r>
            <a:br/>
            <a:r>
              <a:t>and language cues</a:t>
            </a:r>
            <a:br/>
            <a:r>
              <a:t>into features</a:t>
            </a:r>
          </a:p>
        </p:txBody>
      </p:sp>
      <p:sp>
        <p:nvSpPr>
          <p:cNvPr id="17" name="Right Arrow 16"/>
          <p:cNvSpPr/>
          <p:nvPr/>
        </p:nvSpPr>
        <p:spPr>
          <a:xfrm>
            <a:off x="5001768" y="2523744"/>
            <a:ext cx="384048"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04688" y="1929384"/>
            <a:ext cx="2084831" cy="1527048"/>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78424" y="2139696"/>
            <a:ext cx="1737360" cy="219456"/>
          </a:xfrm>
          <a:prstGeom prst="rect">
            <a:avLst/>
          </a:prstGeom>
          <a:noFill/>
        </p:spPr>
        <p:txBody>
          <a:bodyPr wrap="square" lIns="0" tIns="0" rIns="0" bIns="0" anchor="t">
            <a:spAutoFit/>
          </a:bodyPr>
          <a:lstStyle/>
          <a:p>
            <a:pPr algn="ctr">
              <a:spcBef>
                <a:spcPts val="0"/>
              </a:spcBef>
              <a:spcAft>
                <a:spcPts val="0"/>
              </a:spcAft>
              <a:defRPr sz="1100" b="1" i="0">
                <a:solidFill>
                  <a:srgbClr val="65D5CC"/>
                </a:solidFill>
                <a:latin typeface="Aptos"/>
              </a:defRPr>
            </a:pPr>
            <a:r>
              <a:t>SAM 2 MEMORY</a:t>
            </a:r>
          </a:p>
        </p:txBody>
      </p:sp>
      <p:sp>
        <p:nvSpPr>
          <p:cNvPr id="20" name="Rounded Rectangle 19"/>
          <p:cNvSpPr/>
          <p:nvPr/>
        </p:nvSpPr>
        <p:spPr>
          <a:xfrm>
            <a:off x="5742432" y="2633472"/>
            <a:ext cx="237744" cy="429768"/>
          </a:xfrm>
          <a:prstGeom prst="roundRect">
            <a:avLst>
              <a:gd name="adj" fmla="val 12000"/>
            </a:avLst>
          </a:prstGeom>
          <a:solidFill>
            <a:srgbClr val="365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08192" y="2633472"/>
            <a:ext cx="237744" cy="429768"/>
          </a:xfrm>
          <a:prstGeom prst="roundRect">
            <a:avLst>
              <a:gd name="adj" fmla="val 12000"/>
            </a:avLst>
          </a:prstGeom>
          <a:solidFill>
            <a:srgbClr val="447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73952" y="2633472"/>
            <a:ext cx="237744" cy="429768"/>
          </a:xfrm>
          <a:prstGeom prst="roundRect">
            <a:avLst>
              <a:gd name="adj" fmla="val 12000"/>
            </a:avLst>
          </a:prstGeom>
          <a:solidFill>
            <a:srgbClr val="5485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839712" y="2633472"/>
            <a:ext cx="237744" cy="429768"/>
          </a:xfrm>
          <a:prstGeom prst="roundRect">
            <a:avLst>
              <a:gd name="adj" fmla="val 12000"/>
            </a:avLst>
          </a:prstGeom>
          <a:solidFill>
            <a:srgbClr val="68A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3154680"/>
            <a:ext cx="1755648" cy="164592"/>
          </a:xfrm>
          <a:prstGeom prst="rect">
            <a:avLst/>
          </a:prstGeom>
          <a:noFill/>
        </p:spPr>
        <p:txBody>
          <a:bodyPr wrap="square" lIns="0" tIns="0" rIns="0" bIns="0" anchor="t">
            <a:spAutoFit/>
          </a:bodyPr>
          <a:lstStyle/>
          <a:p>
            <a:pPr algn="ctr">
              <a:spcBef>
                <a:spcPts val="0"/>
              </a:spcBef>
              <a:spcAft>
                <a:spcPts val="0"/>
              </a:spcAft>
              <a:defRPr sz="800" b="0" i="0">
                <a:solidFill>
                  <a:srgbClr val="B9C9D6"/>
                </a:solidFill>
                <a:latin typeface="Aptos"/>
              </a:defRPr>
            </a:pPr>
            <a:r>
              <a:t>past-frame evidence</a:t>
            </a:r>
          </a:p>
        </p:txBody>
      </p:sp>
      <p:cxnSp>
        <p:nvCxnSpPr>
          <p:cNvPr id="25" name="Connector 24"/>
          <p:cNvCxnSpPr/>
          <p:nvPr/>
        </p:nvCxnSpPr>
        <p:spPr>
          <a:xfrm>
            <a:off x="6537960" y="3529584"/>
            <a:ext cx="0" cy="438912"/>
          </a:xfrm>
          <a:prstGeom prst="line">
            <a:avLst/>
          </a:prstGeom>
          <a:ln w="19050">
            <a:solidFill>
              <a:srgbClr val="12A99A"/>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910328" y="3986784"/>
            <a:ext cx="3255264" cy="1033271"/>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29784" y="4169663"/>
            <a:ext cx="2816352" cy="228600"/>
          </a:xfrm>
          <a:prstGeom prst="rect">
            <a:avLst/>
          </a:prstGeom>
          <a:noFill/>
        </p:spPr>
        <p:txBody>
          <a:bodyPr wrap="square" lIns="0" tIns="0" rIns="0" bIns="0" anchor="t">
            <a:spAutoFit/>
          </a:bodyPr>
          <a:lstStyle/>
          <a:p>
            <a:pPr algn="ctr">
              <a:spcBef>
                <a:spcPts val="0"/>
              </a:spcBef>
              <a:spcAft>
                <a:spcPts val="0"/>
              </a:spcAft>
              <a:defRPr sz="1000" b="1" i="0">
                <a:solidFill>
                  <a:srgbClr val="A16F00"/>
                </a:solidFill>
                <a:latin typeface="Aptos"/>
              </a:defRPr>
            </a:pPr>
            <a:r>
              <a:t>CONDITIONAL MEMORY ENCODER</a:t>
            </a:r>
          </a:p>
        </p:txBody>
      </p:sp>
      <p:sp>
        <p:nvSpPr>
          <p:cNvPr id="28" name="TextBox 27"/>
          <p:cNvSpPr txBox="1"/>
          <p:nvPr/>
        </p:nvSpPr>
        <p:spPr>
          <a:xfrm>
            <a:off x="5111496" y="4489704"/>
            <a:ext cx="2852928" cy="347472"/>
          </a:xfrm>
          <a:prstGeom prst="rect">
            <a:avLst/>
          </a:prstGeom>
          <a:noFill/>
        </p:spPr>
        <p:txBody>
          <a:bodyPr wrap="square" lIns="0" tIns="0" rIns="0" bIns="0" anchor="t">
            <a:spAutoFit/>
          </a:bodyPr>
          <a:lstStyle/>
          <a:p>
            <a:pPr algn="ctr">
              <a:spcBef>
                <a:spcPts val="0"/>
              </a:spcBef>
              <a:spcAft>
                <a:spcPts val="0"/>
              </a:spcAft>
              <a:defRPr sz="950" b="0" i="0">
                <a:solidFill>
                  <a:srgbClr val="172A3A"/>
                </a:solidFill>
                <a:latin typeface="Aptos"/>
              </a:defRPr>
            </a:pPr>
            <a:r>
              <a:t>Compare memory evidence with the current frame and expression</a:t>
            </a:r>
          </a:p>
        </p:txBody>
      </p:sp>
      <p:sp>
        <p:nvSpPr>
          <p:cNvPr id="29" name="Right Arrow 28"/>
          <p:cNvSpPr/>
          <p:nvPr/>
        </p:nvSpPr>
        <p:spPr>
          <a:xfrm>
            <a:off x="8183879" y="4306824"/>
            <a:ext cx="393192" cy="22860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558784" y="3922776"/>
            <a:ext cx="941832" cy="978408"/>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68512" y="4087368"/>
            <a:ext cx="722376" cy="182880"/>
          </a:xfrm>
          <a:prstGeom prst="rect">
            <a:avLst/>
          </a:prstGeom>
          <a:noFill/>
        </p:spPr>
        <p:txBody>
          <a:bodyPr wrap="square" lIns="0" tIns="0" rIns="0" bIns="0" anchor="t">
            <a:spAutoFit/>
          </a:bodyPr>
          <a:lstStyle/>
          <a:p>
            <a:pPr algn="ctr">
              <a:spcBef>
                <a:spcPts val="0"/>
              </a:spcBef>
              <a:spcAft>
                <a:spcPts val="0"/>
              </a:spcAft>
              <a:defRPr sz="1000" b="1" i="0">
                <a:solidFill>
                  <a:srgbClr val="F07167"/>
                </a:solidFill>
                <a:latin typeface="Aptos"/>
              </a:defRPr>
            </a:pPr>
            <a:r>
              <a:t>MASK</a:t>
            </a:r>
          </a:p>
        </p:txBody>
      </p:sp>
      <p:sp>
        <p:nvSpPr>
          <p:cNvPr id="32" name="Rounded Rectangle 31"/>
          <p:cNvSpPr/>
          <p:nvPr/>
        </p:nvSpPr>
        <p:spPr>
          <a:xfrm>
            <a:off x="8695944" y="4443984"/>
            <a:ext cx="155448" cy="256032"/>
          </a:xfrm>
          <a:prstGeom prst="roundRect">
            <a:avLst>
              <a:gd name="adj" fmla="val 12000"/>
            </a:avLst>
          </a:prstGeom>
          <a:solidFill>
            <a:srgbClr val="F6B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906256" y="4443984"/>
            <a:ext cx="155448" cy="256032"/>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116568" y="4443984"/>
            <a:ext cx="155448" cy="256032"/>
          </a:xfrm>
          <a:prstGeom prst="roundRect">
            <a:avLst>
              <a:gd name="adj" fmla="val 12000"/>
            </a:avLst>
          </a:prstGeom>
          <a:solidFill>
            <a:srgbClr val="F6B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601200" y="1691640"/>
            <a:ext cx="1901952" cy="4343400"/>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765792" y="1938528"/>
            <a:ext cx="1572768" cy="256032"/>
          </a:xfrm>
          <a:prstGeom prst="rect">
            <a:avLst/>
          </a:prstGeom>
          <a:noFill/>
        </p:spPr>
        <p:txBody>
          <a:bodyPr wrap="square" lIns="0" tIns="0" rIns="0" bIns="0" anchor="t">
            <a:spAutoFit/>
          </a:bodyPr>
          <a:lstStyle/>
          <a:p>
            <a:pPr algn="ctr">
              <a:spcBef>
                <a:spcPts val="0"/>
              </a:spcBef>
              <a:spcAft>
                <a:spcPts val="0"/>
              </a:spcAft>
              <a:defRPr sz="900" b="1" i="0">
                <a:solidFill>
                  <a:srgbClr val="65D5CC"/>
                </a:solidFill>
                <a:latin typeface="Aptos"/>
              </a:defRPr>
            </a:pPr>
            <a:r>
              <a:t>DESIGN</a:t>
            </a:r>
          </a:p>
        </p:txBody>
      </p:sp>
      <p:sp>
        <p:nvSpPr>
          <p:cNvPr id="37" name="TextBox 36"/>
          <p:cNvSpPr txBox="1"/>
          <p:nvPr/>
        </p:nvSpPr>
        <p:spPr>
          <a:xfrm>
            <a:off x="9765792" y="2331720"/>
            <a:ext cx="1572768" cy="594360"/>
          </a:xfrm>
          <a:prstGeom prst="rect">
            <a:avLst/>
          </a:prstGeom>
          <a:noFill/>
        </p:spPr>
        <p:txBody>
          <a:bodyPr wrap="square" lIns="0" tIns="0" rIns="0" bIns="0" anchor="t">
            <a:spAutoFit/>
          </a:bodyPr>
          <a:lstStyle/>
          <a:p>
            <a:pPr algn="ctr">
              <a:spcBef>
                <a:spcPts val="0"/>
              </a:spcBef>
              <a:spcAft>
                <a:spcPts val="0"/>
              </a:spcAft>
              <a:defRPr sz="1400" b="1" i="0">
                <a:solidFill>
                  <a:srgbClr val="FFFFFF"/>
                </a:solidFill>
                <a:latin typeface="Aptos"/>
              </a:defRPr>
            </a:pPr>
            <a:r>
              <a:t>Track, then re-check.</a:t>
            </a:r>
          </a:p>
        </p:txBody>
      </p:sp>
      <p:cxnSp>
        <p:nvCxnSpPr>
          <p:cNvPr id="38" name="Connector 37"/>
          <p:cNvCxnSpPr/>
          <p:nvPr/>
        </p:nvCxnSpPr>
        <p:spPr>
          <a:xfrm>
            <a:off x="9802368" y="3182112"/>
            <a:ext cx="1499616" cy="0"/>
          </a:xfrm>
          <a:prstGeom prst="line">
            <a:avLst/>
          </a:prstGeom>
          <a:ln w="12700">
            <a:solidFill>
              <a:srgbClr val="456077"/>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784080" y="3429000"/>
            <a:ext cx="1536192" cy="2084831"/>
          </a:xfrm>
          <a:prstGeom prst="rect">
            <a:avLst/>
          </a:prstGeom>
          <a:noFill/>
        </p:spPr>
        <p:txBody>
          <a:bodyPr wrap="square" lIns="0" tIns="0" rIns="0" bIns="0" anchor="t">
            <a:spAutoFit/>
          </a:bodyPr>
          <a:lstStyle/>
          <a:p>
            <a:pPr algn="l">
              <a:spcBef>
                <a:spcPts val="0"/>
              </a:spcBef>
              <a:spcAft>
                <a:spcPts val="0"/>
              </a:spcAft>
              <a:defRPr sz="950" b="0" i="0">
                <a:solidFill>
                  <a:srgbClr val="C5D3DD"/>
                </a:solidFill>
                <a:latin typeface="Aptos"/>
              </a:defRPr>
            </a:pPr>
            <a:r>
              <a:t>CMT links language with temporal features.</a:t>
            </a:r>
            <a:br/>
            <a:br/>
            <a:r>
              <a:t>CME checks current evidence against memory.</a:t>
            </a:r>
            <a:br/>
            <a:br/>
            <a:r>
              <a:t>&lt;5M added parameters (reported).</a:t>
            </a:r>
          </a:p>
        </p:txBody>
      </p:sp>
      <p:sp>
        <p:nvSpPr>
          <p:cNvPr id="40" name="TextBox 39"/>
          <p:cNvSpPr txBox="1"/>
          <p:nvPr/>
        </p:nvSpPr>
        <p:spPr>
          <a:xfrm>
            <a:off x="786384" y="6172200"/>
            <a:ext cx="10561320" cy="182880"/>
          </a:xfrm>
          <a:prstGeom prst="rect">
            <a:avLst/>
          </a:prstGeom>
          <a:noFill/>
        </p:spPr>
        <p:txBody>
          <a:bodyPr wrap="square" lIns="0" tIns="0" rIns="0" bIns="0" anchor="t">
            <a:spAutoFit/>
          </a:bodyPr>
          <a:lstStyle/>
          <a:p>
            <a:pPr algn="ctr">
              <a:spcBef>
                <a:spcPts val="0"/>
              </a:spcBef>
              <a:spcAft>
                <a:spcPts val="0"/>
              </a:spcAft>
              <a:defRPr sz="1100" b="1" i="0">
                <a:solidFill>
                  <a:srgbClr val="087E78"/>
                </a:solidFill>
                <a:latin typeface="Aptos"/>
              </a:defRPr>
            </a:pPr>
            <a:r>
              <a:t>SAM 2 supplies the tracking memory; SAMWISE adds language-conditioned temporal correction.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SYNTHESIS</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Every design choice has a cost</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VII.</a:t>
            </a:r>
          </a:p>
        </p:txBody>
      </p:sp>
      <p:sp>
        <p:nvSpPr>
          <p:cNvPr id="8" name="TextBox 7"/>
          <p:cNvSpPr txBox="1"/>
          <p:nvPr/>
        </p:nvSpPr>
        <p:spPr>
          <a:xfrm>
            <a:off x="804672" y="1664208"/>
            <a:ext cx="1920240" cy="201168"/>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CHOICE</a:t>
            </a:r>
          </a:p>
        </p:txBody>
      </p:sp>
      <p:sp>
        <p:nvSpPr>
          <p:cNvPr id="9" name="TextBox 8"/>
          <p:cNvSpPr txBox="1"/>
          <p:nvPr/>
        </p:nvSpPr>
        <p:spPr>
          <a:xfrm>
            <a:off x="2999232" y="1664208"/>
            <a:ext cx="3246120" cy="201168"/>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WHAT IT BUYS</a:t>
            </a:r>
          </a:p>
        </p:txBody>
      </p:sp>
      <p:sp>
        <p:nvSpPr>
          <p:cNvPr id="10" name="TextBox 9"/>
          <p:cNvSpPr txBox="1"/>
          <p:nvPr/>
        </p:nvSpPr>
        <p:spPr>
          <a:xfrm>
            <a:off x="6492240" y="1664208"/>
            <a:ext cx="2560320" cy="201168"/>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WHAT IT COSTS</a:t>
            </a:r>
          </a:p>
        </p:txBody>
      </p:sp>
      <p:sp>
        <p:nvSpPr>
          <p:cNvPr id="11" name="TextBox 10"/>
          <p:cNvSpPr txBox="1"/>
          <p:nvPr/>
        </p:nvSpPr>
        <p:spPr>
          <a:xfrm>
            <a:off x="9262872" y="1664208"/>
            <a:ext cx="2103120" cy="201168"/>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GOOD FIT</a:t>
            </a:r>
          </a:p>
        </p:txBody>
      </p:sp>
      <p:sp>
        <p:nvSpPr>
          <p:cNvPr id="12" name="Rounded Rectangle 11"/>
          <p:cNvSpPr/>
          <p:nvPr/>
        </p:nvSpPr>
        <p:spPr>
          <a:xfrm>
            <a:off x="749808" y="2029968"/>
            <a:ext cx="10716768" cy="89611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231136"/>
            <a:ext cx="1938528" cy="475488"/>
          </a:xfrm>
          <a:prstGeom prst="rect">
            <a:avLst/>
          </a:prstGeom>
          <a:noFill/>
        </p:spPr>
        <p:txBody>
          <a:bodyPr wrap="square" lIns="0" tIns="0" rIns="0" bIns="0" anchor="t">
            <a:spAutoFit/>
          </a:bodyPr>
          <a:lstStyle/>
          <a:p>
            <a:pPr algn="l">
              <a:spcBef>
                <a:spcPts val="0"/>
              </a:spcBef>
              <a:spcAft>
                <a:spcPts val="0"/>
              </a:spcAft>
              <a:defRPr sz="1300" b="1" i="0">
                <a:solidFill>
                  <a:srgbClr val="122438"/>
                </a:solidFill>
                <a:latin typeface="Aptos"/>
              </a:defRPr>
            </a:pPr>
            <a:r>
              <a:t>Offline ↔ online</a:t>
            </a:r>
          </a:p>
        </p:txBody>
      </p:sp>
      <p:sp>
        <p:nvSpPr>
          <p:cNvPr id="14" name="TextBox 13"/>
          <p:cNvSpPr txBox="1"/>
          <p:nvPr/>
        </p:nvSpPr>
        <p:spPr>
          <a:xfrm>
            <a:off x="2999232" y="2194560"/>
            <a:ext cx="3154680" cy="548640"/>
          </a:xfrm>
          <a:prstGeom prst="rect">
            <a:avLst/>
          </a:prstGeom>
          <a:noFill/>
        </p:spPr>
        <p:txBody>
          <a:bodyPr wrap="square" lIns="0" tIns="0" rIns="0" bIns="0" anchor="t">
            <a:spAutoFit/>
          </a:bodyPr>
          <a:lstStyle/>
          <a:p>
            <a:pPr algn="l">
              <a:spcBef>
                <a:spcPts val="0"/>
              </a:spcBef>
              <a:spcAft>
                <a:spcPts val="0"/>
              </a:spcAft>
              <a:defRPr sz="1050" b="0" i="0">
                <a:solidFill>
                  <a:srgbClr val="172A3A"/>
                </a:solidFill>
                <a:latin typeface="Aptos"/>
              </a:defRPr>
            </a:pPr>
            <a:r>
              <a:t>Global context ↔ low-latency causal updates</a:t>
            </a:r>
          </a:p>
        </p:txBody>
      </p:sp>
      <p:sp>
        <p:nvSpPr>
          <p:cNvPr id="15" name="TextBox 14"/>
          <p:cNvSpPr txBox="1"/>
          <p:nvPr/>
        </p:nvSpPr>
        <p:spPr>
          <a:xfrm>
            <a:off x="6492240" y="2194560"/>
            <a:ext cx="2468880" cy="54864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Future context ↔ error propagation</a:t>
            </a:r>
          </a:p>
        </p:txBody>
      </p:sp>
      <p:sp>
        <p:nvSpPr>
          <p:cNvPr id="16" name="TextBox 15"/>
          <p:cNvSpPr txBox="1"/>
          <p:nvPr/>
        </p:nvSpPr>
        <p:spPr>
          <a:xfrm>
            <a:off x="9262872" y="2194560"/>
            <a:ext cx="2048256" cy="548640"/>
          </a:xfrm>
          <a:prstGeom prst="rect">
            <a:avLst/>
          </a:prstGeom>
          <a:noFill/>
        </p:spPr>
        <p:txBody>
          <a:bodyPr wrap="square" lIns="0" tIns="0" rIns="0" bIns="0" anchor="t">
            <a:spAutoFit/>
          </a:bodyPr>
          <a:lstStyle/>
          <a:p>
            <a:pPr algn="l">
              <a:spcBef>
                <a:spcPts val="0"/>
              </a:spcBef>
              <a:spcAft>
                <a:spcPts val="0"/>
              </a:spcAft>
              <a:defRPr sz="1050" b="1" i="0">
                <a:solidFill>
                  <a:srgbClr val="087E78"/>
                </a:solidFill>
                <a:latin typeface="Aptos"/>
              </a:defRPr>
            </a:pPr>
            <a:r>
              <a:t>Batch clips ↔ live video</a:t>
            </a:r>
          </a:p>
        </p:txBody>
      </p:sp>
      <p:sp>
        <p:nvSpPr>
          <p:cNvPr id="17" name="Rounded Rectangle 16"/>
          <p:cNvSpPr/>
          <p:nvPr/>
        </p:nvSpPr>
        <p:spPr>
          <a:xfrm>
            <a:off x="749808" y="3136392"/>
            <a:ext cx="10716768" cy="89611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337560"/>
            <a:ext cx="1938528" cy="475488"/>
          </a:xfrm>
          <a:prstGeom prst="rect">
            <a:avLst/>
          </a:prstGeom>
          <a:noFill/>
        </p:spPr>
        <p:txBody>
          <a:bodyPr wrap="square" lIns="0" tIns="0" rIns="0" bIns="0" anchor="t">
            <a:spAutoFit/>
          </a:bodyPr>
          <a:lstStyle/>
          <a:p>
            <a:pPr algn="l">
              <a:spcBef>
                <a:spcPts val="0"/>
              </a:spcBef>
              <a:spcAft>
                <a:spcPts val="0"/>
              </a:spcAft>
              <a:defRPr sz="1300" b="1" i="0">
                <a:solidFill>
                  <a:srgbClr val="122438"/>
                </a:solidFill>
                <a:latin typeface="Aptos"/>
              </a:defRPr>
            </a:pPr>
            <a:r>
              <a:t>Queries ↔ memory</a:t>
            </a:r>
          </a:p>
        </p:txBody>
      </p:sp>
      <p:sp>
        <p:nvSpPr>
          <p:cNvPr id="19" name="TextBox 18"/>
          <p:cNvSpPr txBox="1"/>
          <p:nvPr/>
        </p:nvSpPr>
        <p:spPr>
          <a:xfrm>
            <a:off x="2999232" y="3300984"/>
            <a:ext cx="3154680" cy="548640"/>
          </a:xfrm>
          <a:prstGeom prst="rect">
            <a:avLst/>
          </a:prstGeom>
          <a:noFill/>
        </p:spPr>
        <p:txBody>
          <a:bodyPr wrap="square" lIns="0" tIns="0" rIns="0" bIns="0" anchor="t">
            <a:spAutoFit/>
          </a:bodyPr>
          <a:lstStyle/>
          <a:p>
            <a:pPr algn="l">
              <a:spcBef>
                <a:spcPts val="0"/>
              </a:spcBef>
              <a:spcAft>
                <a:spcPts val="0"/>
              </a:spcAft>
              <a:defRPr sz="1050" b="0" i="0">
                <a:solidFill>
                  <a:srgbClr val="172A3A"/>
                </a:solidFill>
                <a:latin typeface="Aptos"/>
              </a:defRPr>
            </a:pPr>
            <a:r>
              <a:t>Compact state ↔ richer history through occlusion</a:t>
            </a:r>
          </a:p>
        </p:txBody>
      </p:sp>
      <p:sp>
        <p:nvSpPr>
          <p:cNvPr id="20" name="TextBox 19"/>
          <p:cNvSpPr txBox="1"/>
          <p:nvPr/>
        </p:nvSpPr>
        <p:spPr>
          <a:xfrm>
            <a:off x="6492240" y="3300984"/>
            <a:ext cx="2468880" cy="54864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Less context ↔ storage and stale matches</a:t>
            </a:r>
          </a:p>
        </p:txBody>
      </p:sp>
      <p:sp>
        <p:nvSpPr>
          <p:cNvPr id="21" name="TextBox 20"/>
          <p:cNvSpPr txBox="1"/>
          <p:nvPr/>
        </p:nvSpPr>
        <p:spPr>
          <a:xfrm>
            <a:off x="9262872" y="3300984"/>
            <a:ext cx="2048256" cy="548640"/>
          </a:xfrm>
          <a:prstGeom prst="rect">
            <a:avLst/>
          </a:prstGeom>
          <a:noFill/>
        </p:spPr>
        <p:txBody>
          <a:bodyPr wrap="square" lIns="0" tIns="0" rIns="0" bIns="0" anchor="t">
            <a:spAutoFit/>
          </a:bodyPr>
          <a:lstStyle/>
          <a:p>
            <a:pPr algn="l">
              <a:spcBef>
                <a:spcPts val="0"/>
              </a:spcBef>
              <a:spcAft>
                <a:spcPts val="0"/>
              </a:spcAft>
              <a:defRPr sz="1050" b="1" i="0">
                <a:solidFill>
                  <a:srgbClr val="087E78"/>
                </a:solidFill>
                <a:latin typeface="Aptos"/>
              </a:defRPr>
            </a:pPr>
            <a:r>
              <a:t>Efficiency ↔ long gaps</a:t>
            </a:r>
          </a:p>
        </p:txBody>
      </p:sp>
      <p:sp>
        <p:nvSpPr>
          <p:cNvPr id="22" name="Rounded Rectangle 21"/>
          <p:cNvSpPr/>
          <p:nvPr/>
        </p:nvSpPr>
        <p:spPr>
          <a:xfrm>
            <a:off x="749808" y="4242816"/>
            <a:ext cx="10716768" cy="89611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4443984"/>
            <a:ext cx="1938528" cy="475488"/>
          </a:xfrm>
          <a:prstGeom prst="rect">
            <a:avLst/>
          </a:prstGeom>
          <a:noFill/>
        </p:spPr>
        <p:txBody>
          <a:bodyPr wrap="square" lIns="0" tIns="0" rIns="0" bIns="0" anchor="t">
            <a:spAutoFit/>
          </a:bodyPr>
          <a:lstStyle/>
          <a:p>
            <a:pPr algn="l">
              <a:spcBef>
                <a:spcPts val="0"/>
              </a:spcBef>
              <a:spcAft>
                <a:spcPts val="0"/>
              </a:spcAft>
              <a:defRPr sz="1300" b="1" i="0">
                <a:solidFill>
                  <a:srgbClr val="122438"/>
                </a:solidFill>
                <a:latin typeface="Aptos"/>
              </a:defRPr>
            </a:pPr>
            <a:r>
              <a:t>Foundation ↔ MLLM</a:t>
            </a:r>
          </a:p>
        </p:txBody>
      </p:sp>
      <p:sp>
        <p:nvSpPr>
          <p:cNvPr id="24" name="TextBox 23"/>
          <p:cNvSpPr txBox="1"/>
          <p:nvPr/>
        </p:nvSpPr>
        <p:spPr>
          <a:xfrm>
            <a:off x="2999232" y="4407408"/>
            <a:ext cx="3154680" cy="548640"/>
          </a:xfrm>
          <a:prstGeom prst="rect">
            <a:avLst/>
          </a:prstGeom>
          <a:noFill/>
        </p:spPr>
        <p:txBody>
          <a:bodyPr wrap="square" lIns="0" tIns="0" rIns="0" bIns="0" anchor="t">
            <a:spAutoFit/>
          </a:bodyPr>
          <a:lstStyle/>
          <a:p>
            <a:pPr algn="l">
              <a:spcBef>
                <a:spcPts val="0"/>
              </a:spcBef>
              <a:spcAft>
                <a:spcPts val="0"/>
              </a:spcAft>
              <a:defRPr sz="1050" b="0" i="0">
                <a:solidFill>
                  <a:srgbClr val="172A3A"/>
                </a:solidFill>
                <a:latin typeface="Aptos"/>
              </a:defRPr>
            </a:pPr>
            <a:r>
              <a:t>Strong segmentation priors ↔ implicit semantics</a:t>
            </a:r>
          </a:p>
        </p:txBody>
      </p:sp>
      <p:sp>
        <p:nvSpPr>
          <p:cNvPr id="25" name="TextBox 24"/>
          <p:cNvSpPr txBox="1"/>
          <p:nvPr/>
        </p:nvSpPr>
        <p:spPr>
          <a:xfrm>
            <a:off x="6492240" y="4407408"/>
            <a:ext cx="2468880" cy="548640"/>
          </a:xfrm>
          <a:prstGeom prst="rect">
            <a:avLst/>
          </a:prstGeom>
          <a:noFill/>
        </p:spPr>
        <p:txBody>
          <a:bodyPr wrap="square" lIns="0" tIns="0" rIns="0" bIns="0" anchor="t">
            <a:spAutoFit/>
          </a:bodyPr>
          <a:lstStyle/>
          <a:p>
            <a:pPr algn="l">
              <a:spcBef>
                <a:spcPts val="0"/>
              </a:spcBef>
              <a:spcAft>
                <a:spcPts val="0"/>
              </a:spcAft>
              <a:defRPr sz="1050" b="0" i="0">
                <a:solidFill>
                  <a:srgbClr val="5E6D7B"/>
                </a:solidFill>
                <a:latin typeface="Aptos"/>
              </a:defRPr>
            </a:pPr>
            <a:r>
              <a:t>Adaptation limits ↔ high inference cost</a:t>
            </a:r>
          </a:p>
        </p:txBody>
      </p:sp>
      <p:sp>
        <p:nvSpPr>
          <p:cNvPr id="26" name="TextBox 25"/>
          <p:cNvSpPr txBox="1"/>
          <p:nvPr/>
        </p:nvSpPr>
        <p:spPr>
          <a:xfrm>
            <a:off x="9262872" y="4407408"/>
            <a:ext cx="2048256" cy="548640"/>
          </a:xfrm>
          <a:prstGeom prst="rect">
            <a:avLst/>
          </a:prstGeom>
          <a:noFill/>
        </p:spPr>
        <p:txBody>
          <a:bodyPr wrap="square" lIns="0" tIns="0" rIns="0" bIns="0" anchor="t">
            <a:spAutoFit/>
          </a:bodyPr>
          <a:lstStyle/>
          <a:p>
            <a:pPr algn="l">
              <a:spcBef>
                <a:spcPts val="0"/>
              </a:spcBef>
              <a:spcAft>
                <a:spcPts val="0"/>
              </a:spcAft>
              <a:defRPr sz="1050" b="1" i="0">
                <a:solidFill>
                  <a:srgbClr val="087E78"/>
                </a:solidFill>
                <a:latin typeface="Aptos"/>
              </a:defRPr>
            </a:pPr>
            <a:r>
              <a:t>Mask quality ↔ reasoning</a:t>
            </a:r>
          </a:p>
        </p:txBody>
      </p:sp>
      <p:sp>
        <p:nvSpPr>
          <p:cNvPr id="27" name="Rounded Rectangle 26"/>
          <p:cNvSpPr/>
          <p:nvPr/>
        </p:nvSpPr>
        <p:spPr>
          <a:xfrm>
            <a:off x="786384" y="5568696"/>
            <a:ext cx="10625328" cy="54864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 y="5687568"/>
            <a:ext cx="10277856" cy="274320"/>
          </a:xfrm>
          <a:prstGeom prst="rect">
            <a:avLst/>
          </a:prstGeom>
          <a:noFill/>
        </p:spPr>
        <p:txBody>
          <a:bodyPr wrap="square" lIns="0" tIns="0" rIns="0" bIns="0" anchor="t">
            <a:spAutoFit/>
          </a:bodyPr>
          <a:lstStyle/>
          <a:p>
            <a:pPr algn="ctr">
              <a:spcBef>
                <a:spcPts val="0"/>
              </a:spcBef>
              <a:spcAft>
                <a:spcPts val="0"/>
              </a:spcAft>
              <a:defRPr sz="1300" b="1" i="0">
                <a:solidFill>
                  <a:srgbClr val="122438"/>
                </a:solidFill>
                <a:latin typeface="Aptos"/>
              </a:defRPr>
            </a:pPr>
            <a:r>
              <a:t>No single mechanism is best everywhere; choose for the query, video horizon, and deployment budget.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OPEN PROBLEMS</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Four gaps define the next step</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Section IX.</a:t>
            </a:r>
          </a:p>
        </p:txBody>
      </p:sp>
      <p:sp>
        <p:nvSpPr>
          <p:cNvPr id="8" name="Rounded Rectangle 7"/>
          <p:cNvSpPr/>
          <p:nvPr/>
        </p:nvSpPr>
        <p:spPr>
          <a:xfrm>
            <a:off x="749808" y="1764792"/>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50976" y="1947672"/>
            <a:ext cx="2542032"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970531"/>
            <a:ext cx="2395727" cy="210312"/>
          </a:xfrm>
          <a:prstGeom prst="rect">
            <a:avLst/>
          </a:prstGeom>
          <a:noFill/>
        </p:spPr>
        <p:txBody>
          <a:bodyPr wrap="square" lIns="0" tIns="0" rIns="0" bIns="0" anchor="ctr">
            <a:spAutoFit/>
          </a:bodyPr>
          <a:lstStyle/>
          <a:p>
            <a:pPr algn="ctr">
              <a:spcBef>
                <a:spcPts val="0"/>
              </a:spcBef>
              <a:spcAft>
                <a:spcPts val="0"/>
              </a:spcAft>
              <a:defRPr sz="760" b="1" i="0">
                <a:solidFill>
                  <a:srgbClr val="5A8DEE"/>
                </a:solidFill>
                <a:latin typeface="Aptos"/>
              </a:defRPr>
            </a:pPr>
            <a:r>
              <a:t>OPEN-WORLD PROMPTS</a:t>
            </a:r>
          </a:p>
        </p:txBody>
      </p:sp>
      <p:sp>
        <p:nvSpPr>
          <p:cNvPr id="11" name="TextBox 10"/>
          <p:cNvSpPr txBox="1"/>
          <p:nvPr/>
        </p:nvSpPr>
        <p:spPr>
          <a:xfrm>
            <a:off x="960120" y="2432304"/>
            <a:ext cx="4773168" cy="704088"/>
          </a:xfrm>
          <a:prstGeom prst="rect">
            <a:avLst/>
          </a:prstGeom>
          <a:noFill/>
        </p:spPr>
        <p:txBody>
          <a:bodyPr wrap="square" lIns="0" tIns="0" rIns="0" bIns="0" anchor="t">
            <a:spAutoFit/>
          </a:bodyPr>
          <a:lstStyle/>
          <a:p>
            <a:pPr algn="l">
              <a:spcBef>
                <a:spcPts val="0"/>
              </a:spcBef>
              <a:spcAft>
                <a:spcPts val="0"/>
              </a:spcAft>
              <a:defRPr sz="1400" b="0" i="0">
                <a:solidFill>
                  <a:srgbClr val="172A3A"/>
                </a:solidFill>
                <a:latin typeface="Aptos"/>
              </a:defRPr>
            </a:pPr>
            <a:r>
              <a:t>Combine language with points, boxes, audio, and unseen categories.</a:t>
            </a:r>
          </a:p>
        </p:txBody>
      </p:sp>
      <p:sp>
        <p:nvSpPr>
          <p:cNvPr id="12" name="Rounded Rectangle 11"/>
          <p:cNvSpPr/>
          <p:nvPr/>
        </p:nvSpPr>
        <p:spPr>
          <a:xfrm>
            <a:off x="6236208" y="1764792"/>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37376" y="1947672"/>
            <a:ext cx="2542032"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0528" y="1970531"/>
            <a:ext cx="2395727" cy="210312"/>
          </a:xfrm>
          <a:prstGeom prst="rect">
            <a:avLst/>
          </a:prstGeom>
          <a:noFill/>
        </p:spPr>
        <p:txBody>
          <a:bodyPr wrap="square" lIns="0" tIns="0" rIns="0" bIns="0" anchor="ctr">
            <a:spAutoFit/>
          </a:bodyPr>
          <a:lstStyle/>
          <a:p>
            <a:pPr algn="ctr">
              <a:spcBef>
                <a:spcPts val="0"/>
              </a:spcBef>
              <a:spcAft>
                <a:spcPts val="0"/>
              </a:spcAft>
              <a:defRPr sz="760" b="1" i="0">
                <a:solidFill>
                  <a:srgbClr val="A16F00"/>
                </a:solidFill>
                <a:latin typeface="Aptos"/>
              </a:defRPr>
            </a:pPr>
            <a:r>
              <a:t>LONG-HORIZON CAUSALITY</a:t>
            </a:r>
          </a:p>
        </p:txBody>
      </p:sp>
      <p:sp>
        <p:nvSpPr>
          <p:cNvPr id="15" name="TextBox 14"/>
          <p:cNvSpPr txBox="1"/>
          <p:nvPr/>
        </p:nvSpPr>
        <p:spPr>
          <a:xfrm>
            <a:off x="6446520" y="2432304"/>
            <a:ext cx="4773168" cy="704088"/>
          </a:xfrm>
          <a:prstGeom prst="rect">
            <a:avLst/>
          </a:prstGeom>
          <a:noFill/>
        </p:spPr>
        <p:txBody>
          <a:bodyPr wrap="square" lIns="0" tIns="0" rIns="0" bIns="0" anchor="t">
            <a:spAutoFit/>
          </a:bodyPr>
          <a:lstStyle/>
          <a:p>
            <a:pPr algn="l">
              <a:spcBef>
                <a:spcPts val="0"/>
              </a:spcBef>
              <a:spcAft>
                <a:spcPts val="0"/>
              </a:spcAft>
              <a:defRPr sz="1400" b="0" i="0">
                <a:solidFill>
                  <a:srgbClr val="172A3A"/>
                </a:solidFill>
                <a:latin typeface="Aptos"/>
              </a:defRPr>
            </a:pPr>
            <a:r>
              <a:t>Reason over event order, object roles, and counterfactual change.</a:t>
            </a:r>
          </a:p>
        </p:txBody>
      </p:sp>
      <p:sp>
        <p:nvSpPr>
          <p:cNvPr id="16" name="Rounded Rectangle 15"/>
          <p:cNvSpPr/>
          <p:nvPr/>
        </p:nvSpPr>
        <p:spPr>
          <a:xfrm>
            <a:off x="749808" y="3712463"/>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0976" y="3895344"/>
            <a:ext cx="2542032"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3918204"/>
            <a:ext cx="2395727" cy="210312"/>
          </a:xfrm>
          <a:prstGeom prst="rect">
            <a:avLst/>
          </a:prstGeom>
          <a:noFill/>
        </p:spPr>
        <p:txBody>
          <a:bodyPr wrap="square" lIns="0" tIns="0" rIns="0" bIns="0" anchor="ctr">
            <a:spAutoFit/>
          </a:bodyPr>
          <a:lstStyle/>
          <a:p>
            <a:pPr algn="ctr">
              <a:spcBef>
                <a:spcPts val="0"/>
              </a:spcBef>
              <a:spcAft>
                <a:spcPts val="0"/>
              </a:spcAft>
              <a:defRPr sz="760" b="1" i="0">
                <a:solidFill>
                  <a:srgbClr val="087E78"/>
                </a:solidFill>
                <a:latin typeface="Aptos"/>
              </a:defRPr>
            </a:pPr>
            <a:r>
              <a:t>EDGE-READY FOUNDATION MODELS</a:t>
            </a:r>
          </a:p>
        </p:txBody>
      </p:sp>
      <p:sp>
        <p:nvSpPr>
          <p:cNvPr id="19" name="TextBox 18"/>
          <p:cNvSpPr txBox="1"/>
          <p:nvPr/>
        </p:nvSpPr>
        <p:spPr>
          <a:xfrm>
            <a:off x="960120" y="4379975"/>
            <a:ext cx="4773168" cy="704088"/>
          </a:xfrm>
          <a:prstGeom prst="rect">
            <a:avLst/>
          </a:prstGeom>
          <a:noFill/>
        </p:spPr>
        <p:txBody>
          <a:bodyPr wrap="square" lIns="0" tIns="0" rIns="0" bIns="0" anchor="t">
            <a:spAutoFit/>
          </a:bodyPr>
          <a:lstStyle/>
          <a:p>
            <a:pPr algn="l">
              <a:spcBef>
                <a:spcPts val="0"/>
              </a:spcBef>
              <a:spcAft>
                <a:spcPts val="0"/>
              </a:spcAft>
              <a:defRPr sz="1400" b="0" i="0">
                <a:solidFill>
                  <a:srgbClr val="172A3A"/>
                </a:solidFill>
                <a:latin typeface="Aptos"/>
              </a:defRPr>
            </a:pPr>
            <a:r>
              <a:t>Use efficient adaptation, quantization, pruning, and sparse temporal attention.</a:t>
            </a:r>
          </a:p>
        </p:txBody>
      </p:sp>
      <p:sp>
        <p:nvSpPr>
          <p:cNvPr id="20" name="Rounded Rectangle 19"/>
          <p:cNvSpPr/>
          <p:nvPr/>
        </p:nvSpPr>
        <p:spPr>
          <a:xfrm>
            <a:off x="6236208" y="3712463"/>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37376" y="3895344"/>
            <a:ext cx="2542032"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0528" y="3918204"/>
            <a:ext cx="2395727" cy="210312"/>
          </a:xfrm>
          <a:prstGeom prst="rect">
            <a:avLst/>
          </a:prstGeom>
          <a:noFill/>
        </p:spPr>
        <p:txBody>
          <a:bodyPr wrap="square" lIns="0" tIns="0" rIns="0" bIns="0" anchor="ctr">
            <a:spAutoFit/>
          </a:bodyPr>
          <a:lstStyle/>
          <a:p>
            <a:pPr algn="ctr">
              <a:spcBef>
                <a:spcPts val="0"/>
              </a:spcBef>
              <a:spcAft>
                <a:spcPts val="0"/>
              </a:spcAft>
              <a:defRPr sz="760" b="1" i="0">
                <a:solidFill>
                  <a:srgbClr val="F07167"/>
                </a:solidFill>
                <a:latin typeface="Aptos"/>
              </a:defRPr>
            </a:pPr>
            <a:r>
              <a:t>KNOW WHEN NOT TO SEGMENT</a:t>
            </a:r>
          </a:p>
        </p:txBody>
      </p:sp>
      <p:sp>
        <p:nvSpPr>
          <p:cNvPr id="23" name="TextBox 22"/>
          <p:cNvSpPr txBox="1"/>
          <p:nvPr/>
        </p:nvSpPr>
        <p:spPr>
          <a:xfrm>
            <a:off x="6446520" y="4379975"/>
            <a:ext cx="4773168" cy="704088"/>
          </a:xfrm>
          <a:prstGeom prst="rect">
            <a:avLst/>
          </a:prstGeom>
          <a:noFill/>
        </p:spPr>
        <p:txBody>
          <a:bodyPr wrap="square" lIns="0" tIns="0" rIns="0" bIns="0" anchor="t">
            <a:spAutoFit/>
          </a:bodyPr>
          <a:lstStyle/>
          <a:p>
            <a:pPr algn="l">
              <a:spcBef>
                <a:spcPts val="0"/>
              </a:spcBef>
              <a:spcAft>
                <a:spcPts val="0"/>
              </a:spcAft>
              <a:defRPr sz="1400" b="0" i="0">
                <a:solidFill>
                  <a:srgbClr val="172A3A"/>
                </a:solidFill>
                <a:latin typeface="Aptos"/>
              </a:defRPr>
            </a:pPr>
            <a:r>
              <a:t>Represent uncertainty and explicitly handle absent or fully occluded targets.</a:t>
            </a:r>
          </a:p>
        </p:txBody>
      </p:sp>
      <p:sp>
        <p:nvSpPr>
          <p:cNvPr id="24" name="TextBox 23"/>
          <p:cNvSpPr txBox="1"/>
          <p:nvPr/>
        </p:nvSpPr>
        <p:spPr>
          <a:xfrm>
            <a:off x="795528" y="5833872"/>
            <a:ext cx="10561320" cy="292608"/>
          </a:xfrm>
          <a:prstGeom prst="rect">
            <a:avLst/>
          </a:prstGeom>
          <a:noFill/>
        </p:spPr>
        <p:txBody>
          <a:bodyPr wrap="square" lIns="0" tIns="0" rIns="0" bIns="0" anchor="t">
            <a:spAutoFit/>
          </a:bodyPr>
          <a:lstStyle/>
          <a:p>
            <a:pPr algn="ctr">
              <a:spcBef>
                <a:spcPts val="0"/>
              </a:spcBef>
              <a:spcAft>
                <a:spcPts val="0"/>
              </a:spcAft>
              <a:defRPr sz="1300" b="1" i="0">
                <a:solidFill>
                  <a:srgbClr val="087E78"/>
                </a:solidFill>
                <a:latin typeface="Aptos"/>
              </a:defRPr>
            </a:pPr>
            <a:r>
              <a:t>A useful system must be accurate, updateable, efficient, and able to say “target absent.”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defRPr sz="900" b="1" i="0">
                <a:solidFill>
                  <a:srgbClr val="087E78"/>
                </a:solidFill>
                <a:latin typeface="Aptos"/>
              </a:defRPr>
            </a:pPr>
            <a:r>
              <a:t>CLOSING</a:t>
            </a:r>
          </a:p>
        </p:txBody>
      </p:sp>
      <p:sp>
        <p:nvSpPr>
          <p:cNvPr id="3" name="TextBox 2"/>
          <p:cNvSpPr txBox="1"/>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defRPr sz="2800" b="1" i="0">
                <a:solidFill>
                  <a:srgbClr val="122438"/>
                </a:solidFill>
                <a:latin typeface="Aptos Display"/>
              </a:defRPr>
            </a:pPr>
            <a:r>
              <a:t>Tracking must become understanding</a:t>
            </a:r>
          </a:p>
        </p:txBody>
      </p:sp>
      <p:cxnSp>
        <p:nvCxnSpPr>
          <p:cNvPr id="4" name="Connector 3"/>
          <p:cNvCxnSpPr/>
          <p:nvPr/>
        </p:nvCxn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defRPr sz="800" b="0" i="0">
                <a:solidFill>
                  <a:srgbClr val="5E6D7B"/>
                </a:solidFill>
                <a:latin typeface="Aptos"/>
              </a:defRPr>
            </a:pPr>
            <a:r>
              <a:t>Source: Survey Conclusion.</a:t>
            </a:r>
          </a:p>
        </p:txBody>
      </p:sp>
      <p:sp>
        <p:nvSpPr>
          <p:cNvPr id="8" name="Rounded Rectangle 7"/>
          <p:cNvSpPr/>
          <p:nvPr/>
        </p:nvSpPr>
        <p:spPr>
          <a:xfrm>
            <a:off x="749808" y="1865376"/>
            <a:ext cx="3401568" cy="199339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7" y="2084831"/>
            <a:ext cx="594360" cy="329184"/>
          </a:xfrm>
          <a:prstGeom prst="rect">
            <a:avLst/>
          </a:prstGeom>
          <a:noFill/>
        </p:spPr>
        <p:txBody>
          <a:bodyPr wrap="square" lIns="0" tIns="0" rIns="0" bIns="0" anchor="t">
            <a:spAutoFit/>
          </a:bodyPr>
          <a:lstStyle/>
          <a:p>
            <a:pPr algn="l">
              <a:spcBef>
                <a:spcPts val="0"/>
              </a:spcBef>
              <a:spcAft>
                <a:spcPts val="0"/>
              </a:spcAft>
              <a:defRPr sz="2200" b="1" i="0">
                <a:solidFill>
                  <a:srgbClr val="12A99A"/>
                </a:solidFill>
                <a:latin typeface="Aptos Display"/>
              </a:defRPr>
            </a:pPr>
            <a:r>
              <a:t>01</a:t>
            </a:r>
          </a:p>
        </p:txBody>
      </p:sp>
      <p:sp>
        <p:nvSpPr>
          <p:cNvPr id="10" name="TextBox 9"/>
          <p:cNvSpPr txBox="1"/>
          <p:nvPr/>
        </p:nvSpPr>
        <p:spPr>
          <a:xfrm>
            <a:off x="978407" y="2660904"/>
            <a:ext cx="2907792" cy="512064"/>
          </a:xfrm>
          <a:prstGeom prst="rect">
            <a:avLst/>
          </a:prstGeom>
          <a:noFill/>
        </p:spPr>
        <p:txBody>
          <a:bodyPr wrap="square" lIns="0" tIns="0" rIns="0" bIns="0" anchor="t">
            <a:spAutoFit/>
          </a:bodyPr>
          <a:lstStyle/>
          <a:p>
            <a:pPr algn="l">
              <a:spcBef>
                <a:spcPts val="0"/>
              </a:spcBef>
              <a:spcAft>
                <a:spcPts val="0"/>
              </a:spcAft>
              <a:defRPr sz="1500" b="1" i="0">
                <a:solidFill>
                  <a:srgbClr val="122438"/>
                </a:solidFill>
                <a:latin typeface="Aptos"/>
              </a:defRPr>
            </a:pPr>
            <a:r>
              <a:t>RVOS is language grounding + temporal identity.</a:t>
            </a:r>
          </a:p>
        </p:txBody>
      </p:sp>
      <p:sp>
        <p:nvSpPr>
          <p:cNvPr id="11" name="TextBox 10"/>
          <p:cNvSpPr txBox="1"/>
          <p:nvPr/>
        </p:nvSpPr>
        <p:spPr>
          <a:xfrm>
            <a:off x="978407" y="3255264"/>
            <a:ext cx="2907792" cy="438912"/>
          </a:xfrm>
          <a:prstGeom prst="rect">
            <a:avLst/>
          </a:prstGeom>
          <a:noFill/>
        </p:spPr>
        <p:txBody>
          <a:bodyPr wrap="square" lIns="0" tIns="0" rIns="0" bIns="0" anchor="t">
            <a:spAutoFit/>
          </a:bodyPr>
          <a:lstStyle/>
          <a:p>
            <a:pPr algn="l">
              <a:spcBef>
                <a:spcPts val="0"/>
              </a:spcBef>
              <a:spcAft>
                <a:spcPts val="0"/>
              </a:spcAft>
              <a:defRPr sz="1100" b="0" i="0">
                <a:solidFill>
                  <a:srgbClr val="5E6D7B"/>
                </a:solidFill>
                <a:latin typeface="Aptos"/>
              </a:defRPr>
            </a:pPr>
            <a:r>
              <a:t>It predicts one mask trajectory from a sentence and a video.</a:t>
            </a:r>
          </a:p>
        </p:txBody>
      </p:sp>
      <p:sp>
        <p:nvSpPr>
          <p:cNvPr id="12" name="Rounded Rectangle 11"/>
          <p:cNvSpPr/>
          <p:nvPr/>
        </p:nvSpPr>
        <p:spPr>
          <a:xfrm>
            <a:off x="4407408" y="1865376"/>
            <a:ext cx="3401568" cy="199339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8" y="2084831"/>
            <a:ext cx="594360" cy="329184"/>
          </a:xfrm>
          <a:prstGeom prst="rect">
            <a:avLst/>
          </a:prstGeom>
          <a:noFill/>
        </p:spPr>
        <p:txBody>
          <a:bodyPr wrap="square" lIns="0" tIns="0" rIns="0" bIns="0" anchor="t">
            <a:spAutoFit/>
          </a:bodyPr>
          <a:lstStyle/>
          <a:p>
            <a:pPr algn="l">
              <a:spcBef>
                <a:spcPts val="0"/>
              </a:spcBef>
              <a:spcAft>
                <a:spcPts val="0"/>
              </a:spcAft>
              <a:defRPr sz="2200" b="1" i="0">
                <a:solidFill>
                  <a:srgbClr val="12A99A"/>
                </a:solidFill>
                <a:latin typeface="Aptos Display"/>
              </a:defRPr>
            </a:pPr>
            <a:r>
              <a:t>02</a:t>
            </a:r>
          </a:p>
        </p:txBody>
      </p:sp>
      <p:sp>
        <p:nvSpPr>
          <p:cNvPr id="14" name="TextBox 13"/>
          <p:cNvSpPr txBox="1"/>
          <p:nvPr/>
        </p:nvSpPr>
        <p:spPr>
          <a:xfrm>
            <a:off x="4636008" y="2660904"/>
            <a:ext cx="2907792" cy="512064"/>
          </a:xfrm>
          <a:prstGeom prst="rect">
            <a:avLst/>
          </a:prstGeom>
          <a:noFill/>
        </p:spPr>
        <p:txBody>
          <a:bodyPr wrap="square" lIns="0" tIns="0" rIns="0" bIns="0" anchor="t">
            <a:spAutoFit/>
          </a:bodyPr>
          <a:lstStyle/>
          <a:p>
            <a:pPr algn="l">
              <a:spcBef>
                <a:spcPts val="0"/>
              </a:spcBef>
              <a:spcAft>
                <a:spcPts val="0"/>
              </a:spcAft>
              <a:defRPr sz="1500" b="1" i="0">
                <a:solidFill>
                  <a:srgbClr val="122438"/>
                </a:solidFill>
                <a:latin typeface="Aptos"/>
              </a:defRPr>
            </a:pPr>
            <a:r>
              <a:t>Different failures need different mechanisms.</a:t>
            </a:r>
          </a:p>
        </p:txBody>
      </p:sp>
      <p:sp>
        <p:nvSpPr>
          <p:cNvPr id="15" name="TextBox 14"/>
          <p:cNvSpPr txBox="1"/>
          <p:nvPr/>
        </p:nvSpPr>
        <p:spPr>
          <a:xfrm>
            <a:off x="4636008" y="3255264"/>
            <a:ext cx="2907792" cy="438912"/>
          </a:xfrm>
          <a:prstGeom prst="rect">
            <a:avLst/>
          </a:prstGeom>
          <a:noFill/>
        </p:spPr>
        <p:txBody>
          <a:bodyPr wrap="square" lIns="0" tIns="0" rIns="0" bIns="0" anchor="t">
            <a:spAutoFit/>
          </a:bodyPr>
          <a:lstStyle/>
          <a:p>
            <a:pPr algn="l">
              <a:spcBef>
                <a:spcPts val="0"/>
              </a:spcBef>
              <a:spcAft>
                <a:spcPts val="0"/>
              </a:spcAft>
              <a:defRPr sz="1100" b="0" i="0">
                <a:solidFill>
                  <a:srgbClr val="5E6D7B"/>
                </a:solidFill>
                <a:latin typeface="Aptos"/>
              </a:defRPr>
            </a:pPr>
            <a:r>
              <a:t>Motion, memory, streaming, and reasoning solve distinct problems.</a:t>
            </a:r>
          </a:p>
        </p:txBody>
      </p:sp>
      <p:sp>
        <p:nvSpPr>
          <p:cNvPr id="16" name="Rounded Rectangle 15"/>
          <p:cNvSpPr/>
          <p:nvPr/>
        </p:nvSpPr>
        <p:spPr>
          <a:xfrm>
            <a:off x="8065008" y="1865376"/>
            <a:ext cx="3401568" cy="199339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2084831"/>
            <a:ext cx="594360" cy="329184"/>
          </a:xfrm>
          <a:prstGeom prst="rect">
            <a:avLst/>
          </a:prstGeom>
          <a:noFill/>
        </p:spPr>
        <p:txBody>
          <a:bodyPr wrap="square" lIns="0" tIns="0" rIns="0" bIns="0" anchor="t">
            <a:spAutoFit/>
          </a:bodyPr>
          <a:lstStyle/>
          <a:p>
            <a:pPr algn="l">
              <a:spcBef>
                <a:spcPts val="0"/>
              </a:spcBef>
              <a:spcAft>
                <a:spcPts val="0"/>
              </a:spcAft>
              <a:defRPr sz="2200" b="1" i="0">
                <a:solidFill>
                  <a:srgbClr val="12A99A"/>
                </a:solidFill>
                <a:latin typeface="Aptos Display"/>
              </a:defRPr>
            </a:pPr>
            <a:r>
              <a:t>03</a:t>
            </a:r>
          </a:p>
        </p:txBody>
      </p:sp>
      <p:sp>
        <p:nvSpPr>
          <p:cNvPr id="18" name="TextBox 17"/>
          <p:cNvSpPr txBox="1"/>
          <p:nvPr/>
        </p:nvSpPr>
        <p:spPr>
          <a:xfrm>
            <a:off x="8293608" y="2660904"/>
            <a:ext cx="2907792" cy="512064"/>
          </a:xfrm>
          <a:prstGeom prst="rect">
            <a:avLst/>
          </a:prstGeom>
          <a:noFill/>
        </p:spPr>
        <p:txBody>
          <a:bodyPr wrap="square" lIns="0" tIns="0" rIns="0" bIns="0" anchor="t">
            <a:spAutoFit/>
          </a:bodyPr>
          <a:lstStyle/>
          <a:p>
            <a:pPr algn="l">
              <a:spcBef>
                <a:spcPts val="0"/>
              </a:spcBef>
              <a:spcAft>
                <a:spcPts val="0"/>
              </a:spcAft>
              <a:defRPr sz="1500" b="1" i="0">
                <a:solidFill>
                  <a:srgbClr val="122438"/>
                </a:solidFill>
                <a:latin typeface="Aptos"/>
              </a:defRPr>
            </a:pPr>
            <a:r>
              <a:t>The next gains need better evaluation.</a:t>
            </a:r>
          </a:p>
        </p:txBody>
      </p:sp>
      <p:sp>
        <p:nvSpPr>
          <p:cNvPr id="19" name="TextBox 18"/>
          <p:cNvSpPr txBox="1"/>
          <p:nvPr/>
        </p:nvSpPr>
        <p:spPr>
          <a:xfrm>
            <a:off x="8293608" y="3255264"/>
            <a:ext cx="2907792" cy="438912"/>
          </a:xfrm>
          <a:prstGeom prst="rect">
            <a:avLst/>
          </a:prstGeom>
          <a:noFill/>
        </p:spPr>
        <p:txBody>
          <a:bodyPr wrap="square" lIns="0" tIns="0" rIns="0" bIns="0" anchor="t">
            <a:spAutoFit/>
          </a:bodyPr>
          <a:lstStyle/>
          <a:p>
            <a:pPr algn="l">
              <a:spcBef>
                <a:spcPts val="0"/>
              </a:spcBef>
              <a:spcAft>
                <a:spcPts val="0"/>
              </a:spcAft>
              <a:defRPr sz="1100" b="0" i="0">
                <a:solidFill>
                  <a:srgbClr val="5E6D7B"/>
                </a:solidFill>
                <a:latin typeface="Aptos"/>
              </a:defRPr>
            </a:pPr>
            <a:r>
              <a:t>Test temporal reasoning, efficiency, and target absence—not overlap alone.</a:t>
            </a:r>
          </a:p>
        </p:txBody>
      </p:sp>
      <p:sp>
        <p:nvSpPr>
          <p:cNvPr id="20" name="Rounded Rectangle 19"/>
          <p:cNvSpPr/>
          <p:nvPr/>
        </p:nvSpPr>
        <p:spPr>
          <a:xfrm>
            <a:off x="768096" y="4315968"/>
            <a:ext cx="10643616" cy="1170432"/>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4535424"/>
            <a:ext cx="9985248" cy="658368"/>
          </a:xfrm>
          <a:prstGeom prst="rect">
            <a:avLst/>
          </a:prstGeom>
          <a:noFill/>
        </p:spPr>
        <p:txBody>
          <a:bodyPr wrap="square" lIns="0" tIns="0" rIns="0" bIns="0" anchor="ctr">
            <a:spAutoFit/>
          </a:bodyPr>
          <a:lstStyle/>
          <a:p>
            <a:pPr algn="ctr">
              <a:spcBef>
                <a:spcPts val="0"/>
              </a:spcBef>
              <a:spcAft>
                <a:spcPts val="0"/>
              </a:spcAft>
              <a:defRPr sz="1700" b="1" i="0">
                <a:solidFill>
                  <a:srgbClr val="FFFFFF"/>
                </a:solidFill>
                <a:latin typeface="Aptos"/>
              </a:defRPr>
            </a:pPr>
            <a:r>
              <a:t>The central question is no longer only “Can the model track this object?”</a:t>
            </a:r>
            <a:br/>
            <a:r>
              <a:t>It is “Can it keep following the object the sentence actually means?”</a:t>
            </a:r>
          </a:p>
        </p:txBody>
      </p:sp>
      <p:sp>
        <p:nvSpPr>
          <p:cNvPr id="22" name="TextBox 21"/>
          <p:cNvSpPr txBox="1"/>
          <p:nvPr/>
        </p:nvSpPr>
        <p:spPr>
          <a:xfrm>
            <a:off x="822960" y="5843016"/>
            <a:ext cx="10497312" cy="256032"/>
          </a:xfrm>
          <a:prstGeom prst="rect">
            <a:avLst/>
          </a:prstGeom>
          <a:noFill/>
        </p:spPr>
        <p:txBody>
          <a:bodyPr wrap="square" lIns="0" tIns="0" rIns="0" bIns="0" anchor="t">
            <a:spAutoFit/>
          </a:bodyPr>
          <a:lstStyle/>
          <a:p>
            <a:pPr algn="ctr">
              <a:spcBef>
                <a:spcPts val="0"/>
              </a:spcBef>
              <a:spcAft>
                <a:spcPts val="0"/>
              </a:spcAft>
              <a:defRPr sz="1200" b="1" i="0">
                <a:solidFill>
                  <a:srgbClr val="087E78"/>
                </a:solidFill>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3570</Words>
  <Application>Microsoft Office PowerPoint</Application>
  <PresentationFormat>Widescreen</PresentationFormat>
  <Paragraphs>267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Survey of Referring Video Object Segmentation</dc:title>
  <dc:subject>20-minute research presentation</dc:subject>
  <dc:creator>Shishir Regmi</dc:creator>
  <cp:keywords>RVOS, video segmentation, vision-language, temporal reasoning</cp:keywords>
  <dc:description>Speaker notes include target pacing for a 20-minute talk.</dc:description>
  <cp:lastModifiedBy>Shishir Regmi</cp:lastModifiedBy>
  <cp:revision>2</cp:revision>
  <dcterms:created xsi:type="dcterms:W3CDTF">2013-01-27T09:14:16Z</dcterms:created>
  <dcterms:modified xsi:type="dcterms:W3CDTF">2026-10-13T21:37:56Z</dcterms:modified>
  <cp:category/>
</cp:coreProperties>
</file>